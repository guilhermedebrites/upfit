
<file path=[Content_Types].xml><?xml version="1.0" encoding="utf-8"?>
<Types xmlns="http://schemas.openxmlformats.org/package/2006/content-types">
  <Default ContentType="application/x-fontdata" Extension="fntdata"/>
  <Default ContentType="image/gif" Extension="gif"/>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x="18288000" cy="10287000"/>
  <p:notesSz cx="6858000" cy="9144000"/>
  <p:embeddedFontLst>
    <p:embeddedFont>
      <p:font typeface="Arcade Gamer" charset="1" panose="00000000000000000000"/>
      <p:regular r:id="rId21"/>
    </p:embeddedFont>
    <p:embeddedFont>
      <p:font typeface="Roboto" charset="1" panose="02000000000000000000"/>
      <p:regular r:id="rId22"/>
    </p:embeddedFont>
    <p:embeddedFont>
      <p:font typeface="Roboto Bold" charset="1" panose="02000000000000000000"/>
      <p:regular r:id="rId2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5.png" Type="http://schemas.openxmlformats.org/officeDocument/2006/relationships/image"/><Relationship Id="rId11" Target="../media/image16.svg" Type="http://schemas.openxmlformats.org/officeDocument/2006/relationships/image"/><Relationship Id="rId12" Target="../media/image5.png" Type="http://schemas.openxmlformats.org/officeDocument/2006/relationships/image"/><Relationship Id="rId13" Target="../media/image6.svg" Type="http://schemas.openxmlformats.org/officeDocument/2006/relationships/image"/><Relationship Id="rId14" Target="../media/image17.png" Type="http://schemas.openxmlformats.org/officeDocument/2006/relationships/image"/><Relationship Id="rId15" Target="../media/image18.svg" Type="http://schemas.openxmlformats.org/officeDocument/2006/relationships/image"/><Relationship Id="rId16" Target="../media/image19.png" Type="http://schemas.openxmlformats.org/officeDocument/2006/relationships/image"/><Relationship Id="rId2" Target="../media/image7.png" Type="http://schemas.openxmlformats.org/officeDocument/2006/relationships/image"/><Relationship Id="rId3" Target="../media/image8.svg" Type="http://schemas.openxmlformats.org/officeDocument/2006/relationships/image"/><Relationship Id="rId4" Target="../media/image13.png" Type="http://schemas.openxmlformats.org/officeDocument/2006/relationships/image"/><Relationship Id="rId5" Target="../media/image14.sv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 Id="rId8" Target="../media/image1.png" Type="http://schemas.openxmlformats.org/officeDocument/2006/relationships/image"/><Relationship Id="rId9" Target="../media/image2.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2.gif" Type="http://schemas.openxmlformats.org/officeDocument/2006/relationships/image"/><Relationship Id="rId11" Target="../media/image23.png" Type="http://schemas.openxmlformats.org/officeDocument/2006/relationships/image"/><Relationship Id="rId2" Target="../media/image7.png" Type="http://schemas.openxmlformats.org/officeDocument/2006/relationships/image"/><Relationship Id="rId3" Target="../media/image8.svg" Type="http://schemas.openxmlformats.org/officeDocument/2006/relationships/image"/><Relationship Id="rId4" Target="../media/image20.png" Type="http://schemas.openxmlformats.org/officeDocument/2006/relationships/image"/><Relationship Id="rId5" Target="../media/image21.svg" Type="http://schemas.openxmlformats.org/officeDocument/2006/relationships/image"/><Relationship Id="rId6" Target="../media/image1.png" Type="http://schemas.openxmlformats.org/officeDocument/2006/relationships/image"/><Relationship Id="rId7" Target="../media/image2.svg" Type="http://schemas.openxmlformats.org/officeDocument/2006/relationships/image"/><Relationship Id="rId8" Target="../media/image5.png" Type="http://schemas.openxmlformats.org/officeDocument/2006/relationships/image"/><Relationship Id="rId9" Target="../media/image6.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2.gif" Type="http://schemas.openxmlformats.org/officeDocument/2006/relationships/image"/><Relationship Id="rId11" Target="../media/image23.png" Type="http://schemas.openxmlformats.org/officeDocument/2006/relationships/image"/><Relationship Id="rId2" Target="../media/image7.png" Type="http://schemas.openxmlformats.org/officeDocument/2006/relationships/image"/><Relationship Id="rId3" Target="../media/image8.svg" Type="http://schemas.openxmlformats.org/officeDocument/2006/relationships/image"/><Relationship Id="rId4" Target="../media/image20.png" Type="http://schemas.openxmlformats.org/officeDocument/2006/relationships/image"/><Relationship Id="rId5" Target="../media/image21.svg" Type="http://schemas.openxmlformats.org/officeDocument/2006/relationships/image"/><Relationship Id="rId6" Target="../media/image1.png" Type="http://schemas.openxmlformats.org/officeDocument/2006/relationships/image"/><Relationship Id="rId7" Target="../media/image2.svg" Type="http://schemas.openxmlformats.org/officeDocument/2006/relationships/image"/><Relationship Id="rId8" Target="../media/image5.png" Type="http://schemas.openxmlformats.org/officeDocument/2006/relationships/image"/><Relationship Id="rId9" Target="../media/image6.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png" Type="http://schemas.openxmlformats.org/officeDocument/2006/relationships/image"/><Relationship Id="rId11" Target="../media/image2.svg" Type="http://schemas.openxmlformats.org/officeDocument/2006/relationships/image"/><Relationship Id="rId12" Target="../media/image5.png" Type="http://schemas.openxmlformats.org/officeDocument/2006/relationships/image"/><Relationship Id="rId13" Target="../media/image6.svg" Type="http://schemas.openxmlformats.org/officeDocument/2006/relationships/image"/><Relationship Id="rId2" Target="../media/image7.png" Type="http://schemas.openxmlformats.org/officeDocument/2006/relationships/image"/><Relationship Id="rId3" Target="../media/image8.svg" Type="http://schemas.openxmlformats.org/officeDocument/2006/relationships/image"/><Relationship Id="rId4" Target="../media/image17.png" Type="http://schemas.openxmlformats.org/officeDocument/2006/relationships/image"/><Relationship Id="rId5" Target="../media/image18.svg" Type="http://schemas.openxmlformats.org/officeDocument/2006/relationships/image"/><Relationship Id="rId6" Target="../media/image24.png" Type="http://schemas.openxmlformats.org/officeDocument/2006/relationships/image"/><Relationship Id="rId7" Target="../media/image25.svg" Type="http://schemas.openxmlformats.org/officeDocument/2006/relationships/image"/><Relationship Id="rId8" Target="../media/image26.png" Type="http://schemas.openxmlformats.org/officeDocument/2006/relationships/image"/><Relationship Id="rId9" Target="../media/image27.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png" Type="http://schemas.openxmlformats.org/officeDocument/2006/relationships/image"/><Relationship Id="rId11" Target="../media/image2.svg" Type="http://schemas.openxmlformats.org/officeDocument/2006/relationships/image"/><Relationship Id="rId12" Target="../media/image5.png" Type="http://schemas.openxmlformats.org/officeDocument/2006/relationships/image"/><Relationship Id="rId13" Target="../media/image6.svg" Type="http://schemas.openxmlformats.org/officeDocument/2006/relationships/image"/><Relationship Id="rId2" Target="../media/image7.png" Type="http://schemas.openxmlformats.org/officeDocument/2006/relationships/image"/><Relationship Id="rId3" Target="../media/image8.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26.png" Type="http://schemas.openxmlformats.org/officeDocument/2006/relationships/image"/><Relationship Id="rId7" Target="../media/image27.svg" Type="http://schemas.openxmlformats.org/officeDocument/2006/relationships/image"/><Relationship Id="rId8" Target="../media/image28.png" Type="http://schemas.openxmlformats.org/officeDocument/2006/relationships/image"/><Relationship Id="rId9" Target="../media/image29.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0.png" Type="http://schemas.openxmlformats.org/officeDocument/2006/relationships/image"/><Relationship Id="rId2" Target="../media/image7.png" Type="http://schemas.openxmlformats.org/officeDocument/2006/relationships/image"/><Relationship Id="rId3" Target="../media/image8.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 Id="rId8" Target="../media/image1.png" Type="http://schemas.openxmlformats.org/officeDocument/2006/relationships/image"/><Relationship Id="rId9" Target="../media/image2.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png" Type="http://schemas.openxmlformats.org/officeDocument/2006/relationships/image"/><Relationship Id="rId11" Target="../media/image2.svg" Type="http://schemas.openxmlformats.org/officeDocument/2006/relationships/image"/><Relationship Id="rId12" Target="../media/image5.png" Type="http://schemas.openxmlformats.org/officeDocument/2006/relationships/image"/><Relationship Id="rId13" Target="../media/image6.svg" Type="http://schemas.openxmlformats.org/officeDocument/2006/relationships/image"/><Relationship Id="rId14" Target="../media/image33.png" Type="http://schemas.openxmlformats.org/officeDocument/2006/relationships/image"/><Relationship Id="rId15" Target="../media/image34.gif" Type="http://schemas.openxmlformats.org/officeDocument/2006/relationships/image"/><Relationship Id="rId2" Target="../media/image7.png" Type="http://schemas.openxmlformats.org/officeDocument/2006/relationships/image"/><Relationship Id="rId3" Target="../media/image8.svg" Type="http://schemas.openxmlformats.org/officeDocument/2006/relationships/image"/><Relationship Id="rId4" Target="../media/image31.png" Type="http://schemas.openxmlformats.org/officeDocument/2006/relationships/image"/><Relationship Id="rId5" Target="../media/image32.svg" Type="http://schemas.openxmlformats.org/officeDocument/2006/relationships/image"/><Relationship Id="rId6" Target="../media/image13.png" Type="http://schemas.openxmlformats.org/officeDocument/2006/relationships/image"/><Relationship Id="rId7" Target="../media/image14.svg" Type="http://schemas.openxmlformats.org/officeDocument/2006/relationships/image"/><Relationship Id="rId8" Target="../media/image3.png" Type="http://schemas.openxmlformats.org/officeDocument/2006/relationships/image"/><Relationship Id="rId9" Target="../media/image4.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png" Type="http://schemas.openxmlformats.org/officeDocument/2006/relationships/image"/><Relationship Id="rId11" Target="../media/image2.svg" Type="http://schemas.openxmlformats.org/officeDocument/2006/relationships/image"/><Relationship Id="rId12" Target="../media/image5.png" Type="http://schemas.openxmlformats.org/officeDocument/2006/relationships/image"/><Relationship Id="rId13" Target="../media/image6.svg" Type="http://schemas.openxmlformats.org/officeDocument/2006/relationships/image"/><Relationship Id="rId14" Target="../media/image33.png" Type="http://schemas.openxmlformats.org/officeDocument/2006/relationships/image"/><Relationship Id="rId15" Target="../media/image34.gif" Type="http://schemas.openxmlformats.org/officeDocument/2006/relationships/image"/><Relationship Id="rId2" Target="../media/image7.png" Type="http://schemas.openxmlformats.org/officeDocument/2006/relationships/image"/><Relationship Id="rId3" Target="../media/image8.svg" Type="http://schemas.openxmlformats.org/officeDocument/2006/relationships/image"/><Relationship Id="rId4" Target="../media/image31.png" Type="http://schemas.openxmlformats.org/officeDocument/2006/relationships/image"/><Relationship Id="rId5" Target="../media/image32.svg" Type="http://schemas.openxmlformats.org/officeDocument/2006/relationships/image"/><Relationship Id="rId6" Target="../media/image13.png" Type="http://schemas.openxmlformats.org/officeDocument/2006/relationships/image"/><Relationship Id="rId7" Target="../media/image14.svg" Type="http://schemas.openxmlformats.org/officeDocument/2006/relationships/image"/><Relationship Id="rId8" Target="../media/image3.png" Type="http://schemas.openxmlformats.org/officeDocument/2006/relationships/image"/><Relationship Id="rId9" Target="../media/image4.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5.png" Type="http://schemas.openxmlformats.org/officeDocument/2006/relationships/image"/><Relationship Id="rId11" Target="../media/image36.png" Type="http://schemas.openxmlformats.org/officeDocument/2006/relationships/image"/><Relationship Id="rId12" Target="../media/image37.png" Type="http://schemas.openxmlformats.org/officeDocument/2006/relationships/image"/><Relationship Id="rId2" Target="../media/image7.png" Type="http://schemas.openxmlformats.org/officeDocument/2006/relationships/image"/><Relationship Id="rId3" Target="../media/image8.svg" Type="http://schemas.openxmlformats.org/officeDocument/2006/relationships/image"/><Relationship Id="rId4" Target="../media/image17.png" Type="http://schemas.openxmlformats.org/officeDocument/2006/relationships/image"/><Relationship Id="rId5" Target="../media/image18.svg" Type="http://schemas.openxmlformats.org/officeDocument/2006/relationships/image"/><Relationship Id="rId6" Target="../media/image1.png" Type="http://schemas.openxmlformats.org/officeDocument/2006/relationships/image"/><Relationship Id="rId7" Target="../media/image2.svg" Type="http://schemas.openxmlformats.org/officeDocument/2006/relationships/image"/><Relationship Id="rId8" Target="../media/image5.png" Type="http://schemas.openxmlformats.org/officeDocument/2006/relationships/image"/><Relationship Id="rId9" Target="../media/image6.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png" Type="http://schemas.openxmlformats.org/officeDocument/2006/relationships/image"/><Relationship Id="rId11" Target="../media/image2.svg" Type="http://schemas.openxmlformats.org/officeDocument/2006/relationships/image"/><Relationship Id="rId12" Target="../media/image5.png" Type="http://schemas.openxmlformats.org/officeDocument/2006/relationships/image"/><Relationship Id="rId13" Target="../media/image6.svg" Type="http://schemas.openxmlformats.org/officeDocument/2006/relationships/image"/><Relationship Id="rId2" Target="../media/image7.png" Type="http://schemas.openxmlformats.org/officeDocument/2006/relationships/image"/><Relationship Id="rId3" Target="../media/image8.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26.png" Type="http://schemas.openxmlformats.org/officeDocument/2006/relationships/image"/><Relationship Id="rId7" Target="../media/image27.svg" Type="http://schemas.openxmlformats.org/officeDocument/2006/relationships/image"/><Relationship Id="rId8" Target="../media/image28.png" Type="http://schemas.openxmlformats.org/officeDocument/2006/relationships/image"/><Relationship Id="rId9" Target="../media/image29.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png" Type="http://schemas.openxmlformats.org/officeDocument/2006/relationships/image"/><Relationship Id="rId11" Target="../media/image2.svg" Type="http://schemas.openxmlformats.org/officeDocument/2006/relationships/image"/><Relationship Id="rId12" Target="../media/image5.png" Type="http://schemas.openxmlformats.org/officeDocument/2006/relationships/image"/><Relationship Id="rId13" Target="../media/image6.svg" Type="http://schemas.openxmlformats.org/officeDocument/2006/relationships/image"/><Relationship Id="rId2" Target="../media/image7.png" Type="http://schemas.openxmlformats.org/officeDocument/2006/relationships/image"/><Relationship Id="rId3" Target="../media/image8.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26.png" Type="http://schemas.openxmlformats.org/officeDocument/2006/relationships/image"/><Relationship Id="rId7" Target="../media/image27.svg" Type="http://schemas.openxmlformats.org/officeDocument/2006/relationships/image"/><Relationship Id="rId8" Target="../media/image28.png" Type="http://schemas.openxmlformats.org/officeDocument/2006/relationships/image"/><Relationship Id="rId9" Target="../media/image29.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3.png" Type="http://schemas.openxmlformats.org/officeDocument/2006/relationships/image"/><Relationship Id="rId11" Target="../media/image14.svg" Type="http://schemas.openxmlformats.org/officeDocument/2006/relationships/image"/><Relationship Id="rId12" Target="../media/image38.png" Type="http://schemas.openxmlformats.org/officeDocument/2006/relationships/image"/><Relationship Id="rId13" Target="../media/image39.png" Type="http://schemas.openxmlformats.org/officeDocument/2006/relationships/image"/><Relationship Id="rId14" Target="../media/image40.png" Type="http://schemas.openxmlformats.org/officeDocument/2006/relationships/image"/><Relationship Id="rId15" Target="../media/image41.png" Type="http://schemas.openxmlformats.org/officeDocument/2006/relationships/image"/><Relationship Id="rId16" Target="../media/image42.png" Type="http://schemas.openxmlformats.org/officeDocument/2006/relationships/image"/><Relationship Id="rId17" Target="../media/image43.png" Type="http://schemas.openxmlformats.org/officeDocument/2006/relationships/image"/><Relationship Id="rId18" Target="../media/image44.png" Type="http://schemas.openxmlformats.org/officeDocument/2006/relationships/image"/><Relationship Id="rId19" Target="../media/image45.png" Type="http://schemas.openxmlformats.org/officeDocument/2006/relationships/image"/><Relationship Id="rId2" Target="../media/image7.png" Type="http://schemas.openxmlformats.org/officeDocument/2006/relationships/image"/><Relationship Id="rId3" Target="../media/image8.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 Id="rId8" Target="../media/image5.png" Type="http://schemas.openxmlformats.org/officeDocument/2006/relationships/image"/><Relationship Id="rId9" Target="../media/image6.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2.gif" Type="http://schemas.openxmlformats.org/officeDocument/2006/relationships/image"/><Relationship Id="rId11" Target="https://www.who.int/publications/i/item/9789240059153" TargetMode="External" Type="http://schemas.openxmlformats.org/officeDocument/2006/relationships/hyperlink"/><Relationship Id="rId12" Target="https://www.who.int/news-room/fact-sheets/detail/physical-activity" TargetMode="External" Type="http://schemas.openxmlformats.org/officeDocument/2006/relationships/hyperlink"/><Relationship Id="rId2" Target="../media/image7.png" Type="http://schemas.openxmlformats.org/officeDocument/2006/relationships/image"/><Relationship Id="rId3" Target="../media/image8.svg" Type="http://schemas.openxmlformats.org/officeDocument/2006/relationships/image"/><Relationship Id="rId4" Target="../media/image20.png" Type="http://schemas.openxmlformats.org/officeDocument/2006/relationships/image"/><Relationship Id="rId5" Target="../media/image21.svg" Type="http://schemas.openxmlformats.org/officeDocument/2006/relationships/image"/><Relationship Id="rId6" Target="../media/image1.png" Type="http://schemas.openxmlformats.org/officeDocument/2006/relationships/image"/><Relationship Id="rId7" Target="../media/image2.svg" Type="http://schemas.openxmlformats.org/officeDocument/2006/relationships/image"/><Relationship Id="rId8" Target="../media/image5.png" Type="http://schemas.openxmlformats.org/officeDocument/2006/relationships/image"/><Relationship Id="rId9" Target="../media/image6.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png" Type="http://schemas.openxmlformats.org/officeDocument/2006/relationships/image"/><Relationship Id="rId11" Target="../media/image12.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9.png" Type="http://schemas.openxmlformats.org/officeDocument/2006/relationships/image"/><Relationship Id="rId9" Target="../media/image10.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2E1B5B"/>
        </a:solidFill>
      </p:bgPr>
    </p:bg>
    <p:spTree>
      <p:nvGrpSpPr>
        <p:cNvPr id="1" name=""/>
        <p:cNvGrpSpPr/>
        <p:nvPr/>
      </p:nvGrpSpPr>
      <p:grpSpPr>
        <a:xfrm>
          <a:off x="0" y="0"/>
          <a:ext cx="0" cy="0"/>
          <a:chOff x="0" y="0"/>
          <a:chExt cx="0" cy="0"/>
        </a:xfrm>
      </p:grpSpPr>
      <p:sp>
        <p:nvSpPr>
          <p:cNvPr name="Freeform 2" id="2"/>
          <p:cNvSpPr/>
          <p:nvPr/>
        </p:nvSpPr>
        <p:spPr>
          <a:xfrm flipH="false" flipV="false" rot="0">
            <a:off x="66525" y="1028700"/>
            <a:ext cx="3612588" cy="1261122"/>
          </a:xfrm>
          <a:custGeom>
            <a:avLst/>
            <a:gdLst/>
            <a:ahLst/>
            <a:cxnLst/>
            <a:rect r="r" b="b" t="t" l="l"/>
            <a:pathLst>
              <a:path h="1261122" w="3612588">
                <a:moveTo>
                  <a:pt x="0" y="0"/>
                </a:moveTo>
                <a:lnTo>
                  <a:pt x="3612588" y="0"/>
                </a:lnTo>
                <a:lnTo>
                  <a:pt x="3612588" y="1261122"/>
                </a:lnTo>
                <a:lnTo>
                  <a:pt x="0" y="126112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7882694" y="918598"/>
            <a:ext cx="1529702" cy="1529702"/>
          </a:xfrm>
          <a:custGeom>
            <a:avLst/>
            <a:gdLst/>
            <a:ahLst/>
            <a:cxnLst/>
            <a:rect r="r" b="b" t="t" l="l"/>
            <a:pathLst>
              <a:path h="1529702" w="1529702">
                <a:moveTo>
                  <a:pt x="0" y="0"/>
                </a:moveTo>
                <a:lnTo>
                  <a:pt x="1529702" y="0"/>
                </a:lnTo>
                <a:lnTo>
                  <a:pt x="1529702" y="1529702"/>
                </a:lnTo>
                <a:lnTo>
                  <a:pt x="0" y="152970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3319023" y="1381840"/>
            <a:ext cx="4907801" cy="874481"/>
          </a:xfrm>
          <a:custGeom>
            <a:avLst/>
            <a:gdLst/>
            <a:ahLst/>
            <a:cxnLst/>
            <a:rect r="r" b="b" t="t" l="l"/>
            <a:pathLst>
              <a:path h="874481" w="4907801">
                <a:moveTo>
                  <a:pt x="0" y="0"/>
                </a:moveTo>
                <a:lnTo>
                  <a:pt x="4907801" y="0"/>
                </a:lnTo>
                <a:lnTo>
                  <a:pt x="4907801" y="874481"/>
                </a:lnTo>
                <a:lnTo>
                  <a:pt x="0" y="87448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12144344" y="731163"/>
            <a:ext cx="5270840" cy="1840002"/>
          </a:xfrm>
          <a:custGeom>
            <a:avLst/>
            <a:gdLst/>
            <a:ahLst/>
            <a:cxnLst/>
            <a:rect r="r" b="b" t="t" l="l"/>
            <a:pathLst>
              <a:path h="1840002" w="5270840">
                <a:moveTo>
                  <a:pt x="0" y="0"/>
                </a:moveTo>
                <a:lnTo>
                  <a:pt x="5270840" y="0"/>
                </a:lnTo>
                <a:lnTo>
                  <a:pt x="5270840" y="1840002"/>
                </a:lnTo>
                <a:lnTo>
                  <a:pt x="0" y="184000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4779764" y="1077076"/>
            <a:ext cx="4233199" cy="1477771"/>
          </a:xfrm>
          <a:custGeom>
            <a:avLst/>
            <a:gdLst/>
            <a:ahLst/>
            <a:cxnLst/>
            <a:rect r="r" b="b" t="t" l="l"/>
            <a:pathLst>
              <a:path h="1477771" w="4233199">
                <a:moveTo>
                  <a:pt x="0" y="0"/>
                </a:moveTo>
                <a:lnTo>
                  <a:pt x="4233199" y="0"/>
                </a:lnTo>
                <a:lnTo>
                  <a:pt x="4233199" y="1477771"/>
                </a:lnTo>
                <a:lnTo>
                  <a:pt x="0" y="147777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true" flipV="false" rot="0">
            <a:off x="8937579" y="981073"/>
            <a:ext cx="3760718" cy="670092"/>
          </a:xfrm>
          <a:custGeom>
            <a:avLst/>
            <a:gdLst/>
            <a:ahLst/>
            <a:cxnLst/>
            <a:rect r="r" b="b" t="t" l="l"/>
            <a:pathLst>
              <a:path h="670092" w="3760718">
                <a:moveTo>
                  <a:pt x="3760718" y="0"/>
                </a:moveTo>
                <a:lnTo>
                  <a:pt x="0" y="0"/>
                </a:lnTo>
                <a:lnTo>
                  <a:pt x="0" y="670091"/>
                </a:lnTo>
                <a:lnTo>
                  <a:pt x="3760718" y="670091"/>
                </a:lnTo>
                <a:lnTo>
                  <a:pt x="3760718"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26536" y="4153994"/>
            <a:ext cx="11187008" cy="6128433"/>
          </a:xfrm>
          <a:custGeom>
            <a:avLst/>
            <a:gdLst/>
            <a:ahLst/>
            <a:cxnLst/>
            <a:rect r="r" b="b" t="t" l="l"/>
            <a:pathLst>
              <a:path h="6128433" w="11187008">
                <a:moveTo>
                  <a:pt x="0" y="0"/>
                </a:moveTo>
                <a:lnTo>
                  <a:pt x="11187007" y="0"/>
                </a:lnTo>
                <a:lnTo>
                  <a:pt x="11187007" y="6128434"/>
                </a:lnTo>
                <a:lnTo>
                  <a:pt x="0" y="612843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true" flipV="false" rot="0">
            <a:off x="11160471" y="4158567"/>
            <a:ext cx="11187008" cy="6128433"/>
          </a:xfrm>
          <a:custGeom>
            <a:avLst/>
            <a:gdLst/>
            <a:ahLst/>
            <a:cxnLst/>
            <a:rect r="r" b="b" t="t" l="l"/>
            <a:pathLst>
              <a:path h="6128433" w="11187008">
                <a:moveTo>
                  <a:pt x="11187008" y="0"/>
                </a:moveTo>
                <a:lnTo>
                  <a:pt x="0" y="0"/>
                </a:lnTo>
                <a:lnTo>
                  <a:pt x="0" y="6128433"/>
                </a:lnTo>
                <a:lnTo>
                  <a:pt x="11187008" y="6128433"/>
                </a:lnTo>
                <a:lnTo>
                  <a:pt x="11187008"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0" id="10"/>
          <p:cNvSpPr/>
          <p:nvPr/>
        </p:nvSpPr>
        <p:spPr>
          <a:xfrm flipH="false" flipV="false" rot="0">
            <a:off x="180825" y="7901832"/>
            <a:ext cx="2109770" cy="4114800"/>
          </a:xfrm>
          <a:custGeom>
            <a:avLst/>
            <a:gdLst/>
            <a:ahLst/>
            <a:cxnLst/>
            <a:rect r="r" b="b" t="t" l="l"/>
            <a:pathLst>
              <a:path h="4114800" w="2109770">
                <a:moveTo>
                  <a:pt x="0" y="0"/>
                </a:moveTo>
                <a:lnTo>
                  <a:pt x="2109771" y="0"/>
                </a:lnTo>
                <a:lnTo>
                  <a:pt x="2109771"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11" id="11"/>
          <p:cNvSpPr txBox="true"/>
          <p:nvPr/>
        </p:nvSpPr>
        <p:spPr>
          <a:xfrm rot="0">
            <a:off x="4707792" y="3353503"/>
            <a:ext cx="8459573" cy="2348707"/>
          </a:xfrm>
          <a:prstGeom prst="rect">
            <a:avLst/>
          </a:prstGeom>
        </p:spPr>
        <p:txBody>
          <a:bodyPr anchor="t" rtlCol="false" tIns="0" lIns="0" bIns="0" rIns="0">
            <a:spAutoFit/>
          </a:bodyPr>
          <a:lstStyle/>
          <a:p>
            <a:pPr algn="ctr">
              <a:lnSpc>
                <a:spcPts val="18348"/>
              </a:lnSpc>
              <a:spcBef>
                <a:spcPct val="0"/>
              </a:spcBef>
            </a:pPr>
            <a:r>
              <a:rPr lang="en-US" sz="13105">
                <a:solidFill>
                  <a:srgbClr val="FFFFFF"/>
                </a:solidFill>
                <a:latin typeface="Arcade Gamer"/>
                <a:ea typeface="Arcade Gamer"/>
                <a:cs typeface="Arcade Gamer"/>
                <a:sym typeface="Arcade Gamer"/>
              </a:rPr>
              <a:t>UPFIT</a:t>
            </a:r>
          </a:p>
        </p:txBody>
      </p:sp>
      <p:sp>
        <p:nvSpPr>
          <p:cNvPr name="Freeform 12" id="12"/>
          <p:cNvSpPr/>
          <p:nvPr/>
        </p:nvSpPr>
        <p:spPr>
          <a:xfrm flipH="false" flipV="false" rot="0">
            <a:off x="1026289" y="7518681"/>
            <a:ext cx="2109770" cy="4114800"/>
          </a:xfrm>
          <a:custGeom>
            <a:avLst/>
            <a:gdLst/>
            <a:ahLst/>
            <a:cxnLst/>
            <a:rect r="r" b="b" t="t" l="l"/>
            <a:pathLst>
              <a:path h="4114800" w="2109770">
                <a:moveTo>
                  <a:pt x="0" y="0"/>
                </a:moveTo>
                <a:lnTo>
                  <a:pt x="2109770" y="0"/>
                </a:lnTo>
                <a:lnTo>
                  <a:pt x="2109770"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3" id="13"/>
          <p:cNvSpPr/>
          <p:nvPr/>
        </p:nvSpPr>
        <p:spPr>
          <a:xfrm flipH="false" flipV="false" rot="0">
            <a:off x="2081174" y="8332413"/>
            <a:ext cx="2109770" cy="4114800"/>
          </a:xfrm>
          <a:custGeom>
            <a:avLst/>
            <a:gdLst/>
            <a:ahLst/>
            <a:cxnLst/>
            <a:rect r="r" b="b" t="t" l="l"/>
            <a:pathLst>
              <a:path h="4114800" w="2109770">
                <a:moveTo>
                  <a:pt x="0" y="0"/>
                </a:moveTo>
                <a:lnTo>
                  <a:pt x="2109770" y="0"/>
                </a:lnTo>
                <a:lnTo>
                  <a:pt x="2109770"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4" id="14"/>
          <p:cNvSpPr/>
          <p:nvPr/>
        </p:nvSpPr>
        <p:spPr>
          <a:xfrm flipH="false" flipV="false" rot="0">
            <a:off x="3136059" y="7726935"/>
            <a:ext cx="2109770" cy="4114800"/>
          </a:xfrm>
          <a:custGeom>
            <a:avLst/>
            <a:gdLst/>
            <a:ahLst/>
            <a:cxnLst/>
            <a:rect r="r" b="b" t="t" l="l"/>
            <a:pathLst>
              <a:path h="4114800" w="2109770">
                <a:moveTo>
                  <a:pt x="0" y="0"/>
                </a:moveTo>
                <a:lnTo>
                  <a:pt x="2109770" y="0"/>
                </a:lnTo>
                <a:lnTo>
                  <a:pt x="2109770"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5" id="15"/>
          <p:cNvSpPr/>
          <p:nvPr/>
        </p:nvSpPr>
        <p:spPr>
          <a:xfrm flipH="false" flipV="false" rot="0">
            <a:off x="4565830" y="8112226"/>
            <a:ext cx="2109770" cy="4114800"/>
          </a:xfrm>
          <a:custGeom>
            <a:avLst/>
            <a:gdLst/>
            <a:ahLst/>
            <a:cxnLst/>
            <a:rect r="r" b="b" t="t" l="l"/>
            <a:pathLst>
              <a:path h="4114800" w="2109770">
                <a:moveTo>
                  <a:pt x="0" y="0"/>
                </a:moveTo>
                <a:lnTo>
                  <a:pt x="2109770" y="0"/>
                </a:lnTo>
                <a:lnTo>
                  <a:pt x="2109770"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6" id="16"/>
          <p:cNvSpPr/>
          <p:nvPr/>
        </p:nvSpPr>
        <p:spPr>
          <a:xfrm flipH="false" flipV="false" rot="0">
            <a:off x="5772923" y="8112226"/>
            <a:ext cx="2109770" cy="4114800"/>
          </a:xfrm>
          <a:custGeom>
            <a:avLst/>
            <a:gdLst/>
            <a:ahLst/>
            <a:cxnLst/>
            <a:rect r="r" b="b" t="t" l="l"/>
            <a:pathLst>
              <a:path h="4114800" w="2109770">
                <a:moveTo>
                  <a:pt x="0" y="0"/>
                </a:moveTo>
                <a:lnTo>
                  <a:pt x="2109771" y="0"/>
                </a:lnTo>
                <a:lnTo>
                  <a:pt x="2109771"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7" id="17"/>
          <p:cNvSpPr/>
          <p:nvPr/>
        </p:nvSpPr>
        <p:spPr>
          <a:xfrm flipH="false" flipV="false" rot="0">
            <a:off x="6827808" y="8332413"/>
            <a:ext cx="2109770" cy="4114800"/>
          </a:xfrm>
          <a:custGeom>
            <a:avLst/>
            <a:gdLst/>
            <a:ahLst/>
            <a:cxnLst/>
            <a:rect r="r" b="b" t="t" l="l"/>
            <a:pathLst>
              <a:path h="4114800" w="2109770">
                <a:moveTo>
                  <a:pt x="0" y="0"/>
                </a:moveTo>
                <a:lnTo>
                  <a:pt x="2109771" y="0"/>
                </a:lnTo>
                <a:lnTo>
                  <a:pt x="2109771"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8" id="18"/>
          <p:cNvSpPr/>
          <p:nvPr/>
        </p:nvSpPr>
        <p:spPr>
          <a:xfrm flipH="false" flipV="false" rot="0">
            <a:off x="7882694" y="7901832"/>
            <a:ext cx="2109770" cy="4114800"/>
          </a:xfrm>
          <a:custGeom>
            <a:avLst/>
            <a:gdLst/>
            <a:ahLst/>
            <a:cxnLst/>
            <a:rect r="r" b="b" t="t" l="l"/>
            <a:pathLst>
              <a:path h="4114800" w="2109770">
                <a:moveTo>
                  <a:pt x="0" y="0"/>
                </a:moveTo>
                <a:lnTo>
                  <a:pt x="2109770" y="0"/>
                </a:lnTo>
                <a:lnTo>
                  <a:pt x="2109770"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9" id="19"/>
          <p:cNvSpPr/>
          <p:nvPr/>
        </p:nvSpPr>
        <p:spPr>
          <a:xfrm flipH="false" flipV="false" rot="0">
            <a:off x="8937579" y="8435225"/>
            <a:ext cx="2109770" cy="4114800"/>
          </a:xfrm>
          <a:custGeom>
            <a:avLst/>
            <a:gdLst/>
            <a:ahLst/>
            <a:cxnLst/>
            <a:rect r="r" b="b" t="t" l="l"/>
            <a:pathLst>
              <a:path h="4114800" w="2109770">
                <a:moveTo>
                  <a:pt x="0" y="0"/>
                </a:moveTo>
                <a:lnTo>
                  <a:pt x="2109770" y="0"/>
                </a:lnTo>
                <a:lnTo>
                  <a:pt x="2109770"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20" id="20"/>
          <p:cNvSpPr/>
          <p:nvPr/>
        </p:nvSpPr>
        <p:spPr>
          <a:xfrm flipH="false" flipV="false" rot="0">
            <a:off x="16959301" y="7303713"/>
            <a:ext cx="2109770" cy="4114800"/>
          </a:xfrm>
          <a:custGeom>
            <a:avLst/>
            <a:gdLst/>
            <a:ahLst/>
            <a:cxnLst/>
            <a:rect r="r" b="b" t="t" l="l"/>
            <a:pathLst>
              <a:path h="4114800" w="2109770">
                <a:moveTo>
                  <a:pt x="0" y="0"/>
                </a:moveTo>
                <a:lnTo>
                  <a:pt x="2109770" y="0"/>
                </a:lnTo>
                <a:lnTo>
                  <a:pt x="2109770"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21" id="21"/>
          <p:cNvSpPr/>
          <p:nvPr/>
        </p:nvSpPr>
        <p:spPr>
          <a:xfrm flipH="false" flipV="false" rot="0">
            <a:off x="16097507" y="7726935"/>
            <a:ext cx="2109770" cy="4114800"/>
          </a:xfrm>
          <a:custGeom>
            <a:avLst/>
            <a:gdLst/>
            <a:ahLst/>
            <a:cxnLst/>
            <a:rect r="r" b="b" t="t" l="l"/>
            <a:pathLst>
              <a:path h="4114800" w="2109770">
                <a:moveTo>
                  <a:pt x="0" y="0"/>
                </a:moveTo>
                <a:lnTo>
                  <a:pt x="2109770" y="0"/>
                </a:lnTo>
                <a:lnTo>
                  <a:pt x="2109770"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22" id="22"/>
          <p:cNvSpPr/>
          <p:nvPr/>
        </p:nvSpPr>
        <p:spPr>
          <a:xfrm flipH="false" flipV="false" rot="0">
            <a:off x="15042622" y="7518681"/>
            <a:ext cx="2109770" cy="4114800"/>
          </a:xfrm>
          <a:custGeom>
            <a:avLst/>
            <a:gdLst/>
            <a:ahLst/>
            <a:cxnLst/>
            <a:rect r="r" b="b" t="t" l="l"/>
            <a:pathLst>
              <a:path h="4114800" w="2109770">
                <a:moveTo>
                  <a:pt x="0" y="0"/>
                </a:moveTo>
                <a:lnTo>
                  <a:pt x="2109770" y="0"/>
                </a:lnTo>
                <a:lnTo>
                  <a:pt x="2109770"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23" id="23"/>
          <p:cNvSpPr/>
          <p:nvPr/>
        </p:nvSpPr>
        <p:spPr>
          <a:xfrm flipH="false" flipV="false" rot="0">
            <a:off x="15790799" y="8435225"/>
            <a:ext cx="2109770" cy="4114800"/>
          </a:xfrm>
          <a:custGeom>
            <a:avLst/>
            <a:gdLst/>
            <a:ahLst/>
            <a:cxnLst/>
            <a:rect r="r" b="b" t="t" l="l"/>
            <a:pathLst>
              <a:path h="4114800" w="2109770">
                <a:moveTo>
                  <a:pt x="0" y="0"/>
                </a:moveTo>
                <a:lnTo>
                  <a:pt x="2109770" y="0"/>
                </a:lnTo>
                <a:lnTo>
                  <a:pt x="2109770"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24" id="24"/>
          <p:cNvSpPr/>
          <p:nvPr/>
        </p:nvSpPr>
        <p:spPr>
          <a:xfrm flipH="false" flipV="false" rot="0">
            <a:off x="13987737" y="8112226"/>
            <a:ext cx="2109770" cy="4114800"/>
          </a:xfrm>
          <a:custGeom>
            <a:avLst/>
            <a:gdLst/>
            <a:ahLst/>
            <a:cxnLst/>
            <a:rect r="r" b="b" t="t" l="l"/>
            <a:pathLst>
              <a:path h="4114800" w="2109770">
                <a:moveTo>
                  <a:pt x="0" y="0"/>
                </a:moveTo>
                <a:lnTo>
                  <a:pt x="2109770" y="0"/>
                </a:lnTo>
                <a:lnTo>
                  <a:pt x="2109770"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25" id="25"/>
          <p:cNvSpPr/>
          <p:nvPr/>
        </p:nvSpPr>
        <p:spPr>
          <a:xfrm flipH="false" flipV="false" rot="0">
            <a:off x="12932852" y="8332413"/>
            <a:ext cx="2109770" cy="4114800"/>
          </a:xfrm>
          <a:custGeom>
            <a:avLst/>
            <a:gdLst/>
            <a:ahLst/>
            <a:cxnLst/>
            <a:rect r="r" b="b" t="t" l="l"/>
            <a:pathLst>
              <a:path h="4114800" w="2109770">
                <a:moveTo>
                  <a:pt x="0" y="0"/>
                </a:moveTo>
                <a:lnTo>
                  <a:pt x="2109770" y="0"/>
                </a:lnTo>
                <a:lnTo>
                  <a:pt x="2109770"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26" id="26"/>
          <p:cNvSpPr/>
          <p:nvPr/>
        </p:nvSpPr>
        <p:spPr>
          <a:xfrm flipH="false" flipV="false" rot="0">
            <a:off x="11836746" y="7901832"/>
            <a:ext cx="2109770" cy="4114800"/>
          </a:xfrm>
          <a:custGeom>
            <a:avLst/>
            <a:gdLst/>
            <a:ahLst/>
            <a:cxnLst/>
            <a:rect r="r" b="b" t="t" l="l"/>
            <a:pathLst>
              <a:path h="4114800" w="2109770">
                <a:moveTo>
                  <a:pt x="0" y="0"/>
                </a:moveTo>
                <a:lnTo>
                  <a:pt x="2109770" y="0"/>
                </a:lnTo>
                <a:lnTo>
                  <a:pt x="2109770"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27" id="27"/>
          <p:cNvSpPr/>
          <p:nvPr/>
        </p:nvSpPr>
        <p:spPr>
          <a:xfrm flipH="false" flipV="false" rot="0">
            <a:off x="10935215" y="8332413"/>
            <a:ext cx="2109770" cy="4114800"/>
          </a:xfrm>
          <a:custGeom>
            <a:avLst/>
            <a:gdLst/>
            <a:ahLst/>
            <a:cxnLst/>
            <a:rect r="r" b="b" t="t" l="l"/>
            <a:pathLst>
              <a:path h="4114800" w="2109770">
                <a:moveTo>
                  <a:pt x="0" y="0"/>
                </a:moveTo>
                <a:lnTo>
                  <a:pt x="2109770" y="0"/>
                </a:lnTo>
                <a:lnTo>
                  <a:pt x="2109770"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28" id="28"/>
          <p:cNvSpPr/>
          <p:nvPr/>
        </p:nvSpPr>
        <p:spPr>
          <a:xfrm flipH="false" flipV="false" rot="0">
            <a:off x="9965832" y="7901832"/>
            <a:ext cx="2109770" cy="4114800"/>
          </a:xfrm>
          <a:custGeom>
            <a:avLst/>
            <a:gdLst/>
            <a:ahLst/>
            <a:cxnLst/>
            <a:rect r="r" b="b" t="t" l="l"/>
            <a:pathLst>
              <a:path h="4114800" w="2109770">
                <a:moveTo>
                  <a:pt x="0" y="0"/>
                </a:moveTo>
                <a:lnTo>
                  <a:pt x="2109770" y="0"/>
                </a:lnTo>
                <a:lnTo>
                  <a:pt x="2109770"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29" id="29"/>
          <p:cNvSpPr/>
          <p:nvPr/>
        </p:nvSpPr>
        <p:spPr>
          <a:xfrm flipH="false" flipV="false" rot="0">
            <a:off x="-781071" y="7303713"/>
            <a:ext cx="2109770" cy="4114800"/>
          </a:xfrm>
          <a:custGeom>
            <a:avLst/>
            <a:gdLst/>
            <a:ahLst/>
            <a:cxnLst/>
            <a:rect r="r" b="b" t="t" l="l"/>
            <a:pathLst>
              <a:path h="4114800" w="2109770">
                <a:moveTo>
                  <a:pt x="0" y="0"/>
                </a:moveTo>
                <a:lnTo>
                  <a:pt x="2109770" y="0"/>
                </a:lnTo>
                <a:lnTo>
                  <a:pt x="2109770"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30" id="30"/>
          <p:cNvSpPr/>
          <p:nvPr/>
        </p:nvSpPr>
        <p:spPr>
          <a:xfrm flipH="false" flipV="false" rot="0">
            <a:off x="2081174" y="2947281"/>
            <a:ext cx="758646" cy="758646"/>
          </a:xfrm>
          <a:custGeom>
            <a:avLst/>
            <a:gdLst/>
            <a:ahLst/>
            <a:cxnLst/>
            <a:rect r="r" b="b" t="t" l="l"/>
            <a:pathLst>
              <a:path h="758646" w="758646">
                <a:moveTo>
                  <a:pt x="0" y="0"/>
                </a:moveTo>
                <a:lnTo>
                  <a:pt x="758647" y="0"/>
                </a:lnTo>
                <a:lnTo>
                  <a:pt x="758647" y="758647"/>
                </a:lnTo>
                <a:lnTo>
                  <a:pt x="0" y="758647"/>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31" id="31"/>
          <p:cNvSpPr/>
          <p:nvPr/>
        </p:nvSpPr>
        <p:spPr>
          <a:xfrm flipH="false" flipV="false" rot="0">
            <a:off x="704240" y="4472307"/>
            <a:ext cx="648920" cy="648920"/>
          </a:xfrm>
          <a:custGeom>
            <a:avLst/>
            <a:gdLst/>
            <a:ahLst/>
            <a:cxnLst/>
            <a:rect r="r" b="b" t="t" l="l"/>
            <a:pathLst>
              <a:path h="648920" w="648920">
                <a:moveTo>
                  <a:pt x="0" y="0"/>
                </a:moveTo>
                <a:lnTo>
                  <a:pt x="648920" y="0"/>
                </a:lnTo>
                <a:lnTo>
                  <a:pt x="648920" y="648920"/>
                </a:lnTo>
                <a:lnTo>
                  <a:pt x="0" y="64892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32" id="32"/>
          <p:cNvSpPr/>
          <p:nvPr/>
        </p:nvSpPr>
        <p:spPr>
          <a:xfrm flipH="true" flipV="false" rot="0">
            <a:off x="1950880" y="5715703"/>
            <a:ext cx="611297" cy="611297"/>
          </a:xfrm>
          <a:custGeom>
            <a:avLst/>
            <a:gdLst/>
            <a:ahLst/>
            <a:cxnLst/>
            <a:rect r="r" b="b" t="t" l="l"/>
            <a:pathLst>
              <a:path h="611297" w="611297">
                <a:moveTo>
                  <a:pt x="611298" y="0"/>
                </a:moveTo>
                <a:lnTo>
                  <a:pt x="0" y="0"/>
                </a:lnTo>
                <a:lnTo>
                  <a:pt x="0" y="611297"/>
                </a:lnTo>
                <a:lnTo>
                  <a:pt x="611298" y="611297"/>
                </a:lnTo>
                <a:lnTo>
                  <a:pt x="611298"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grpSp>
        <p:nvGrpSpPr>
          <p:cNvPr name="Group 33" id="33"/>
          <p:cNvGrpSpPr/>
          <p:nvPr/>
        </p:nvGrpSpPr>
        <p:grpSpPr>
          <a:xfrm rot="0">
            <a:off x="15322730" y="2947281"/>
            <a:ext cx="2884548" cy="2988975"/>
            <a:chOff x="0" y="0"/>
            <a:chExt cx="3846063" cy="3985300"/>
          </a:xfrm>
        </p:grpSpPr>
        <p:sp>
          <p:nvSpPr>
            <p:cNvPr name="Freeform 34" id="34"/>
            <p:cNvSpPr/>
            <p:nvPr/>
          </p:nvSpPr>
          <p:spPr>
            <a:xfrm flipH="false" flipV="false" rot="0">
              <a:off x="0" y="0"/>
              <a:ext cx="1011529" cy="1011529"/>
            </a:xfrm>
            <a:custGeom>
              <a:avLst/>
              <a:gdLst/>
              <a:ahLst/>
              <a:cxnLst/>
              <a:rect r="r" b="b" t="t" l="l"/>
              <a:pathLst>
                <a:path h="1011529" w="1011529">
                  <a:moveTo>
                    <a:pt x="0" y="0"/>
                  </a:moveTo>
                  <a:lnTo>
                    <a:pt x="1011529" y="0"/>
                  </a:lnTo>
                  <a:lnTo>
                    <a:pt x="1011529" y="1011529"/>
                  </a:lnTo>
                  <a:lnTo>
                    <a:pt x="0" y="1011529"/>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35" id="35"/>
            <p:cNvSpPr/>
            <p:nvPr/>
          </p:nvSpPr>
          <p:spPr>
            <a:xfrm flipH="true" flipV="false" rot="0">
              <a:off x="825431" y="3241546"/>
              <a:ext cx="743753" cy="743753"/>
            </a:xfrm>
            <a:custGeom>
              <a:avLst/>
              <a:gdLst/>
              <a:ahLst/>
              <a:cxnLst/>
              <a:rect r="r" b="b" t="t" l="l"/>
              <a:pathLst>
                <a:path h="743753" w="743753">
                  <a:moveTo>
                    <a:pt x="743753" y="0"/>
                  </a:moveTo>
                  <a:lnTo>
                    <a:pt x="0" y="0"/>
                  </a:lnTo>
                  <a:lnTo>
                    <a:pt x="0" y="743754"/>
                  </a:lnTo>
                  <a:lnTo>
                    <a:pt x="743753" y="743754"/>
                  </a:lnTo>
                  <a:lnTo>
                    <a:pt x="743753"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36" id="36"/>
            <p:cNvSpPr/>
            <p:nvPr/>
          </p:nvSpPr>
          <p:spPr>
            <a:xfrm flipH="false" flipV="false" rot="0">
              <a:off x="3102310" y="1722227"/>
              <a:ext cx="743753" cy="743753"/>
            </a:xfrm>
            <a:custGeom>
              <a:avLst/>
              <a:gdLst/>
              <a:ahLst/>
              <a:cxnLst/>
              <a:rect r="r" b="b" t="t" l="l"/>
              <a:pathLst>
                <a:path h="743753" w="743753">
                  <a:moveTo>
                    <a:pt x="0" y="0"/>
                  </a:moveTo>
                  <a:lnTo>
                    <a:pt x="743753" y="0"/>
                  </a:lnTo>
                  <a:lnTo>
                    <a:pt x="743753" y="743754"/>
                  </a:lnTo>
                  <a:lnTo>
                    <a:pt x="0" y="743754"/>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grpSp>
      <p:sp>
        <p:nvSpPr>
          <p:cNvPr name="Freeform 37" id="37"/>
          <p:cNvSpPr/>
          <p:nvPr/>
        </p:nvSpPr>
        <p:spPr>
          <a:xfrm flipH="false" flipV="false" rot="0">
            <a:off x="7274572" y="731163"/>
            <a:ext cx="608122" cy="608122"/>
          </a:xfrm>
          <a:custGeom>
            <a:avLst/>
            <a:gdLst/>
            <a:ahLst/>
            <a:cxnLst/>
            <a:rect r="r" b="b" t="t" l="l"/>
            <a:pathLst>
              <a:path h="608122" w="608122">
                <a:moveTo>
                  <a:pt x="0" y="0"/>
                </a:moveTo>
                <a:lnTo>
                  <a:pt x="608122" y="0"/>
                </a:lnTo>
                <a:lnTo>
                  <a:pt x="608122" y="608122"/>
                </a:lnTo>
                <a:lnTo>
                  <a:pt x="0" y="608122"/>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38" id="38"/>
          <p:cNvSpPr/>
          <p:nvPr/>
        </p:nvSpPr>
        <p:spPr>
          <a:xfrm flipH="true" flipV="false" rot="0">
            <a:off x="10631154" y="2375165"/>
            <a:ext cx="608122" cy="608122"/>
          </a:xfrm>
          <a:custGeom>
            <a:avLst/>
            <a:gdLst/>
            <a:ahLst/>
            <a:cxnLst/>
            <a:rect r="r" b="b" t="t" l="l"/>
            <a:pathLst>
              <a:path h="608122" w="608122">
                <a:moveTo>
                  <a:pt x="608122" y="0"/>
                </a:moveTo>
                <a:lnTo>
                  <a:pt x="0" y="0"/>
                </a:lnTo>
                <a:lnTo>
                  <a:pt x="0" y="608122"/>
                </a:lnTo>
                <a:lnTo>
                  <a:pt x="608122" y="608122"/>
                </a:lnTo>
                <a:lnTo>
                  <a:pt x="608122"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39" id="39"/>
          <p:cNvSpPr/>
          <p:nvPr/>
        </p:nvSpPr>
        <p:spPr>
          <a:xfrm flipH="false" flipV="false" rot="0">
            <a:off x="3998564" y="7111332"/>
            <a:ext cx="384761" cy="384761"/>
          </a:xfrm>
          <a:custGeom>
            <a:avLst/>
            <a:gdLst/>
            <a:ahLst/>
            <a:cxnLst/>
            <a:rect r="r" b="b" t="t" l="l"/>
            <a:pathLst>
              <a:path h="384761" w="384761">
                <a:moveTo>
                  <a:pt x="0" y="0"/>
                </a:moveTo>
                <a:lnTo>
                  <a:pt x="384761" y="0"/>
                </a:lnTo>
                <a:lnTo>
                  <a:pt x="384761" y="384761"/>
                </a:lnTo>
                <a:lnTo>
                  <a:pt x="0" y="384761"/>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40" id="40"/>
          <p:cNvSpPr/>
          <p:nvPr/>
        </p:nvSpPr>
        <p:spPr>
          <a:xfrm flipH="true" flipV="false" rot="0">
            <a:off x="6250667" y="6856765"/>
            <a:ext cx="577141" cy="577141"/>
          </a:xfrm>
          <a:custGeom>
            <a:avLst/>
            <a:gdLst/>
            <a:ahLst/>
            <a:cxnLst/>
            <a:rect r="r" b="b" t="t" l="l"/>
            <a:pathLst>
              <a:path h="577141" w="577141">
                <a:moveTo>
                  <a:pt x="577141" y="0"/>
                </a:moveTo>
                <a:lnTo>
                  <a:pt x="0" y="0"/>
                </a:lnTo>
                <a:lnTo>
                  <a:pt x="0" y="577142"/>
                </a:lnTo>
                <a:lnTo>
                  <a:pt x="577141" y="577142"/>
                </a:lnTo>
                <a:lnTo>
                  <a:pt x="577141"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41" id="41"/>
          <p:cNvSpPr/>
          <p:nvPr/>
        </p:nvSpPr>
        <p:spPr>
          <a:xfrm flipH="false" flipV="false" rot="0">
            <a:off x="1192234" y="6856765"/>
            <a:ext cx="560215" cy="560215"/>
          </a:xfrm>
          <a:custGeom>
            <a:avLst/>
            <a:gdLst/>
            <a:ahLst/>
            <a:cxnLst/>
            <a:rect r="r" b="b" t="t" l="l"/>
            <a:pathLst>
              <a:path h="560215" w="560215">
                <a:moveTo>
                  <a:pt x="0" y="0"/>
                </a:moveTo>
                <a:lnTo>
                  <a:pt x="560215" y="0"/>
                </a:lnTo>
                <a:lnTo>
                  <a:pt x="560215" y="560216"/>
                </a:lnTo>
                <a:lnTo>
                  <a:pt x="0" y="560216"/>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42" id="42"/>
          <p:cNvSpPr/>
          <p:nvPr/>
        </p:nvSpPr>
        <p:spPr>
          <a:xfrm flipH="false" flipV="false" rot="0">
            <a:off x="11842112" y="7131675"/>
            <a:ext cx="604465" cy="604465"/>
          </a:xfrm>
          <a:custGeom>
            <a:avLst/>
            <a:gdLst/>
            <a:ahLst/>
            <a:cxnLst/>
            <a:rect r="r" b="b" t="t" l="l"/>
            <a:pathLst>
              <a:path h="604465" w="604465">
                <a:moveTo>
                  <a:pt x="0" y="0"/>
                </a:moveTo>
                <a:lnTo>
                  <a:pt x="604465" y="0"/>
                </a:lnTo>
                <a:lnTo>
                  <a:pt x="604465" y="604464"/>
                </a:lnTo>
                <a:lnTo>
                  <a:pt x="0" y="604464"/>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43" id="43"/>
          <p:cNvSpPr/>
          <p:nvPr/>
        </p:nvSpPr>
        <p:spPr>
          <a:xfrm flipH="true" flipV="false" rot="0">
            <a:off x="14219549" y="6585121"/>
            <a:ext cx="560215" cy="560215"/>
          </a:xfrm>
          <a:custGeom>
            <a:avLst/>
            <a:gdLst/>
            <a:ahLst/>
            <a:cxnLst/>
            <a:rect r="r" b="b" t="t" l="l"/>
            <a:pathLst>
              <a:path h="560215" w="560215">
                <a:moveTo>
                  <a:pt x="560215" y="0"/>
                </a:moveTo>
                <a:lnTo>
                  <a:pt x="0" y="0"/>
                </a:lnTo>
                <a:lnTo>
                  <a:pt x="0" y="560215"/>
                </a:lnTo>
                <a:lnTo>
                  <a:pt x="560215" y="560215"/>
                </a:lnTo>
                <a:lnTo>
                  <a:pt x="560215"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44" id="44"/>
          <p:cNvSpPr/>
          <p:nvPr/>
        </p:nvSpPr>
        <p:spPr>
          <a:xfrm flipH="true" flipV="true" rot="0">
            <a:off x="17177463" y="6660396"/>
            <a:ext cx="557815" cy="557815"/>
          </a:xfrm>
          <a:custGeom>
            <a:avLst/>
            <a:gdLst/>
            <a:ahLst/>
            <a:cxnLst/>
            <a:rect r="r" b="b" t="t" l="l"/>
            <a:pathLst>
              <a:path h="557815" w="557815">
                <a:moveTo>
                  <a:pt x="557815" y="557815"/>
                </a:moveTo>
                <a:lnTo>
                  <a:pt x="0" y="557815"/>
                </a:lnTo>
                <a:lnTo>
                  <a:pt x="0" y="0"/>
                </a:lnTo>
                <a:lnTo>
                  <a:pt x="557815" y="0"/>
                </a:lnTo>
                <a:lnTo>
                  <a:pt x="557815" y="557815"/>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45" id="45"/>
          <p:cNvSpPr/>
          <p:nvPr/>
        </p:nvSpPr>
        <p:spPr>
          <a:xfrm flipH="false" flipV="false" rot="0">
            <a:off x="5464953" y="2375165"/>
            <a:ext cx="615940" cy="615940"/>
          </a:xfrm>
          <a:custGeom>
            <a:avLst/>
            <a:gdLst/>
            <a:ahLst/>
            <a:cxnLst/>
            <a:rect r="r" b="b" t="t" l="l"/>
            <a:pathLst>
              <a:path h="615940" w="615940">
                <a:moveTo>
                  <a:pt x="0" y="0"/>
                </a:moveTo>
                <a:lnTo>
                  <a:pt x="615940" y="0"/>
                </a:lnTo>
                <a:lnTo>
                  <a:pt x="615940" y="615941"/>
                </a:lnTo>
                <a:lnTo>
                  <a:pt x="0" y="615941"/>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46" id="46"/>
          <p:cNvSpPr txBox="true"/>
          <p:nvPr/>
        </p:nvSpPr>
        <p:spPr>
          <a:xfrm rot="0">
            <a:off x="5920847" y="7183436"/>
            <a:ext cx="7051980" cy="2865120"/>
          </a:xfrm>
          <a:prstGeom prst="rect">
            <a:avLst/>
          </a:prstGeom>
        </p:spPr>
        <p:txBody>
          <a:bodyPr anchor="t" rtlCol="false" tIns="0" lIns="0" bIns="0" rIns="0">
            <a:spAutoFit/>
          </a:bodyPr>
          <a:lstStyle/>
          <a:p>
            <a:pPr algn="ctr">
              <a:lnSpc>
                <a:spcPts val="3780"/>
              </a:lnSpc>
            </a:pPr>
            <a:r>
              <a:rPr lang="en-US" sz="2700">
                <a:solidFill>
                  <a:srgbClr val="FFFFFF"/>
                </a:solidFill>
                <a:latin typeface="Arcade Gamer"/>
                <a:ea typeface="Arcade Gamer"/>
                <a:cs typeface="Arcade Gamer"/>
                <a:sym typeface="Arcade Gamer"/>
              </a:rPr>
              <a:t>RAFAEL DE PAIVA</a:t>
            </a:r>
          </a:p>
          <a:p>
            <a:pPr algn="ctr">
              <a:lnSpc>
                <a:spcPts val="3780"/>
              </a:lnSpc>
            </a:pPr>
            <a:r>
              <a:rPr lang="en-US" sz="2700">
                <a:solidFill>
                  <a:srgbClr val="FFFFFF"/>
                </a:solidFill>
                <a:latin typeface="Arcade Gamer"/>
                <a:ea typeface="Arcade Gamer"/>
                <a:cs typeface="Arcade Gamer"/>
                <a:sym typeface="Arcade Gamer"/>
              </a:rPr>
              <a:t>CAIO BATELLA</a:t>
            </a:r>
          </a:p>
          <a:p>
            <a:pPr algn="ctr">
              <a:lnSpc>
                <a:spcPts val="3780"/>
              </a:lnSpc>
            </a:pPr>
            <a:r>
              <a:rPr lang="en-US" sz="2700">
                <a:solidFill>
                  <a:srgbClr val="FFFFFF"/>
                </a:solidFill>
                <a:latin typeface="Arcade Gamer"/>
                <a:ea typeface="Arcade Gamer"/>
                <a:cs typeface="Arcade Gamer"/>
                <a:sym typeface="Arcade Gamer"/>
              </a:rPr>
              <a:t>GUILHERME DE BRITES</a:t>
            </a:r>
          </a:p>
          <a:p>
            <a:pPr algn="ctr">
              <a:lnSpc>
                <a:spcPts val="3780"/>
              </a:lnSpc>
            </a:pPr>
            <a:r>
              <a:rPr lang="en-US" sz="2700">
                <a:solidFill>
                  <a:srgbClr val="FFFFFF"/>
                </a:solidFill>
                <a:latin typeface="Arcade Gamer"/>
                <a:ea typeface="Arcade Gamer"/>
                <a:cs typeface="Arcade Gamer"/>
                <a:sym typeface="Arcade Gamer"/>
              </a:rPr>
              <a:t>VICTOR HUGO</a:t>
            </a:r>
          </a:p>
          <a:p>
            <a:pPr algn="ctr">
              <a:lnSpc>
                <a:spcPts val="3780"/>
              </a:lnSpc>
            </a:pPr>
            <a:r>
              <a:rPr lang="en-US" sz="2700">
                <a:solidFill>
                  <a:srgbClr val="FFFFFF"/>
                </a:solidFill>
                <a:latin typeface="Arcade Gamer"/>
                <a:ea typeface="Arcade Gamer"/>
                <a:cs typeface="Arcade Gamer"/>
                <a:sym typeface="Arcade Gamer"/>
              </a:rPr>
              <a:t>VICTOR GABRIEL</a:t>
            </a:r>
          </a:p>
          <a:p>
            <a:pPr algn="ctr">
              <a:lnSpc>
                <a:spcPts val="3780"/>
              </a:lnSpc>
              <a:spcBef>
                <a:spcPct val="0"/>
              </a:spcBef>
            </a:pPr>
            <a:r>
              <a:rPr lang="en-US" sz="2700">
                <a:solidFill>
                  <a:srgbClr val="FFFFFF"/>
                </a:solidFill>
                <a:latin typeface="Arcade Gamer"/>
                <a:ea typeface="Arcade Gamer"/>
                <a:cs typeface="Arcade Gamer"/>
                <a:sym typeface="Arcade Gamer"/>
              </a:rPr>
              <a:t>PEDRO MAXIMO</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2E1B5B"/>
        </a:solidFill>
      </p:bgPr>
    </p:bg>
    <p:spTree>
      <p:nvGrpSpPr>
        <p:cNvPr id="1" name=""/>
        <p:cNvGrpSpPr/>
        <p:nvPr/>
      </p:nvGrpSpPr>
      <p:grpSpPr>
        <a:xfrm>
          <a:off x="0" y="0"/>
          <a:ext cx="0" cy="0"/>
          <a:chOff x="0" y="0"/>
          <a:chExt cx="0" cy="0"/>
        </a:xfrm>
      </p:grpSpPr>
      <p:grpSp>
        <p:nvGrpSpPr>
          <p:cNvPr name="Group 2" id="2"/>
          <p:cNvGrpSpPr/>
          <p:nvPr/>
        </p:nvGrpSpPr>
        <p:grpSpPr>
          <a:xfrm rot="0">
            <a:off x="-26536" y="4158567"/>
            <a:ext cx="22374015" cy="6128433"/>
            <a:chOff x="0" y="0"/>
            <a:chExt cx="29832020" cy="8171245"/>
          </a:xfrm>
        </p:grpSpPr>
        <p:sp>
          <p:nvSpPr>
            <p:cNvPr name="Freeform 3" id="3"/>
            <p:cNvSpPr/>
            <p:nvPr/>
          </p:nvSpPr>
          <p:spPr>
            <a:xfrm flipH="true" flipV="false" rot="0">
              <a:off x="0" y="0"/>
              <a:ext cx="14916010" cy="8171245"/>
            </a:xfrm>
            <a:custGeom>
              <a:avLst/>
              <a:gdLst/>
              <a:ahLst/>
              <a:cxnLst/>
              <a:rect r="r" b="b" t="t" l="l"/>
              <a:pathLst>
                <a:path h="8171245" w="14916010">
                  <a:moveTo>
                    <a:pt x="14916010" y="0"/>
                  </a:moveTo>
                  <a:lnTo>
                    <a:pt x="0" y="0"/>
                  </a:lnTo>
                  <a:lnTo>
                    <a:pt x="0" y="8171245"/>
                  </a:lnTo>
                  <a:lnTo>
                    <a:pt x="14916010" y="8171245"/>
                  </a:lnTo>
                  <a:lnTo>
                    <a:pt x="14916010" y="0"/>
                  </a:lnTo>
                  <a:close/>
                </a:path>
              </a:pathLst>
            </a:custGeom>
            <a:blipFill>
              <a:blip r:embed="rId2">
                <a:alphaModFix amt="40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false" rot="0">
              <a:off x="14916010" y="0"/>
              <a:ext cx="14916010" cy="8171245"/>
            </a:xfrm>
            <a:custGeom>
              <a:avLst/>
              <a:gdLst/>
              <a:ahLst/>
              <a:cxnLst/>
              <a:rect r="r" b="b" t="t" l="l"/>
              <a:pathLst>
                <a:path h="8171245" w="14916010">
                  <a:moveTo>
                    <a:pt x="14916010" y="0"/>
                  </a:moveTo>
                  <a:lnTo>
                    <a:pt x="0" y="0"/>
                  </a:lnTo>
                  <a:lnTo>
                    <a:pt x="0" y="8171245"/>
                  </a:lnTo>
                  <a:lnTo>
                    <a:pt x="14916010" y="8171245"/>
                  </a:lnTo>
                  <a:lnTo>
                    <a:pt x="14916010" y="0"/>
                  </a:lnTo>
                  <a:close/>
                </a:path>
              </a:pathLst>
            </a:custGeom>
            <a:blipFill>
              <a:blip r:embed="rId2">
                <a:alphaModFix amt="40000"/>
                <a:extLst>
                  <a:ext uri="{96DAC541-7B7A-43D3-8B79-37D633B846F1}">
                    <asvg:svgBlip xmlns:asvg="http://schemas.microsoft.com/office/drawing/2016/SVG/main" r:embed="rId3"/>
                  </a:ext>
                </a:extLst>
              </a:blip>
              <a:stretch>
                <a:fillRect l="0" t="0" r="0" b="0"/>
              </a:stretch>
            </a:blipFill>
          </p:spPr>
        </p:sp>
      </p:grpSp>
      <p:sp>
        <p:nvSpPr>
          <p:cNvPr name="Freeform 5" id="5"/>
          <p:cNvSpPr/>
          <p:nvPr/>
        </p:nvSpPr>
        <p:spPr>
          <a:xfrm flipH="false" flipV="false" rot="0">
            <a:off x="10068020" y="9291108"/>
            <a:ext cx="3303035" cy="960883"/>
          </a:xfrm>
          <a:custGeom>
            <a:avLst/>
            <a:gdLst/>
            <a:ahLst/>
            <a:cxnLst/>
            <a:rect r="r" b="b" t="t" l="l"/>
            <a:pathLst>
              <a:path h="960883" w="3303035">
                <a:moveTo>
                  <a:pt x="0" y="0"/>
                </a:moveTo>
                <a:lnTo>
                  <a:pt x="3303035" y="0"/>
                </a:lnTo>
                <a:lnTo>
                  <a:pt x="3303035" y="960882"/>
                </a:lnTo>
                <a:lnTo>
                  <a:pt x="0" y="96088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true" flipV="false" rot="0">
            <a:off x="13082369" y="1330335"/>
            <a:ext cx="2458208" cy="2458208"/>
          </a:xfrm>
          <a:custGeom>
            <a:avLst/>
            <a:gdLst/>
            <a:ahLst/>
            <a:cxnLst/>
            <a:rect r="r" b="b" t="t" l="l"/>
            <a:pathLst>
              <a:path h="2458208" w="2458208">
                <a:moveTo>
                  <a:pt x="2458208" y="0"/>
                </a:moveTo>
                <a:lnTo>
                  <a:pt x="0" y="0"/>
                </a:lnTo>
                <a:lnTo>
                  <a:pt x="0" y="2458208"/>
                </a:lnTo>
                <a:lnTo>
                  <a:pt x="2458208" y="2458208"/>
                </a:lnTo>
                <a:lnTo>
                  <a:pt x="2458208"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14995928" y="987114"/>
            <a:ext cx="4384930" cy="1530739"/>
          </a:xfrm>
          <a:custGeom>
            <a:avLst/>
            <a:gdLst/>
            <a:ahLst/>
            <a:cxnLst/>
            <a:rect r="r" b="b" t="t" l="l"/>
            <a:pathLst>
              <a:path h="1530739" w="4384930">
                <a:moveTo>
                  <a:pt x="0" y="0"/>
                </a:moveTo>
                <a:lnTo>
                  <a:pt x="4384931" y="0"/>
                </a:lnTo>
                <a:lnTo>
                  <a:pt x="4384931" y="1530739"/>
                </a:lnTo>
                <a:lnTo>
                  <a:pt x="0" y="153073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8" id="8"/>
          <p:cNvSpPr/>
          <p:nvPr/>
        </p:nvSpPr>
        <p:spPr>
          <a:xfrm flipH="false" flipV="false" rot="0">
            <a:off x="5591526" y="8981147"/>
            <a:ext cx="1095067" cy="1303651"/>
          </a:xfrm>
          <a:custGeom>
            <a:avLst/>
            <a:gdLst/>
            <a:ahLst/>
            <a:cxnLst/>
            <a:rect r="r" b="b" t="t" l="l"/>
            <a:pathLst>
              <a:path h="1303651" w="1095067">
                <a:moveTo>
                  <a:pt x="0" y="0"/>
                </a:moveTo>
                <a:lnTo>
                  <a:pt x="1095067" y="0"/>
                </a:lnTo>
                <a:lnTo>
                  <a:pt x="1095067" y="1303651"/>
                </a:lnTo>
                <a:lnTo>
                  <a:pt x="0" y="1303651"/>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9" id="9"/>
          <p:cNvSpPr/>
          <p:nvPr/>
        </p:nvSpPr>
        <p:spPr>
          <a:xfrm flipH="false" flipV="false" rot="0">
            <a:off x="11847043" y="2764488"/>
            <a:ext cx="4325833" cy="770785"/>
          </a:xfrm>
          <a:custGeom>
            <a:avLst/>
            <a:gdLst/>
            <a:ahLst/>
            <a:cxnLst/>
            <a:rect r="r" b="b" t="t" l="l"/>
            <a:pathLst>
              <a:path h="770785" w="4325833">
                <a:moveTo>
                  <a:pt x="0" y="0"/>
                </a:moveTo>
                <a:lnTo>
                  <a:pt x="4325833" y="0"/>
                </a:lnTo>
                <a:lnTo>
                  <a:pt x="4325833" y="770784"/>
                </a:lnTo>
                <a:lnTo>
                  <a:pt x="0" y="770784"/>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0" id="10"/>
          <p:cNvSpPr/>
          <p:nvPr/>
        </p:nvSpPr>
        <p:spPr>
          <a:xfrm flipH="true" flipV="false" rot="0">
            <a:off x="6806308" y="9138125"/>
            <a:ext cx="963206" cy="1146673"/>
          </a:xfrm>
          <a:custGeom>
            <a:avLst/>
            <a:gdLst/>
            <a:ahLst/>
            <a:cxnLst/>
            <a:rect r="r" b="b" t="t" l="l"/>
            <a:pathLst>
              <a:path h="1146673" w="963206">
                <a:moveTo>
                  <a:pt x="963205" y="0"/>
                </a:moveTo>
                <a:lnTo>
                  <a:pt x="0" y="0"/>
                </a:lnTo>
                <a:lnTo>
                  <a:pt x="0" y="1146673"/>
                </a:lnTo>
                <a:lnTo>
                  <a:pt x="963205" y="1146673"/>
                </a:lnTo>
                <a:lnTo>
                  <a:pt x="963205"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1" id="11"/>
          <p:cNvSpPr/>
          <p:nvPr/>
        </p:nvSpPr>
        <p:spPr>
          <a:xfrm flipH="false" flipV="false" rot="0">
            <a:off x="15965048" y="9291108"/>
            <a:ext cx="3415811" cy="993690"/>
          </a:xfrm>
          <a:custGeom>
            <a:avLst/>
            <a:gdLst/>
            <a:ahLst/>
            <a:cxnLst/>
            <a:rect r="r" b="b" t="t" l="l"/>
            <a:pathLst>
              <a:path h="993690" w="3415811">
                <a:moveTo>
                  <a:pt x="0" y="0"/>
                </a:moveTo>
                <a:lnTo>
                  <a:pt x="3415811" y="0"/>
                </a:lnTo>
                <a:lnTo>
                  <a:pt x="3415811" y="993690"/>
                </a:lnTo>
                <a:lnTo>
                  <a:pt x="0" y="99369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2" id="12"/>
          <p:cNvSpPr/>
          <p:nvPr/>
        </p:nvSpPr>
        <p:spPr>
          <a:xfrm flipH="true" flipV="false" rot="0">
            <a:off x="-542181" y="9170932"/>
            <a:ext cx="3716138" cy="1081058"/>
          </a:xfrm>
          <a:custGeom>
            <a:avLst/>
            <a:gdLst/>
            <a:ahLst/>
            <a:cxnLst/>
            <a:rect r="r" b="b" t="t" l="l"/>
            <a:pathLst>
              <a:path h="1081058" w="3716138">
                <a:moveTo>
                  <a:pt x="3716138" y="0"/>
                </a:moveTo>
                <a:lnTo>
                  <a:pt x="0" y="0"/>
                </a:lnTo>
                <a:lnTo>
                  <a:pt x="0" y="1081058"/>
                </a:lnTo>
                <a:lnTo>
                  <a:pt x="3716138" y="1081058"/>
                </a:lnTo>
                <a:lnTo>
                  <a:pt x="3716138"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3" id="13"/>
          <p:cNvSpPr/>
          <p:nvPr/>
        </p:nvSpPr>
        <p:spPr>
          <a:xfrm flipH="true" flipV="false" rot="0">
            <a:off x="11719538" y="6088966"/>
            <a:ext cx="2725663" cy="3544006"/>
          </a:xfrm>
          <a:custGeom>
            <a:avLst/>
            <a:gdLst/>
            <a:ahLst/>
            <a:cxnLst/>
            <a:rect r="r" b="b" t="t" l="l"/>
            <a:pathLst>
              <a:path h="3544006" w="2725663">
                <a:moveTo>
                  <a:pt x="2725663" y="0"/>
                </a:moveTo>
                <a:lnTo>
                  <a:pt x="0" y="0"/>
                </a:lnTo>
                <a:lnTo>
                  <a:pt x="0" y="3544007"/>
                </a:lnTo>
                <a:lnTo>
                  <a:pt x="2725663" y="3544007"/>
                </a:lnTo>
                <a:lnTo>
                  <a:pt x="2725663"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4" id="14"/>
          <p:cNvSpPr/>
          <p:nvPr/>
        </p:nvSpPr>
        <p:spPr>
          <a:xfrm flipH="true" flipV="false" rot="0">
            <a:off x="14009959" y="4919043"/>
            <a:ext cx="3543572" cy="4607481"/>
          </a:xfrm>
          <a:custGeom>
            <a:avLst/>
            <a:gdLst/>
            <a:ahLst/>
            <a:cxnLst/>
            <a:rect r="r" b="b" t="t" l="l"/>
            <a:pathLst>
              <a:path h="4607481" w="3543572">
                <a:moveTo>
                  <a:pt x="3543572" y="0"/>
                </a:moveTo>
                <a:lnTo>
                  <a:pt x="0" y="0"/>
                </a:lnTo>
                <a:lnTo>
                  <a:pt x="0" y="4607481"/>
                </a:lnTo>
                <a:lnTo>
                  <a:pt x="3543572" y="4607481"/>
                </a:lnTo>
                <a:lnTo>
                  <a:pt x="3543572"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5" id="15"/>
          <p:cNvSpPr/>
          <p:nvPr/>
        </p:nvSpPr>
        <p:spPr>
          <a:xfrm flipH="false" flipV="false" rot="0">
            <a:off x="13141786" y="9258300"/>
            <a:ext cx="3415811" cy="993690"/>
          </a:xfrm>
          <a:custGeom>
            <a:avLst/>
            <a:gdLst/>
            <a:ahLst/>
            <a:cxnLst/>
            <a:rect r="r" b="b" t="t" l="l"/>
            <a:pathLst>
              <a:path h="993690" w="3415811">
                <a:moveTo>
                  <a:pt x="0" y="0"/>
                </a:moveTo>
                <a:lnTo>
                  <a:pt x="3415811" y="0"/>
                </a:lnTo>
                <a:lnTo>
                  <a:pt x="3415811" y="993690"/>
                </a:lnTo>
                <a:lnTo>
                  <a:pt x="0" y="99369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6" id="16"/>
          <p:cNvSpPr/>
          <p:nvPr/>
        </p:nvSpPr>
        <p:spPr>
          <a:xfrm flipH="false" flipV="false" rot="0">
            <a:off x="6928183" y="-120795"/>
            <a:ext cx="2215817" cy="2215817"/>
          </a:xfrm>
          <a:custGeom>
            <a:avLst/>
            <a:gdLst/>
            <a:ahLst/>
            <a:cxnLst/>
            <a:rect r="r" b="b" t="t" l="l"/>
            <a:pathLst>
              <a:path h="2215817" w="2215817">
                <a:moveTo>
                  <a:pt x="0" y="0"/>
                </a:moveTo>
                <a:lnTo>
                  <a:pt x="2215817" y="0"/>
                </a:lnTo>
                <a:lnTo>
                  <a:pt x="2215817" y="2215817"/>
                </a:lnTo>
                <a:lnTo>
                  <a:pt x="0" y="2215817"/>
                </a:lnTo>
                <a:lnTo>
                  <a:pt x="0" y="0"/>
                </a:lnTo>
                <a:close/>
              </a:path>
            </a:pathLst>
          </a:custGeom>
          <a:blipFill>
            <a:blip r:embed="rId16"/>
            <a:stretch>
              <a:fillRect l="0" t="0" r="0" b="0"/>
            </a:stretch>
          </a:blipFill>
        </p:spPr>
      </p:sp>
      <p:sp>
        <p:nvSpPr>
          <p:cNvPr name="TextBox 17" id="17"/>
          <p:cNvSpPr txBox="true"/>
          <p:nvPr/>
        </p:nvSpPr>
        <p:spPr>
          <a:xfrm rot="0">
            <a:off x="927956" y="2716863"/>
            <a:ext cx="10422209" cy="2830830"/>
          </a:xfrm>
          <a:prstGeom prst="rect">
            <a:avLst/>
          </a:prstGeom>
        </p:spPr>
        <p:txBody>
          <a:bodyPr anchor="t" rtlCol="false" tIns="0" lIns="0" bIns="0" rIns="0">
            <a:spAutoFit/>
          </a:bodyPr>
          <a:lstStyle/>
          <a:p>
            <a:pPr algn="just">
              <a:lnSpc>
                <a:spcPts val="2520"/>
              </a:lnSpc>
            </a:pPr>
            <a:r>
              <a:rPr lang="en-US" sz="1800">
                <a:solidFill>
                  <a:srgbClr val="FFFFFF"/>
                </a:solidFill>
                <a:latin typeface="Roboto"/>
                <a:ea typeface="Roboto"/>
                <a:cs typeface="Roboto"/>
                <a:sym typeface="Roboto"/>
              </a:rPr>
              <a:t>Milhões de pessoas iniciam atividades físicas todos os anos motivadas por saúde, estética ou bem-estar. No entanto, a maioria abandona nas primeiras semanas por falta de constância e motivação sustentável. </a:t>
            </a:r>
          </a:p>
          <a:p>
            <a:pPr algn="just">
              <a:lnSpc>
                <a:spcPts val="2520"/>
              </a:lnSpc>
            </a:pPr>
          </a:p>
          <a:p>
            <a:pPr algn="just">
              <a:lnSpc>
                <a:spcPts val="2520"/>
              </a:lnSpc>
            </a:pPr>
            <a:r>
              <a:rPr lang="en-US" sz="1800">
                <a:solidFill>
                  <a:srgbClr val="FFFFFF"/>
                </a:solidFill>
                <a:latin typeface="Roboto"/>
                <a:ea typeface="Roboto"/>
                <a:cs typeface="Roboto"/>
                <a:sym typeface="Roboto"/>
              </a:rPr>
              <a:t>Segundo relatório da World Health Organization, cerca de 1 em cada 4 adultos no mundo não atinge níveis recomendados de atividade física. Além disso, estudos publicados na National Library of Medicine indicam que programas de treino sem reforço comportamental têm altas taxas de abandono nos primeiros 60 dias.</a:t>
            </a:r>
          </a:p>
          <a:p>
            <a:pPr algn="just">
              <a:lnSpc>
                <a:spcPts val="2520"/>
              </a:lnSpc>
              <a:spcBef>
                <a:spcPct val="0"/>
              </a:spcBef>
            </a:pPr>
          </a:p>
        </p:txBody>
      </p:sp>
      <p:sp>
        <p:nvSpPr>
          <p:cNvPr name="TextBox 18" id="18"/>
          <p:cNvSpPr txBox="true"/>
          <p:nvPr/>
        </p:nvSpPr>
        <p:spPr>
          <a:xfrm rot="0">
            <a:off x="1808728" y="1439044"/>
            <a:ext cx="8057657" cy="911224"/>
          </a:xfrm>
          <a:prstGeom prst="rect">
            <a:avLst/>
          </a:prstGeom>
        </p:spPr>
        <p:txBody>
          <a:bodyPr anchor="t" rtlCol="false" tIns="0" lIns="0" bIns="0" rIns="0">
            <a:spAutoFit/>
          </a:bodyPr>
          <a:lstStyle/>
          <a:p>
            <a:pPr algn="l">
              <a:lnSpc>
                <a:spcPts val="7000"/>
              </a:lnSpc>
              <a:spcBef>
                <a:spcPct val="0"/>
              </a:spcBef>
            </a:pPr>
            <a:r>
              <a:rPr lang="en-US" sz="5000">
                <a:solidFill>
                  <a:srgbClr val="FFFFFF"/>
                </a:solidFill>
                <a:latin typeface="Arcade Gamer"/>
                <a:ea typeface="Arcade Gamer"/>
                <a:cs typeface="Arcade Gamer"/>
                <a:sym typeface="Arcade Gamer"/>
              </a:rPr>
              <a:t>O PROBLEMA REAL</a:t>
            </a:r>
          </a:p>
        </p:txBody>
      </p:sp>
      <p:sp>
        <p:nvSpPr>
          <p:cNvPr name="TextBox 19" id="19"/>
          <p:cNvSpPr txBox="true"/>
          <p:nvPr/>
        </p:nvSpPr>
        <p:spPr>
          <a:xfrm rot="0">
            <a:off x="927956" y="5617059"/>
            <a:ext cx="7747589" cy="1923415"/>
          </a:xfrm>
          <a:prstGeom prst="rect">
            <a:avLst/>
          </a:prstGeom>
        </p:spPr>
        <p:txBody>
          <a:bodyPr anchor="t" rtlCol="false" tIns="0" lIns="0" bIns="0" rIns="0">
            <a:spAutoFit/>
          </a:bodyPr>
          <a:lstStyle/>
          <a:p>
            <a:pPr algn="just">
              <a:lnSpc>
                <a:spcPts val="2799"/>
              </a:lnSpc>
            </a:pPr>
            <a:r>
              <a:rPr lang="en-US" sz="1999">
                <a:solidFill>
                  <a:srgbClr val="FFFFFF"/>
                </a:solidFill>
                <a:latin typeface="Roboto"/>
                <a:ea typeface="Roboto"/>
                <a:cs typeface="Roboto"/>
                <a:sym typeface="Roboto"/>
              </a:rPr>
              <a:t> </a:t>
            </a:r>
            <a:r>
              <a:rPr lang="en-US" sz="1999" b="true">
                <a:solidFill>
                  <a:srgbClr val="FFFFFF"/>
                </a:solidFill>
                <a:latin typeface="Roboto Bold"/>
                <a:ea typeface="Roboto Bold"/>
                <a:cs typeface="Roboto Bold"/>
                <a:sym typeface="Roboto Bold"/>
              </a:rPr>
              <a:t>Pontos-chave</a:t>
            </a:r>
          </a:p>
          <a:p>
            <a:pPr algn="l" marL="388620" indent="-194310" lvl="1">
              <a:lnSpc>
                <a:spcPts val="2520"/>
              </a:lnSpc>
              <a:buFont typeface="Arial"/>
              <a:buChar char="•"/>
            </a:pPr>
            <a:r>
              <a:rPr lang="en-US" sz="1800">
                <a:solidFill>
                  <a:srgbClr val="FFFFFF"/>
                </a:solidFill>
                <a:latin typeface="Roboto"/>
                <a:ea typeface="Roboto"/>
                <a:cs typeface="Roboto"/>
                <a:sym typeface="Roboto"/>
              </a:rPr>
              <a:t>Alta taxa de abandono nas primeiras 4–8 semanas</a:t>
            </a:r>
          </a:p>
          <a:p>
            <a:pPr algn="l" marL="388620" indent="-194310" lvl="1">
              <a:lnSpc>
                <a:spcPts val="2520"/>
              </a:lnSpc>
              <a:buFont typeface="Arial"/>
              <a:buChar char="•"/>
            </a:pPr>
            <a:r>
              <a:rPr lang="en-US" sz="1800">
                <a:solidFill>
                  <a:srgbClr val="FFFFFF"/>
                </a:solidFill>
                <a:latin typeface="Roboto"/>
                <a:ea typeface="Roboto"/>
                <a:cs typeface="Roboto"/>
                <a:sym typeface="Roboto"/>
              </a:rPr>
              <a:t>25% dos adultos globalmente são insuficientemente ativos (OMS)</a:t>
            </a:r>
          </a:p>
          <a:p>
            <a:pPr algn="l" marL="388620" indent="-194310" lvl="1">
              <a:lnSpc>
                <a:spcPts val="2520"/>
              </a:lnSpc>
              <a:buFont typeface="Arial"/>
              <a:buChar char="•"/>
            </a:pPr>
            <a:r>
              <a:rPr lang="en-US" sz="1800">
                <a:solidFill>
                  <a:srgbClr val="FFFFFF"/>
                </a:solidFill>
                <a:latin typeface="Roboto"/>
                <a:ea typeface="Roboto"/>
                <a:cs typeface="Roboto"/>
                <a:sym typeface="Roboto"/>
              </a:rPr>
              <a:t>Apps atuais focam em métricas, não em constância</a:t>
            </a:r>
          </a:p>
          <a:p>
            <a:pPr algn="l" marL="388620" indent="-194310" lvl="1">
              <a:lnSpc>
                <a:spcPts val="2520"/>
              </a:lnSpc>
              <a:buFont typeface="Arial"/>
              <a:buChar char="•"/>
            </a:pPr>
            <a:r>
              <a:rPr lang="en-US" sz="1800">
                <a:solidFill>
                  <a:srgbClr val="FFFFFF"/>
                </a:solidFill>
                <a:latin typeface="Roboto"/>
                <a:ea typeface="Roboto"/>
                <a:cs typeface="Roboto"/>
                <a:sym typeface="Roboto"/>
              </a:rPr>
              <a:t>Dor principal: falta de progressão percebida</a:t>
            </a:r>
          </a:p>
          <a:p>
            <a:pPr algn="just">
              <a:lnSpc>
                <a:spcPts val="2520"/>
              </a:lnSpc>
              <a:spcBef>
                <a:spcPct val="0"/>
              </a:spcBef>
            </a:pP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2E1B5B"/>
        </a:solidFill>
      </p:bgPr>
    </p:bg>
    <p:spTree>
      <p:nvGrpSpPr>
        <p:cNvPr id="1" name=""/>
        <p:cNvGrpSpPr/>
        <p:nvPr/>
      </p:nvGrpSpPr>
      <p:grpSpPr>
        <a:xfrm>
          <a:off x="0" y="0"/>
          <a:ext cx="0" cy="0"/>
          <a:chOff x="0" y="0"/>
          <a:chExt cx="0" cy="0"/>
        </a:xfrm>
      </p:grpSpPr>
      <p:grpSp>
        <p:nvGrpSpPr>
          <p:cNvPr name="Group 2" id="2"/>
          <p:cNvGrpSpPr/>
          <p:nvPr/>
        </p:nvGrpSpPr>
        <p:grpSpPr>
          <a:xfrm rot="0">
            <a:off x="-26536" y="4158567"/>
            <a:ext cx="22374015" cy="6128433"/>
            <a:chOff x="0" y="0"/>
            <a:chExt cx="29832020" cy="8171245"/>
          </a:xfrm>
        </p:grpSpPr>
        <p:sp>
          <p:nvSpPr>
            <p:cNvPr name="Freeform 3" id="3"/>
            <p:cNvSpPr/>
            <p:nvPr/>
          </p:nvSpPr>
          <p:spPr>
            <a:xfrm flipH="true" flipV="false" rot="0">
              <a:off x="0" y="0"/>
              <a:ext cx="14916010" cy="8171245"/>
            </a:xfrm>
            <a:custGeom>
              <a:avLst/>
              <a:gdLst/>
              <a:ahLst/>
              <a:cxnLst/>
              <a:rect r="r" b="b" t="t" l="l"/>
              <a:pathLst>
                <a:path h="8171245" w="14916010">
                  <a:moveTo>
                    <a:pt x="14916010" y="0"/>
                  </a:moveTo>
                  <a:lnTo>
                    <a:pt x="0" y="0"/>
                  </a:lnTo>
                  <a:lnTo>
                    <a:pt x="0" y="8171245"/>
                  </a:lnTo>
                  <a:lnTo>
                    <a:pt x="14916010" y="8171245"/>
                  </a:lnTo>
                  <a:lnTo>
                    <a:pt x="14916010" y="0"/>
                  </a:lnTo>
                  <a:close/>
                </a:path>
              </a:pathLst>
            </a:custGeom>
            <a:blipFill>
              <a:blip r:embed="rId2">
                <a:alphaModFix amt="40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false" rot="0">
              <a:off x="14916010" y="0"/>
              <a:ext cx="14916010" cy="8171245"/>
            </a:xfrm>
            <a:custGeom>
              <a:avLst/>
              <a:gdLst/>
              <a:ahLst/>
              <a:cxnLst/>
              <a:rect r="r" b="b" t="t" l="l"/>
              <a:pathLst>
                <a:path h="8171245" w="14916010">
                  <a:moveTo>
                    <a:pt x="14916010" y="0"/>
                  </a:moveTo>
                  <a:lnTo>
                    <a:pt x="0" y="0"/>
                  </a:lnTo>
                  <a:lnTo>
                    <a:pt x="0" y="8171245"/>
                  </a:lnTo>
                  <a:lnTo>
                    <a:pt x="14916010" y="8171245"/>
                  </a:lnTo>
                  <a:lnTo>
                    <a:pt x="14916010" y="0"/>
                  </a:lnTo>
                  <a:close/>
                </a:path>
              </a:pathLst>
            </a:custGeom>
            <a:blipFill>
              <a:blip r:embed="rId2">
                <a:alphaModFix amt="40000"/>
                <a:extLst>
                  <a:ext uri="{96DAC541-7B7A-43D3-8B79-37D633B846F1}">
                    <asvg:svgBlip xmlns:asvg="http://schemas.microsoft.com/office/drawing/2016/SVG/main" r:embed="rId3"/>
                  </a:ext>
                </a:extLst>
              </a:blip>
              <a:stretch>
                <a:fillRect l="0" t="0" r="0" b="0"/>
              </a:stretch>
            </a:blipFill>
          </p:spPr>
        </p:sp>
      </p:grpSp>
      <p:sp>
        <p:nvSpPr>
          <p:cNvPr name="Freeform 5" id="5"/>
          <p:cNvSpPr/>
          <p:nvPr/>
        </p:nvSpPr>
        <p:spPr>
          <a:xfrm flipH="false" flipV="false" rot="0">
            <a:off x="9144000" y="8907087"/>
            <a:ext cx="9144000" cy="1379913"/>
          </a:xfrm>
          <a:custGeom>
            <a:avLst/>
            <a:gdLst/>
            <a:ahLst/>
            <a:cxnLst/>
            <a:rect r="r" b="b" t="t" l="l"/>
            <a:pathLst>
              <a:path h="1379913" w="9144000">
                <a:moveTo>
                  <a:pt x="0" y="0"/>
                </a:moveTo>
                <a:lnTo>
                  <a:pt x="9144000" y="0"/>
                </a:lnTo>
                <a:lnTo>
                  <a:pt x="9144000" y="1379913"/>
                </a:lnTo>
                <a:lnTo>
                  <a:pt x="0" y="137991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66525" y="1077076"/>
            <a:ext cx="3474012" cy="1212746"/>
          </a:xfrm>
          <a:custGeom>
            <a:avLst/>
            <a:gdLst/>
            <a:ahLst/>
            <a:cxnLst/>
            <a:rect r="r" b="b" t="t" l="l"/>
            <a:pathLst>
              <a:path h="1212746" w="3474012">
                <a:moveTo>
                  <a:pt x="0" y="0"/>
                </a:moveTo>
                <a:lnTo>
                  <a:pt x="3474012" y="0"/>
                </a:lnTo>
                <a:lnTo>
                  <a:pt x="3474012" y="1212746"/>
                </a:lnTo>
                <a:lnTo>
                  <a:pt x="0" y="121274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2860593" y="1415341"/>
            <a:ext cx="4907801" cy="874481"/>
          </a:xfrm>
          <a:custGeom>
            <a:avLst/>
            <a:gdLst/>
            <a:ahLst/>
            <a:cxnLst/>
            <a:rect r="r" b="b" t="t" l="l"/>
            <a:pathLst>
              <a:path h="874481" w="4907801">
                <a:moveTo>
                  <a:pt x="0" y="0"/>
                </a:moveTo>
                <a:lnTo>
                  <a:pt x="4907801" y="0"/>
                </a:lnTo>
                <a:lnTo>
                  <a:pt x="4907801" y="874481"/>
                </a:lnTo>
                <a:lnTo>
                  <a:pt x="0" y="87448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8" id="8"/>
          <p:cNvSpPr/>
          <p:nvPr/>
        </p:nvSpPr>
        <p:spPr>
          <a:xfrm flipH="false" flipV="false" rot="0">
            <a:off x="12144344" y="731163"/>
            <a:ext cx="5270840" cy="1840002"/>
          </a:xfrm>
          <a:custGeom>
            <a:avLst/>
            <a:gdLst/>
            <a:ahLst/>
            <a:cxnLst/>
            <a:rect r="r" b="b" t="t" l="l"/>
            <a:pathLst>
              <a:path h="1840002" w="5270840">
                <a:moveTo>
                  <a:pt x="0" y="0"/>
                </a:moveTo>
                <a:lnTo>
                  <a:pt x="5270840" y="0"/>
                </a:lnTo>
                <a:lnTo>
                  <a:pt x="5270840" y="1840002"/>
                </a:lnTo>
                <a:lnTo>
                  <a:pt x="0" y="184000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0">
            <a:off x="14779764" y="1077076"/>
            <a:ext cx="4233199" cy="1477771"/>
          </a:xfrm>
          <a:custGeom>
            <a:avLst/>
            <a:gdLst/>
            <a:ahLst/>
            <a:cxnLst/>
            <a:rect r="r" b="b" t="t" l="l"/>
            <a:pathLst>
              <a:path h="1477771" w="4233199">
                <a:moveTo>
                  <a:pt x="0" y="0"/>
                </a:moveTo>
                <a:lnTo>
                  <a:pt x="4233199" y="0"/>
                </a:lnTo>
                <a:lnTo>
                  <a:pt x="4233199" y="1477771"/>
                </a:lnTo>
                <a:lnTo>
                  <a:pt x="0" y="147777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0" id="10"/>
          <p:cNvSpPr/>
          <p:nvPr/>
        </p:nvSpPr>
        <p:spPr>
          <a:xfrm flipH="true" flipV="false" rot="0">
            <a:off x="8368497" y="990216"/>
            <a:ext cx="3890591" cy="693233"/>
          </a:xfrm>
          <a:custGeom>
            <a:avLst/>
            <a:gdLst/>
            <a:ahLst/>
            <a:cxnLst/>
            <a:rect r="r" b="b" t="t" l="l"/>
            <a:pathLst>
              <a:path h="693233" w="3890591">
                <a:moveTo>
                  <a:pt x="3890591" y="0"/>
                </a:moveTo>
                <a:lnTo>
                  <a:pt x="0" y="0"/>
                </a:lnTo>
                <a:lnTo>
                  <a:pt x="0" y="693233"/>
                </a:lnTo>
                <a:lnTo>
                  <a:pt x="3890591" y="693233"/>
                </a:lnTo>
                <a:lnTo>
                  <a:pt x="3890591"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1" id="11"/>
          <p:cNvSpPr/>
          <p:nvPr/>
        </p:nvSpPr>
        <p:spPr>
          <a:xfrm flipH="false" flipV="false" rot="0">
            <a:off x="0" y="8907087"/>
            <a:ext cx="9144000" cy="1379913"/>
          </a:xfrm>
          <a:custGeom>
            <a:avLst/>
            <a:gdLst/>
            <a:ahLst/>
            <a:cxnLst/>
            <a:rect r="r" b="b" t="t" l="l"/>
            <a:pathLst>
              <a:path h="1379913" w="9144000">
                <a:moveTo>
                  <a:pt x="0" y="0"/>
                </a:moveTo>
                <a:lnTo>
                  <a:pt x="9144000" y="0"/>
                </a:lnTo>
                <a:lnTo>
                  <a:pt x="9144000" y="1379913"/>
                </a:lnTo>
                <a:lnTo>
                  <a:pt x="0" y="137991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pic>
        <p:nvPicPr>
          <p:cNvPr name="Picture 12" id="12"/>
          <p:cNvPicPr>
            <a:picLocks noChangeAspect="true"/>
          </p:cNvPicPr>
          <p:nvPr/>
        </p:nvPicPr>
        <p:blipFill>
          <a:blip r:embed="rId10"/>
          <a:srcRect l="0" t="0" r="0" b="0"/>
          <a:stretch>
            <a:fillRect/>
          </a:stretch>
        </p:blipFill>
        <p:spPr>
          <a:xfrm flipH="false" flipV="false" rot="0">
            <a:off x="0" y="5714987"/>
            <a:ext cx="7341939" cy="5506454"/>
          </a:xfrm>
          <a:prstGeom prst="rect">
            <a:avLst/>
          </a:prstGeom>
        </p:spPr>
      </p:pic>
      <p:sp>
        <p:nvSpPr>
          <p:cNvPr name="Freeform 13" id="13"/>
          <p:cNvSpPr/>
          <p:nvPr/>
        </p:nvSpPr>
        <p:spPr>
          <a:xfrm flipH="false" flipV="false" rot="0">
            <a:off x="8326586" y="2554847"/>
            <a:ext cx="1202549" cy="1202549"/>
          </a:xfrm>
          <a:custGeom>
            <a:avLst/>
            <a:gdLst/>
            <a:ahLst/>
            <a:cxnLst/>
            <a:rect r="r" b="b" t="t" l="l"/>
            <a:pathLst>
              <a:path h="1202549" w="1202549">
                <a:moveTo>
                  <a:pt x="0" y="0"/>
                </a:moveTo>
                <a:lnTo>
                  <a:pt x="1202549" y="0"/>
                </a:lnTo>
                <a:lnTo>
                  <a:pt x="1202549" y="1202550"/>
                </a:lnTo>
                <a:lnTo>
                  <a:pt x="0" y="1202550"/>
                </a:lnTo>
                <a:lnTo>
                  <a:pt x="0" y="0"/>
                </a:lnTo>
                <a:close/>
              </a:path>
            </a:pathLst>
          </a:custGeom>
          <a:blipFill>
            <a:blip r:embed="rId11"/>
            <a:stretch>
              <a:fillRect l="0" t="0" r="0" b="0"/>
            </a:stretch>
          </a:blipFill>
        </p:spPr>
      </p:sp>
      <p:sp>
        <p:nvSpPr>
          <p:cNvPr name="TextBox 14" id="14"/>
          <p:cNvSpPr txBox="true"/>
          <p:nvPr/>
        </p:nvSpPr>
        <p:spPr>
          <a:xfrm rot="0">
            <a:off x="2433719" y="3914216"/>
            <a:ext cx="5761549" cy="1259277"/>
          </a:xfrm>
          <a:prstGeom prst="rect">
            <a:avLst/>
          </a:prstGeom>
        </p:spPr>
        <p:txBody>
          <a:bodyPr anchor="t" rtlCol="false" tIns="0" lIns="0" bIns="0" rIns="0">
            <a:spAutoFit/>
          </a:bodyPr>
          <a:lstStyle/>
          <a:p>
            <a:pPr algn="just">
              <a:lnSpc>
                <a:spcPts val="2520"/>
              </a:lnSpc>
              <a:spcBef>
                <a:spcPct val="0"/>
              </a:spcBef>
            </a:pPr>
            <a:r>
              <a:rPr lang="en-US" sz="1800">
                <a:solidFill>
                  <a:srgbClr val="FFFFFF"/>
                </a:solidFill>
                <a:latin typeface="Roboto"/>
                <a:ea typeface="Roboto"/>
                <a:cs typeface="Roboto"/>
                <a:sym typeface="Roboto"/>
              </a:rPr>
              <a:t>O UpFit nasce focado em um público específico: </a:t>
            </a:r>
            <a:r>
              <a:rPr lang="en-US" b="true" sz="1800">
                <a:solidFill>
                  <a:srgbClr val="FFFFFF"/>
                </a:solidFill>
                <a:latin typeface="Roboto Bold"/>
                <a:ea typeface="Roboto Bold"/>
                <a:cs typeface="Roboto Bold"/>
                <a:sym typeface="Roboto Bold"/>
              </a:rPr>
              <a:t>adultos entre 18 e 35 anos </a:t>
            </a:r>
            <a:r>
              <a:rPr lang="en-US" sz="1800">
                <a:solidFill>
                  <a:srgbClr val="FFFFFF"/>
                </a:solidFill>
                <a:latin typeface="Roboto"/>
                <a:ea typeface="Roboto"/>
                <a:cs typeface="Roboto"/>
                <a:sym typeface="Roboto"/>
              </a:rPr>
              <a:t>que</a:t>
            </a:r>
            <a:r>
              <a:rPr lang="en-US" b="true" sz="1800">
                <a:solidFill>
                  <a:srgbClr val="FFFFFF"/>
                </a:solidFill>
                <a:latin typeface="Roboto Bold"/>
                <a:ea typeface="Roboto Bold"/>
                <a:cs typeface="Roboto Bold"/>
                <a:sym typeface="Roboto Bold"/>
              </a:rPr>
              <a:t> já tentaram </a:t>
            </a:r>
            <a:r>
              <a:rPr lang="en-US" sz="1800">
                <a:solidFill>
                  <a:srgbClr val="FFFFFF"/>
                </a:solidFill>
                <a:latin typeface="Roboto"/>
                <a:ea typeface="Roboto"/>
                <a:cs typeface="Roboto"/>
                <a:sym typeface="Roboto"/>
              </a:rPr>
              <a:t>iniciar uma rotina de corrida ou musculação, mas enfrentam dificuldade em manter consistência. </a:t>
            </a:r>
          </a:p>
        </p:txBody>
      </p:sp>
      <p:sp>
        <p:nvSpPr>
          <p:cNvPr name="TextBox 15" id="15"/>
          <p:cNvSpPr txBox="true"/>
          <p:nvPr/>
        </p:nvSpPr>
        <p:spPr>
          <a:xfrm rot="0">
            <a:off x="2444848" y="2597072"/>
            <a:ext cx="6483013" cy="905118"/>
          </a:xfrm>
          <a:prstGeom prst="rect">
            <a:avLst/>
          </a:prstGeom>
        </p:spPr>
        <p:txBody>
          <a:bodyPr anchor="t" rtlCol="false" tIns="0" lIns="0" bIns="0" rIns="0">
            <a:spAutoFit/>
          </a:bodyPr>
          <a:lstStyle/>
          <a:p>
            <a:pPr algn="l" marL="0" indent="0" lvl="0">
              <a:lnSpc>
                <a:spcPts val="7000"/>
              </a:lnSpc>
              <a:spcBef>
                <a:spcPct val="0"/>
              </a:spcBef>
            </a:pPr>
            <a:r>
              <a:rPr lang="en-US" sz="5000">
                <a:solidFill>
                  <a:srgbClr val="FFFFFF"/>
                </a:solidFill>
                <a:latin typeface="Arcade Gamer"/>
                <a:ea typeface="Arcade Gamer"/>
                <a:cs typeface="Arcade Gamer"/>
                <a:sym typeface="Arcade Gamer"/>
              </a:rPr>
              <a:t>PÚBLICO ALVO</a:t>
            </a:r>
          </a:p>
        </p:txBody>
      </p:sp>
      <p:sp>
        <p:nvSpPr>
          <p:cNvPr name="TextBox 16" id="16"/>
          <p:cNvSpPr txBox="true"/>
          <p:nvPr/>
        </p:nvSpPr>
        <p:spPr>
          <a:xfrm rot="0">
            <a:off x="10023035" y="3914216"/>
            <a:ext cx="5761549" cy="2202180"/>
          </a:xfrm>
          <a:prstGeom prst="rect">
            <a:avLst/>
          </a:prstGeom>
        </p:spPr>
        <p:txBody>
          <a:bodyPr anchor="t" rtlCol="false" tIns="0" lIns="0" bIns="0" rIns="0">
            <a:spAutoFit/>
          </a:bodyPr>
          <a:lstStyle/>
          <a:p>
            <a:pPr algn="just">
              <a:lnSpc>
                <a:spcPts val="2520"/>
              </a:lnSpc>
              <a:spcBef>
                <a:spcPct val="0"/>
              </a:spcBef>
            </a:pPr>
            <a:r>
              <a:rPr lang="en-US" sz="1800">
                <a:solidFill>
                  <a:srgbClr val="FFFFFF"/>
                </a:solidFill>
                <a:latin typeface="Roboto"/>
                <a:ea typeface="Roboto"/>
                <a:cs typeface="Roboto"/>
                <a:sym typeface="Roboto"/>
              </a:rPr>
              <a:t>Esse usuário valoriza desafios, recompensas e pertencimento,  elementos comuns em jogos digitais. Segundo relatórios da Entertainment Software Association, </a:t>
            </a:r>
            <a:r>
              <a:rPr lang="en-US" b="true" sz="1800">
                <a:solidFill>
                  <a:srgbClr val="FFFFFF"/>
                </a:solidFill>
                <a:latin typeface="Roboto Bold"/>
                <a:ea typeface="Roboto Bold"/>
                <a:cs typeface="Roboto Bold"/>
                <a:sym typeface="Roboto Bold"/>
              </a:rPr>
              <a:t>a idade média do jogador de videogame é superior a 30 anos</a:t>
            </a:r>
            <a:r>
              <a:rPr lang="en-US" sz="1800">
                <a:solidFill>
                  <a:srgbClr val="FFFFFF"/>
                </a:solidFill>
                <a:latin typeface="Roboto"/>
                <a:ea typeface="Roboto"/>
                <a:cs typeface="Roboto"/>
                <a:sym typeface="Roboto"/>
              </a:rPr>
              <a:t>, o que mostra que gamificação não é restrita a adolescentes, mas parte da cultura adulta contemporânea.</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2E1B5B"/>
        </a:solidFill>
      </p:bgPr>
    </p:bg>
    <p:spTree>
      <p:nvGrpSpPr>
        <p:cNvPr id="1" name=""/>
        <p:cNvGrpSpPr/>
        <p:nvPr/>
      </p:nvGrpSpPr>
      <p:grpSpPr>
        <a:xfrm>
          <a:off x="0" y="0"/>
          <a:ext cx="0" cy="0"/>
          <a:chOff x="0" y="0"/>
          <a:chExt cx="0" cy="0"/>
        </a:xfrm>
      </p:grpSpPr>
      <p:grpSp>
        <p:nvGrpSpPr>
          <p:cNvPr name="Group 2" id="2"/>
          <p:cNvGrpSpPr/>
          <p:nvPr/>
        </p:nvGrpSpPr>
        <p:grpSpPr>
          <a:xfrm rot="0">
            <a:off x="-26536" y="4158567"/>
            <a:ext cx="22374015" cy="6128433"/>
            <a:chOff x="0" y="0"/>
            <a:chExt cx="29832020" cy="8171245"/>
          </a:xfrm>
        </p:grpSpPr>
        <p:sp>
          <p:nvSpPr>
            <p:cNvPr name="Freeform 3" id="3"/>
            <p:cNvSpPr/>
            <p:nvPr/>
          </p:nvSpPr>
          <p:spPr>
            <a:xfrm flipH="true" flipV="false" rot="0">
              <a:off x="0" y="0"/>
              <a:ext cx="14916010" cy="8171245"/>
            </a:xfrm>
            <a:custGeom>
              <a:avLst/>
              <a:gdLst/>
              <a:ahLst/>
              <a:cxnLst/>
              <a:rect r="r" b="b" t="t" l="l"/>
              <a:pathLst>
                <a:path h="8171245" w="14916010">
                  <a:moveTo>
                    <a:pt x="14916010" y="0"/>
                  </a:moveTo>
                  <a:lnTo>
                    <a:pt x="0" y="0"/>
                  </a:lnTo>
                  <a:lnTo>
                    <a:pt x="0" y="8171245"/>
                  </a:lnTo>
                  <a:lnTo>
                    <a:pt x="14916010" y="8171245"/>
                  </a:lnTo>
                  <a:lnTo>
                    <a:pt x="14916010" y="0"/>
                  </a:lnTo>
                  <a:close/>
                </a:path>
              </a:pathLst>
            </a:custGeom>
            <a:blipFill>
              <a:blip r:embed="rId2">
                <a:alphaModFix amt="40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false" rot="0">
              <a:off x="14916010" y="0"/>
              <a:ext cx="14916010" cy="8171245"/>
            </a:xfrm>
            <a:custGeom>
              <a:avLst/>
              <a:gdLst/>
              <a:ahLst/>
              <a:cxnLst/>
              <a:rect r="r" b="b" t="t" l="l"/>
              <a:pathLst>
                <a:path h="8171245" w="14916010">
                  <a:moveTo>
                    <a:pt x="14916010" y="0"/>
                  </a:moveTo>
                  <a:lnTo>
                    <a:pt x="0" y="0"/>
                  </a:lnTo>
                  <a:lnTo>
                    <a:pt x="0" y="8171245"/>
                  </a:lnTo>
                  <a:lnTo>
                    <a:pt x="14916010" y="8171245"/>
                  </a:lnTo>
                  <a:lnTo>
                    <a:pt x="14916010" y="0"/>
                  </a:lnTo>
                  <a:close/>
                </a:path>
              </a:pathLst>
            </a:custGeom>
            <a:blipFill>
              <a:blip r:embed="rId2">
                <a:alphaModFix amt="40000"/>
                <a:extLst>
                  <a:ext uri="{96DAC541-7B7A-43D3-8B79-37D633B846F1}">
                    <asvg:svgBlip xmlns:asvg="http://schemas.microsoft.com/office/drawing/2016/SVG/main" r:embed="rId3"/>
                  </a:ext>
                </a:extLst>
              </a:blip>
              <a:stretch>
                <a:fillRect l="0" t="0" r="0" b="0"/>
              </a:stretch>
            </a:blipFill>
          </p:spPr>
        </p:sp>
      </p:grpSp>
      <p:sp>
        <p:nvSpPr>
          <p:cNvPr name="Freeform 5" id="5"/>
          <p:cNvSpPr/>
          <p:nvPr/>
        </p:nvSpPr>
        <p:spPr>
          <a:xfrm flipH="false" flipV="false" rot="0">
            <a:off x="9144000" y="8907087"/>
            <a:ext cx="9144000" cy="1379913"/>
          </a:xfrm>
          <a:custGeom>
            <a:avLst/>
            <a:gdLst/>
            <a:ahLst/>
            <a:cxnLst/>
            <a:rect r="r" b="b" t="t" l="l"/>
            <a:pathLst>
              <a:path h="1379913" w="9144000">
                <a:moveTo>
                  <a:pt x="0" y="0"/>
                </a:moveTo>
                <a:lnTo>
                  <a:pt x="9144000" y="0"/>
                </a:lnTo>
                <a:lnTo>
                  <a:pt x="9144000" y="1379913"/>
                </a:lnTo>
                <a:lnTo>
                  <a:pt x="0" y="137991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66525" y="1077076"/>
            <a:ext cx="3474012" cy="1212746"/>
          </a:xfrm>
          <a:custGeom>
            <a:avLst/>
            <a:gdLst/>
            <a:ahLst/>
            <a:cxnLst/>
            <a:rect r="r" b="b" t="t" l="l"/>
            <a:pathLst>
              <a:path h="1212746" w="3474012">
                <a:moveTo>
                  <a:pt x="0" y="0"/>
                </a:moveTo>
                <a:lnTo>
                  <a:pt x="3474012" y="0"/>
                </a:lnTo>
                <a:lnTo>
                  <a:pt x="3474012" y="1212746"/>
                </a:lnTo>
                <a:lnTo>
                  <a:pt x="0" y="121274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2860593" y="1415341"/>
            <a:ext cx="4907801" cy="874481"/>
          </a:xfrm>
          <a:custGeom>
            <a:avLst/>
            <a:gdLst/>
            <a:ahLst/>
            <a:cxnLst/>
            <a:rect r="r" b="b" t="t" l="l"/>
            <a:pathLst>
              <a:path h="874481" w="4907801">
                <a:moveTo>
                  <a:pt x="0" y="0"/>
                </a:moveTo>
                <a:lnTo>
                  <a:pt x="4907801" y="0"/>
                </a:lnTo>
                <a:lnTo>
                  <a:pt x="4907801" y="874481"/>
                </a:lnTo>
                <a:lnTo>
                  <a:pt x="0" y="87448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8" id="8"/>
          <p:cNvSpPr/>
          <p:nvPr/>
        </p:nvSpPr>
        <p:spPr>
          <a:xfrm flipH="false" flipV="false" rot="0">
            <a:off x="12144344" y="731163"/>
            <a:ext cx="5270840" cy="1840002"/>
          </a:xfrm>
          <a:custGeom>
            <a:avLst/>
            <a:gdLst/>
            <a:ahLst/>
            <a:cxnLst/>
            <a:rect r="r" b="b" t="t" l="l"/>
            <a:pathLst>
              <a:path h="1840002" w="5270840">
                <a:moveTo>
                  <a:pt x="0" y="0"/>
                </a:moveTo>
                <a:lnTo>
                  <a:pt x="5270840" y="0"/>
                </a:lnTo>
                <a:lnTo>
                  <a:pt x="5270840" y="1840002"/>
                </a:lnTo>
                <a:lnTo>
                  <a:pt x="0" y="184000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0">
            <a:off x="14779764" y="1077076"/>
            <a:ext cx="4233199" cy="1477771"/>
          </a:xfrm>
          <a:custGeom>
            <a:avLst/>
            <a:gdLst/>
            <a:ahLst/>
            <a:cxnLst/>
            <a:rect r="r" b="b" t="t" l="l"/>
            <a:pathLst>
              <a:path h="1477771" w="4233199">
                <a:moveTo>
                  <a:pt x="0" y="0"/>
                </a:moveTo>
                <a:lnTo>
                  <a:pt x="4233199" y="0"/>
                </a:lnTo>
                <a:lnTo>
                  <a:pt x="4233199" y="1477771"/>
                </a:lnTo>
                <a:lnTo>
                  <a:pt x="0" y="147777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0" id="10"/>
          <p:cNvSpPr/>
          <p:nvPr/>
        </p:nvSpPr>
        <p:spPr>
          <a:xfrm flipH="true" flipV="false" rot="0">
            <a:off x="8368497" y="990216"/>
            <a:ext cx="3890591" cy="693233"/>
          </a:xfrm>
          <a:custGeom>
            <a:avLst/>
            <a:gdLst/>
            <a:ahLst/>
            <a:cxnLst/>
            <a:rect r="r" b="b" t="t" l="l"/>
            <a:pathLst>
              <a:path h="693233" w="3890591">
                <a:moveTo>
                  <a:pt x="3890591" y="0"/>
                </a:moveTo>
                <a:lnTo>
                  <a:pt x="0" y="0"/>
                </a:lnTo>
                <a:lnTo>
                  <a:pt x="0" y="693233"/>
                </a:lnTo>
                <a:lnTo>
                  <a:pt x="3890591" y="693233"/>
                </a:lnTo>
                <a:lnTo>
                  <a:pt x="3890591"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1" id="11"/>
          <p:cNvSpPr/>
          <p:nvPr/>
        </p:nvSpPr>
        <p:spPr>
          <a:xfrm flipH="false" flipV="false" rot="0">
            <a:off x="0" y="8907087"/>
            <a:ext cx="9144000" cy="1379913"/>
          </a:xfrm>
          <a:custGeom>
            <a:avLst/>
            <a:gdLst/>
            <a:ahLst/>
            <a:cxnLst/>
            <a:rect r="r" b="b" t="t" l="l"/>
            <a:pathLst>
              <a:path h="1379913" w="9144000">
                <a:moveTo>
                  <a:pt x="0" y="0"/>
                </a:moveTo>
                <a:lnTo>
                  <a:pt x="9144000" y="0"/>
                </a:lnTo>
                <a:lnTo>
                  <a:pt x="9144000" y="1379913"/>
                </a:lnTo>
                <a:lnTo>
                  <a:pt x="0" y="137991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pic>
        <p:nvPicPr>
          <p:cNvPr name="Picture 12" id="12"/>
          <p:cNvPicPr>
            <a:picLocks noChangeAspect="true"/>
          </p:cNvPicPr>
          <p:nvPr/>
        </p:nvPicPr>
        <p:blipFill>
          <a:blip r:embed="rId10"/>
          <a:srcRect l="0" t="0" r="0" b="0"/>
          <a:stretch>
            <a:fillRect/>
          </a:stretch>
        </p:blipFill>
        <p:spPr>
          <a:xfrm flipH="false" flipV="false" rot="0">
            <a:off x="0" y="5714987"/>
            <a:ext cx="7341939" cy="5506454"/>
          </a:xfrm>
          <a:prstGeom prst="rect">
            <a:avLst/>
          </a:prstGeom>
        </p:spPr>
      </p:pic>
      <p:sp>
        <p:nvSpPr>
          <p:cNvPr name="Freeform 13" id="13"/>
          <p:cNvSpPr/>
          <p:nvPr/>
        </p:nvSpPr>
        <p:spPr>
          <a:xfrm flipH="false" flipV="false" rot="0">
            <a:off x="8326586" y="2554847"/>
            <a:ext cx="1202549" cy="1202549"/>
          </a:xfrm>
          <a:custGeom>
            <a:avLst/>
            <a:gdLst/>
            <a:ahLst/>
            <a:cxnLst/>
            <a:rect r="r" b="b" t="t" l="l"/>
            <a:pathLst>
              <a:path h="1202549" w="1202549">
                <a:moveTo>
                  <a:pt x="0" y="0"/>
                </a:moveTo>
                <a:lnTo>
                  <a:pt x="1202549" y="0"/>
                </a:lnTo>
                <a:lnTo>
                  <a:pt x="1202549" y="1202550"/>
                </a:lnTo>
                <a:lnTo>
                  <a:pt x="0" y="1202550"/>
                </a:lnTo>
                <a:lnTo>
                  <a:pt x="0" y="0"/>
                </a:lnTo>
                <a:close/>
              </a:path>
            </a:pathLst>
          </a:custGeom>
          <a:blipFill>
            <a:blip r:embed="rId11"/>
            <a:stretch>
              <a:fillRect l="0" t="0" r="0" b="0"/>
            </a:stretch>
          </a:blipFill>
        </p:spPr>
      </p:sp>
      <p:sp>
        <p:nvSpPr>
          <p:cNvPr name="TextBox 14" id="14"/>
          <p:cNvSpPr txBox="true"/>
          <p:nvPr/>
        </p:nvSpPr>
        <p:spPr>
          <a:xfrm rot="0">
            <a:off x="2433719" y="3914216"/>
            <a:ext cx="5761549" cy="1259205"/>
          </a:xfrm>
          <a:prstGeom prst="rect">
            <a:avLst/>
          </a:prstGeom>
        </p:spPr>
        <p:txBody>
          <a:bodyPr anchor="t" rtlCol="false" tIns="0" lIns="0" bIns="0" rIns="0">
            <a:spAutoFit/>
          </a:bodyPr>
          <a:lstStyle/>
          <a:p>
            <a:pPr algn="just">
              <a:lnSpc>
                <a:spcPts val="2520"/>
              </a:lnSpc>
              <a:spcBef>
                <a:spcPct val="0"/>
              </a:spcBef>
            </a:pPr>
            <a:r>
              <a:rPr lang="en-US" sz="1800">
                <a:solidFill>
                  <a:srgbClr val="FFFFFF"/>
                </a:solidFill>
                <a:latin typeface="Roboto"/>
                <a:ea typeface="Roboto"/>
                <a:cs typeface="Roboto"/>
                <a:sym typeface="Roboto"/>
              </a:rPr>
              <a:t>Nosso primeiro usuário re</a:t>
            </a:r>
            <a:r>
              <a:rPr lang="en-US" sz="1800">
                <a:solidFill>
                  <a:srgbClr val="FFFFFF"/>
                </a:solidFill>
                <a:latin typeface="Roboto"/>
                <a:ea typeface="Roboto"/>
                <a:cs typeface="Roboto"/>
                <a:sym typeface="Roboto"/>
              </a:rPr>
              <a:t>al</a:t>
            </a:r>
            <a:r>
              <a:rPr lang="en-US" sz="1800">
                <a:solidFill>
                  <a:srgbClr val="FFFFFF"/>
                </a:solidFill>
                <a:latin typeface="Roboto"/>
                <a:ea typeface="Roboto"/>
                <a:cs typeface="Roboto"/>
                <a:sym typeface="Roboto"/>
              </a:rPr>
              <a:t> é </a:t>
            </a:r>
            <a:r>
              <a:rPr lang="en-US" sz="1800">
                <a:solidFill>
                  <a:srgbClr val="FFFFFF"/>
                </a:solidFill>
                <a:latin typeface="Roboto"/>
                <a:ea typeface="Roboto"/>
                <a:cs typeface="Roboto"/>
                <a:sym typeface="Roboto"/>
              </a:rPr>
              <a:t>o </a:t>
            </a:r>
            <a:r>
              <a:rPr lang="en-US" sz="1800">
                <a:solidFill>
                  <a:srgbClr val="FFFFFF"/>
                </a:solidFill>
                <a:latin typeface="Roboto"/>
                <a:ea typeface="Roboto"/>
                <a:cs typeface="Roboto"/>
                <a:sym typeface="Roboto"/>
              </a:rPr>
              <a:t>u</a:t>
            </a:r>
            <a:r>
              <a:rPr lang="en-US" sz="1800">
                <a:solidFill>
                  <a:srgbClr val="FFFFFF"/>
                </a:solidFill>
                <a:latin typeface="Roboto"/>
                <a:ea typeface="Roboto"/>
                <a:cs typeface="Roboto"/>
                <a:sym typeface="Roboto"/>
              </a:rPr>
              <a:t>n</a:t>
            </a:r>
            <a:r>
              <a:rPr lang="en-US" sz="1800">
                <a:solidFill>
                  <a:srgbClr val="FFFFFF"/>
                </a:solidFill>
                <a:latin typeface="Roboto"/>
                <a:ea typeface="Roboto"/>
                <a:cs typeface="Roboto"/>
                <a:sym typeface="Roboto"/>
              </a:rPr>
              <a:t>iversi</a:t>
            </a:r>
            <a:r>
              <a:rPr lang="en-US" sz="1800">
                <a:solidFill>
                  <a:srgbClr val="FFFFFF"/>
                </a:solidFill>
                <a:latin typeface="Roboto"/>
                <a:ea typeface="Roboto"/>
                <a:cs typeface="Roboto"/>
                <a:sym typeface="Roboto"/>
              </a:rPr>
              <a:t>t</a:t>
            </a:r>
            <a:r>
              <a:rPr lang="en-US" sz="1800">
                <a:solidFill>
                  <a:srgbClr val="FFFFFF"/>
                </a:solidFill>
                <a:latin typeface="Roboto"/>
                <a:ea typeface="Roboto"/>
                <a:cs typeface="Roboto"/>
                <a:sym typeface="Roboto"/>
              </a:rPr>
              <a:t>á</a:t>
            </a:r>
            <a:r>
              <a:rPr lang="en-US" sz="1800">
                <a:solidFill>
                  <a:srgbClr val="FFFFFF"/>
                </a:solidFill>
                <a:latin typeface="Roboto"/>
                <a:ea typeface="Roboto"/>
                <a:cs typeface="Roboto"/>
                <a:sym typeface="Roboto"/>
              </a:rPr>
              <a:t>r</a:t>
            </a:r>
            <a:r>
              <a:rPr lang="en-US" sz="1800">
                <a:solidFill>
                  <a:srgbClr val="FFFFFF"/>
                </a:solidFill>
                <a:latin typeface="Roboto"/>
                <a:ea typeface="Roboto"/>
                <a:cs typeface="Roboto"/>
                <a:sym typeface="Roboto"/>
              </a:rPr>
              <a:t>io</a:t>
            </a:r>
            <a:r>
              <a:rPr lang="en-US" sz="1800">
                <a:solidFill>
                  <a:srgbClr val="FFFFFF"/>
                </a:solidFill>
                <a:latin typeface="Roboto"/>
                <a:ea typeface="Roboto"/>
                <a:cs typeface="Roboto"/>
                <a:sym typeface="Roboto"/>
              </a:rPr>
              <a:t> </a:t>
            </a:r>
            <a:r>
              <a:rPr lang="en-US" sz="1800">
                <a:solidFill>
                  <a:srgbClr val="FFFFFF"/>
                </a:solidFill>
                <a:latin typeface="Roboto"/>
                <a:ea typeface="Roboto"/>
                <a:cs typeface="Roboto"/>
                <a:sym typeface="Roboto"/>
              </a:rPr>
              <a:t>ou</a:t>
            </a:r>
            <a:r>
              <a:rPr lang="en-US" sz="1800">
                <a:solidFill>
                  <a:srgbClr val="FFFFFF"/>
                </a:solidFill>
                <a:latin typeface="Roboto"/>
                <a:ea typeface="Roboto"/>
                <a:cs typeface="Roboto"/>
                <a:sym typeface="Roboto"/>
              </a:rPr>
              <a:t> </a:t>
            </a:r>
            <a:r>
              <a:rPr lang="en-US" sz="1800">
                <a:solidFill>
                  <a:srgbClr val="FFFFFF"/>
                </a:solidFill>
                <a:latin typeface="Roboto"/>
                <a:ea typeface="Roboto"/>
                <a:cs typeface="Roboto"/>
                <a:sym typeface="Roboto"/>
              </a:rPr>
              <a:t>jov</a:t>
            </a:r>
            <a:r>
              <a:rPr lang="en-US" sz="1800">
                <a:solidFill>
                  <a:srgbClr val="FFFFFF"/>
                </a:solidFill>
                <a:latin typeface="Roboto"/>
                <a:ea typeface="Roboto"/>
                <a:cs typeface="Roboto"/>
                <a:sym typeface="Roboto"/>
              </a:rPr>
              <a:t>e</a:t>
            </a:r>
            <a:r>
              <a:rPr lang="en-US" sz="1800">
                <a:solidFill>
                  <a:srgbClr val="FFFFFF"/>
                </a:solidFill>
                <a:latin typeface="Roboto"/>
                <a:ea typeface="Roboto"/>
                <a:cs typeface="Roboto"/>
                <a:sym typeface="Roboto"/>
              </a:rPr>
              <a:t>m</a:t>
            </a:r>
            <a:r>
              <a:rPr lang="en-US" sz="1800">
                <a:solidFill>
                  <a:srgbClr val="FFFFFF"/>
                </a:solidFill>
                <a:latin typeface="Roboto"/>
                <a:ea typeface="Roboto"/>
                <a:cs typeface="Roboto"/>
                <a:sym typeface="Roboto"/>
              </a:rPr>
              <a:t> </a:t>
            </a:r>
            <a:r>
              <a:rPr lang="en-US" sz="1800">
                <a:solidFill>
                  <a:srgbClr val="FFFFFF"/>
                </a:solidFill>
                <a:latin typeface="Roboto"/>
                <a:ea typeface="Roboto"/>
                <a:cs typeface="Roboto"/>
                <a:sym typeface="Roboto"/>
              </a:rPr>
              <a:t>pr</a:t>
            </a:r>
            <a:r>
              <a:rPr lang="en-US" sz="1800">
                <a:solidFill>
                  <a:srgbClr val="FFFFFF"/>
                </a:solidFill>
                <a:latin typeface="Roboto"/>
                <a:ea typeface="Roboto"/>
                <a:cs typeface="Roboto"/>
                <a:sym typeface="Roboto"/>
              </a:rPr>
              <a:t>o</a:t>
            </a:r>
            <a:r>
              <a:rPr lang="en-US" sz="1800">
                <a:solidFill>
                  <a:srgbClr val="FFFFFF"/>
                </a:solidFill>
                <a:latin typeface="Roboto"/>
                <a:ea typeface="Roboto"/>
                <a:cs typeface="Roboto"/>
                <a:sym typeface="Roboto"/>
              </a:rPr>
              <a:t>fi</a:t>
            </a:r>
            <a:r>
              <a:rPr lang="en-US" sz="1800">
                <a:solidFill>
                  <a:srgbClr val="FFFFFF"/>
                </a:solidFill>
                <a:latin typeface="Roboto"/>
                <a:ea typeface="Roboto"/>
                <a:cs typeface="Roboto"/>
                <a:sym typeface="Roboto"/>
              </a:rPr>
              <a:t>s</a:t>
            </a:r>
            <a:r>
              <a:rPr lang="en-US" sz="1800">
                <a:solidFill>
                  <a:srgbClr val="FFFFFF"/>
                </a:solidFill>
                <a:latin typeface="Roboto"/>
                <a:ea typeface="Roboto"/>
                <a:cs typeface="Roboto"/>
                <a:sym typeface="Roboto"/>
              </a:rPr>
              <a:t>sional</a:t>
            </a:r>
            <a:r>
              <a:rPr lang="en-US" sz="1800">
                <a:solidFill>
                  <a:srgbClr val="FFFFFF"/>
                </a:solidFill>
                <a:latin typeface="Roboto"/>
                <a:ea typeface="Roboto"/>
                <a:cs typeface="Roboto"/>
                <a:sym typeface="Roboto"/>
              </a:rPr>
              <a:t> </a:t>
            </a:r>
            <a:r>
              <a:rPr lang="en-US" sz="1800">
                <a:solidFill>
                  <a:srgbClr val="FFFFFF"/>
                </a:solidFill>
                <a:latin typeface="Roboto"/>
                <a:ea typeface="Roboto"/>
                <a:cs typeface="Roboto"/>
                <a:sym typeface="Roboto"/>
              </a:rPr>
              <a:t>que</a:t>
            </a:r>
            <a:r>
              <a:rPr lang="en-US" sz="1800">
                <a:solidFill>
                  <a:srgbClr val="FFFFFF"/>
                </a:solidFill>
                <a:latin typeface="Roboto"/>
                <a:ea typeface="Roboto"/>
                <a:cs typeface="Roboto"/>
                <a:sym typeface="Roboto"/>
              </a:rPr>
              <a:t> já </a:t>
            </a:r>
            <a:r>
              <a:rPr lang="en-US" sz="1800">
                <a:solidFill>
                  <a:srgbClr val="FFFFFF"/>
                </a:solidFill>
                <a:latin typeface="Roboto"/>
                <a:ea typeface="Roboto"/>
                <a:cs typeface="Roboto"/>
                <a:sym typeface="Roboto"/>
              </a:rPr>
              <a:t>p</a:t>
            </a:r>
            <a:r>
              <a:rPr lang="en-US" sz="1800">
                <a:solidFill>
                  <a:srgbClr val="FFFFFF"/>
                </a:solidFill>
                <a:latin typeface="Roboto"/>
                <a:ea typeface="Roboto"/>
                <a:cs typeface="Roboto"/>
                <a:sym typeface="Roboto"/>
              </a:rPr>
              <a:t>a</a:t>
            </a:r>
            <a:r>
              <a:rPr lang="en-US" sz="1800">
                <a:solidFill>
                  <a:srgbClr val="FFFFFF"/>
                </a:solidFill>
                <a:latin typeface="Roboto"/>
                <a:ea typeface="Roboto"/>
                <a:cs typeface="Roboto"/>
                <a:sym typeface="Roboto"/>
              </a:rPr>
              <a:t>g</a:t>
            </a:r>
            <a:r>
              <a:rPr lang="en-US" sz="1800">
                <a:solidFill>
                  <a:srgbClr val="FFFFFF"/>
                </a:solidFill>
                <a:latin typeface="Roboto"/>
                <a:ea typeface="Roboto"/>
                <a:cs typeface="Roboto"/>
                <a:sym typeface="Roboto"/>
              </a:rPr>
              <a:t>a </a:t>
            </a:r>
            <a:r>
              <a:rPr lang="en-US" sz="1800">
                <a:solidFill>
                  <a:srgbClr val="FFFFFF"/>
                </a:solidFill>
                <a:latin typeface="Roboto"/>
                <a:ea typeface="Roboto"/>
                <a:cs typeface="Roboto"/>
                <a:sym typeface="Roboto"/>
              </a:rPr>
              <a:t>academia e estaria disposto a pagar por uma ferramenta que aumente sua constância e motivação.</a:t>
            </a:r>
          </a:p>
        </p:txBody>
      </p:sp>
      <p:sp>
        <p:nvSpPr>
          <p:cNvPr name="TextBox 15" id="15"/>
          <p:cNvSpPr txBox="true"/>
          <p:nvPr/>
        </p:nvSpPr>
        <p:spPr>
          <a:xfrm rot="0">
            <a:off x="2444848" y="2597072"/>
            <a:ext cx="6483013" cy="905118"/>
          </a:xfrm>
          <a:prstGeom prst="rect">
            <a:avLst/>
          </a:prstGeom>
        </p:spPr>
        <p:txBody>
          <a:bodyPr anchor="t" rtlCol="false" tIns="0" lIns="0" bIns="0" rIns="0">
            <a:spAutoFit/>
          </a:bodyPr>
          <a:lstStyle/>
          <a:p>
            <a:pPr algn="l" marL="0" indent="0" lvl="0">
              <a:lnSpc>
                <a:spcPts val="7000"/>
              </a:lnSpc>
              <a:spcBef>
                <a:spcPct val="0"/>
              </a:spcBef>
            </a:pPr>
            <a:r>
              <a:rPr lang="en-US" sz="5000">
                <a:solidFill>
                  <a:srgbClr val="FFFFFF"/>
                </a:solidFill>
                <a:latin typeface="Arcade Gamer"/>
                <a:ea typeface="Arcade Gamer"/>
                <a:cs typeface="Arcade Gamer"/>
                <a:sym typeface="Arcade Gamer"/>
              </a:rPr>
              <a:t>PÚBLICO ALVO</a:t>
            </a:r>
          </a:p>
        </p:txBody>
      </p:sp>
      <p:sp>
        <p:nvSpPr>
          <p:cNvPr name="TextBox 16" id="16"/>
          <p:cNvSpPr txBox="true"/>
          <p:nvPr/>
        </p:nvSpPr>
        <p:spPr>
          <a:xfrm rot="0">
            <a:off x="10023035" y="3914216"/>
            <a:ext cx="5761549" cy="2202180"/>
          </a:xfrm>
          <a:prstGeom prst="rect">
            <a:avLst/>
          </a:prstGeom>
        </p:spPr>
        <p:txBody>
          <a:bodyPr anchor="t" rtlCol="false" tIns="0" lIns="0" bIns="0" rIns="0">
            <a:spAutoFit/>
          </a:bodyPr>
          <a:lstStyle/>
          <a:p>
            <a:pPr algn="just">
              <a:lnSpc>
                <a:spcPts val="2520"/>
              </a:lnSpc>
            </a:pPr>
            <a:r>
              <a:rPr lang="en-US" sz="1800" b="true">
                <a:solidFill>
                  <a:srgbClr val="FFFFFF"/>
                </a:solidFill>
                <a:latin typeface="Roboto Bold"/>
                <a:ea typeface="Roboto Bold"/>
                <a:cs typeface="Roboto Bold"/>
                <a:sym typeface="Roboto Bold"/>
              </a:rPr>
              <a:t>Pontos-chave:</a:t>
            </a:r>
          </a:p>
          <a:p>
            <a:pPr algn="just" marL="388620" indent="-194310" lvl="1">
              <a:lnSpc>
                <a:spcPts val="2520"/>
              </a:lnSpc>
              <a:buFont typeface="Arial"/>
              <a:buChar char="•"/>
            </a:pPr>
            <a:r>
              <a:rPr lang="en-US" sz="1800">
                <a:solidFill>
                  <a:srgbClr val="FFFFFF"/>
                </a:solidFill>
                <a:latin typeface="Roboto"/>
                <a:ea typeface="Roboto"/>
                <a:cs typeface="Roboto"/>
                <a:sym typeface="Roboto"/>
              </a:rPr>
              <a:t>Adultos 18–35 anos</a:t>
            </a:r>
          </a:p>
          <a:p>
            <a:pPr algn="just" marL="388620" indent="-194310" lvl="1">
              <a:lnSpc>
                <a:spcPts val="2520"/>
              </a:lnSpc>
              <a:buFont typeface="Arial"/>
              <a:buChar char="•"/>
            </a:pPr>
            <a:r>
              <a:rPr lang="en-US" sz="1800">
                <a:solidFill>
                  <a:srgbClr val="FFFFFF"/>
                </a:solidFill>
                <a:latin typeface="Roboto"/>
                <a:ea typeface="Roboto"/>
                <a:cs typeface="Roboto"/>
                <a:sym typeface="Roboto"/>
              </a:rPr>
              <a:t>Já treinam ou tentaram treinar</a:t>
            </a:r>
          </a:p>
          <a:p>
            <a:pPr algn="just" marL="388620" indent="-194310" lvl="1">
              <a:lnSpc>
                <a:spcPts val="2520"/>
              </a:lnSpc>
              <a:buFont typeface="Arial"/>
              <a:buChar char="•"/>
            </a:pPr>
            <a:r>
              <a:rPr lang="en-US" sz="1800">
                <a:solidFill>
                  <a:srgbClr val="FFFFFF"/>
                </a:solidFill>
                <a:latin typeface="Roboto"/>
                <a:ea typeface="Roboto"/>
                <a:cs typeface="Roboto"/>
                <a:sym typeface="Roboto"/>
              </a:rPr>
              <a:t>Consomem cultura gamer</a:t>
            </a:r>
          </a:p>
          <a:p>
            <a:pPr algn="just" marL="388620" indent="-194310" lvl="1">
              <a:lnSpc>
                <a:spcPts val="2520"/>
              </a:lnSpc>
              <a:buFont typeface="Arial"/>
              <a:buChar char="•"/>
            </a:pPr>
            <a:r>
              <a:rPr lang="en-US" sz="1800">
                <a:solidFill>
                  <a:srgbClr val="FFFFFF"/>
                </a:solidFill>
                <a:latin typeface="Roboto"/>
                <a:ea typeface="Roboto"/>
                <a:cs typeface="Roboto"/>
                <a:sym typeface="Roboto"/>
              </a:rPr>
              <a:t>Dispostos </a:t>
            </a:r>
            <a:r>
              <a:rPr lang="en-US" sz="1800">
                <a:solidFill>
                  <a:srgbClr val="FFFFFF"/>
                </a:solidFill>
                <a:latin typeface="Roboto"/>
                <a:ea typeface="Roboto"/>
                <a:cs typeface="Roboto"/>
                <a:sym typeface="Roboto"/>
              </a:rPr>
              <a:t>a </a:t>
            </a:r>
            <a:r>
              <a:rPr lang="en-US" sz="1800">
                <a:solidFill>
                  <a:srgbClr val="FFFFFF"/>
                </a:solidFill>
                <a:latin typeface="Roboto"/>
                <a:ea typeface="Roboto"/>
                <a:cs typeface="Roboto"/>
                <a:sym typeface="Roboto"/>
              </a:rPr>
              <a:t>p</a:t>
            </a:r>
            <a:r>
              <a:rPr lang="en-US" sz="1800">
                <a:solidFill>
                  <a:srgbClr val="FFFFFF"/>
                </a:solidFill>
                <a:latin typeface="Roboto"/>
                <a:ea typeface="Roboto"/>
                <a:cs typeface="Roboto"/>
                <a:sym typeface="Roboto"/>
              </a:rPr>
              <a:t>agar por </a:t>
            </a:r>
            <a:r>
              <a:rPr lang="en-US" sz="1800">
                <a:solidFill>
                  <a:srgbClr val="FFFFFF"/>
                </a:solidFill>
                <a:latin typeface="Roboto"/>
                <a:ea typeface="Roboto"/>
                <a:cs typeface="Roboto"/>
                <a:sym typeface="Roboto"/>
              </a:rPr>
              <a:t>motivação estruturada</a:t>
            </a:r>
          </a:p>
          <a:p>
            <a:pPr algn="just" marL="388620" indent="-194310" lvl="1">
              <a:lnSpc>
                <a:spcPts val="2520"/>
              </a:lnSpc>
              <a:buFont typeface="Arial"/>
              <a:buChar char="•"/>
            </a:pPr>
            <a:r>
              <a:rPr lang="en-US" sz="1800">
                <a:solidFill>
                  <a:srgbClr val="FFFFFF"/>
                </a:solidFill>
                <a:latin typeface="Roboto"/>
                <a:ea typeface="Roboto"/>
                <a:cs typeface="Roboto"/>
                <a:sym typeface="Roboto"/>
              </a:rPr>
              <a:t>Estão em academias, parques e comunidades online</a:t>
            </a:r>
          </a:p>
          <a:p>
            <a:pPr algn="just">
              <a:lnSpc>
                <a:spcPts val="2520"/>
              </a:lnSpc>
              <a:spcBef>
                <a:spcPct val="0"/>
              </a:spcBef>
            </a:pP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2E1B5B"/>
        </a:solidFill>
      </p:bgPr>
    </p:bg>
    <p:spTree>
      <p:nvGrpSpPr>
        <p:cNvPr id="1" name=""/>
        <p:cNvGrpSpPr/>
        <p:nvPr/>
      </p:nvGrpSpPr>
      <p:grpSpPr>
        <a:xfrm>
          <a:off x="0" y="0"/>
          <a:ext cx="0" cy="0"/>
          <a:chOff x="0" y="0"/>
          <a:chExt cx="0" cy="0"/>
        </a:xfrm>
      </p:grpSpPr>
      <p:grpSp>
        <p:nvGrpSpPr>
          <p:cNvPr name="Group 2" id="2"/>
          <p:cNvGrpSpPr/>
          <p:nvPr/>
        </p:nvGrpSpPr>
        <p:grpSpPr>
          <a:xfrm rot="0">
            <a:off x="-26536" y="4158567"/>
            <a:ext cx="22374015" cy="6128433"/>
            <a:chOff x="0" y="0"/>
            <a:chExt cx="29832020" cy="8171245"/>
          </a:xfrm>
        </p:grpSpPr>
        <p:sp>
          <p:nvSpPr>
            <p:cNvPr name="Freeform 3" id="3"/>
            <p:cNvSpPr/>
            <p:nvPr/>
          </p:nvSpPr>
          <p:spPr>
            <a:xfrm flipH="true" flipV="false" rot="0">
              <a:off x="0" y="0"/>
              <a:ext cx="14916010" cy="8171245"/>
            </a:xfrm>
            <a:custGeom>
              <a:avLst/>
              <a:gdLst/>
              <a:ahLst/>
              <a:cxnLst/>
              <a:rect r="r" b="b" t="t" l="l"/>
              <a:pathLst>
                <a:path h="8171245" w="14916010">
                  <a:moveTo>
                    <a:pt x="14916010" y="0"/>
                  </a:moveTo>
                  <a:lnTo>
                    <a:pt x="0" y="0"/>
                  </a:lnTo>
                  <a:lnTo>
                    <a:pt x="0" y="8171245"/>
                  </a:lnTo>
                  <a:lnTo>
                    <a:pt x="14916010" y="8171245"/>
                  </a:lnTo>
                  <a:lnTo>
                    <a:pt x="14916010" y="0"/>
                  </a:lnTo>
                  <a:close/>
                </a:path>
              </a:pathLst>
            </a:custGeom>
            <a:blipFill>
              <a:blip r:embed="rId2">
                <a:alphaModFix amt="40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false" rot="0">
              <a:off x="14916010" y="0"/>
              <a:ext cx="14916010" cy="8171245"/>
            </a:xfrm>
            <a:custGeom>
              <a:avLst/>
              <a:gdLst/>
              <a:ahLst/>
              <a:cxnLst/>
              <a:rect r="r" b="b" t="t" l="l"/>
              <a:pathLst>
                <a:path h="8171245" w="14916010">
                  <a:moveTo>
                    <a:pt x="14916010" y="0"/>
                  </a:moveTo>
                  <a:lnTo>
                    <a:pt x="0" y="0"/>
                  </a:lnTo>
                  <a:lnTo>
                    <a:pt x="0" y="8171245"/>
                  </a:lnTo>
                  <a:lnTo>
                    <a:pt x="14916010" y="8171245"/>
                  </a:lnTo>
                  <a:lnTo>
                    <a:pt x="14916010" y="0"/>
                  </a:lnTo>
                  <a:close/>
                </a:path>
              </a:pathLst>
            </a:custGeom>
            <a:blipFill>
              <a:blip r:embed="rId2">
                <a:alphaModFix amt="40000"/>
                <a:extLst>
                  <a:ext uri="{96DAC541-7B7A-43D3-8B79-37D633B846F1}">
                    <asvg:svgBlip xmlns:asvg="http://schemas.microsoft.com/office/drawing/2016/SVG/main" r:embed="rId3"/>
                  </a:ext>
                </a:extLst>
              </a:blip>
              <a:stretch>
                <a:fillRect l="0" t="0" r="0" b="0"/>
              </a:stretch>
            </a:blipFill>
          </p:spPr>
        </p:sp>
      </p:grpSp>
      <p:sp>
        <p:nvSpPr>
          <p:cNvPr name="Freeform 5" id="5"/>
          <p:cNvSpPr/>
          <p:nvPr/>
        </p:nvSpPr>
        <p:spPr>
          <a:xfrm flipH="false" flipV="false" rot="0">
            <a:off x="-26536" y="5679519"/>
            <a:ext cx="3543572" cy="4607481"/>
          </a:xfrm>
          <a:custGeom>
            <a:avLst/>
            <a:gdLst/>
            <a:ahLst/>
            <a:cxnLst/>
            <a:rect r="r" b="b" t="t" l="l"/>
            <a:pathLst>
              <a:path h="4607481" w="3543572">
                <a:moveTo>
                  <a:pt x="0" y="0"/>
                </a:moveTo>
                <a:lnTo>
                  <a:pt x="3543571" y="0"/>
                </a:lnTo>
                <a:lnTo>
                  <a:pt x="3543571" y="4607481"/>
                </a:lnTo>
                <a:lnTo>
                  <a:pt x="0" y="460748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3998263" y="8447940"/>
            <a:ext cx="1758810" cy="1839060"/>
          </a:xfrm>
          <a:custGeom>
            <a:avLst/>
            <a:gdLst/>
            <a:ahLst/>
            <a:cxnLst/>
            <a:rect r="r" b="b" t="t" l="l"/>
            <a:pathLst>
              <a:path h="1839060" w="1758810">
                <a:moveTo>
                  <a:pt x="0" y="0"/>
                </a:moveTo>
                <a:lnTo>
                  <a:pt x="1758811" y="0"/>
                </a:lnTo>
                <a:lnTo>
                  <a:pt x="1758811" y="1839060"/>
                </a:lnTo>
                <a:lnTo>
                  <a:pt x="0" y="183906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7" id="7"/>
          <p:cNvGrpSpPr/>
          <p:nvPr/>
        </p:nvGrpSpPr>
        <p:grpSpPr>
          <a:xfrm rot="0">
            <a:off x="3998263" y="6008782"/>
            <a:ext cx="677751" cy="677751"/>
            <a:chOff x="0" y="0"/>
            <a:chExt cx="903667" cy="903667"/>
          </a:xfrm>
        </p:grpSpPr>
        <p:grpSp>
          <p:nvGrpSpPr>
            <p:cNvPr name="Group 8" id="8"/>
            <p:cNvGrpSpPr/>
            <p:nvPr/>
          </p:nvGrpSpPr>
          <p:grpSpPr>
            <a:xfrm rot="0">
              <a:off x="0" y="0"/>
              <a:ext cx="903667" cy="903667"/>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8E69E6"/>
              </a:solidFill>
            </p:spPr>
          </p:sp>
          <p:sp>
            <p:nvSpPr>
              <p:cNvPr name="TextBox 10" id="10"/>
              <p:cNvSpPr txBox="true"/>
              <p:nvPr/>
            </p:nvSpPr>
            <p:spPr>
              <a:xfrm>
                <a:off x="0" y="-47625"/>
                <a:ext cx="812800" cy="860425"/>
              </a:xfrm>
              <a:prstGeom prst="rect">
                <a:avLst/>
              </a:prstGeom>
            </p:spPr>
            <p:txBody>
              <a:bodyPr anchor="ctr" rtlCol="false" tIns="50800" lIns="50800" bIns="50800" rIns="50800"/>
              <a:lstStyle/>
              <a:p>
                <a:pPr algn="ctr">
                  <a:lnSpc>
                    <a:spcPts val="2239"/>
                  </a:lnSpc>
                </a:pPr>
              </a:p>
            </p:txBody>
          </p:sp>
        </p:grpSp>
        <p:sp>
          <p:nvSpPr>
            <p:cNvPr name="TextBox 11" id="11"/>
            <p:cNvSpPr txBox="true"/>
            <p:nvPr/>
          </p:nvSpPr>
          <p:spPr>
            <a:xfrm rot="0">
              <a:off x="121094" y="225139"/>
              <a:ext cx="661480" cy="405765"/>
            </a:xfrm>
            <a:prstGeom prst="rect">
              <a:avLst/>
            </a:prstGeom>
          </p:spPr>
          <p:txBody>
            <a:bodyPr anchor="t" rtlCol="false" tIns="0" lIns="0" bIns="0" rIns="0">
              <a:spAutoFit/>
            </a:bodyPr>
            <a:lstStyle/>
            <a:p>
              <a:pPr algn="ctr">
                <a:lnSpc>
                  <a:spcPts val="2519"/>
                </a:lnSpc>
                <a:spcBef>
                  <a:spcPct val="0"/>
                </a:spcBef>
              </a:pPr>
              <a:r>
                <a:rPr lang="en-US" b="true" sz="1799">
                  <a:solidFill>
                    <a:srgbClr val="FFFFFF"/>
                  </a:solidFill>
                  <a:latin typeface="Roboto Bold"/>
                  <a:ea typeface="Roboto Bold"/>
                  <a:cs typeface="Roboto Bold"/>
                  <a:sym typeface="Roboto Bold"/>
                </a:rPr>
                <a:t>03</a:t>
              </a:r>
            </a:p>
          </p:txBody>
        </p:sp>
      </p:grpSp>
      <p:grpSp>
        <p:nvGrpSpPr>
          <p:cNvPr name="Group 12" id="12"/>
          <p:cNvGrpSpPr/>
          <p:nvPr/>
        </p:nvGrpSpPr>
        <p:grpSpPr>
          <a:xfrm rot="0">
            <a:off x="3998263" y="4738538"/>
            <a:ext cx="677751" cy="677751"/>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FB6BA2"/>
            </a:solidFill>
          </p:spPr>
        </p:sp>
        <p:sp>
          <p:nvSpPr>
            <p:cNvPr name="TextBox 14" id="14"/>
            <p:cNvSpPr txBox="true"/>
            <p:nvPr/>
          </p:nvSpPr>
          <p:spPr>
            <a:xfrm>
              <a:off x="0" y="-47625"/>
              <a:ext cx="812800" cy="860425"/>
            </a:xfrm>
            <a:prstGeom prst="rect">
              <a:avLst/>
            </a:prstGeom>
          </p:spPr>
          <p:txBody>
            <a:bodyPr anchor="ctr" rtlCol="false" tIns="50800" lIns="50800" bIns="50800" rIns="50800"/>
            <a:lstStyle/>
            <a:p>
              <a:pPr algn="ctr">
                <a:lnSpc>
                  <a:spcPts val="2239"/>
                </a:lnSpc>
              </a:pPr>
            </a:p>
          </p:txBody>
        </p:sp>
      </p:grpSp>
      <p:grpSp>
        <p:nvGrpSpPr>
          <p:cNvPr name="Group 15" id="15"/>
          <p:cNvGrpSpPr/>
          <p:nvPr/>
        </p:nvGrpSpPr>
        <p:grpSpPr>
          <a:xfrm rot="0">
            <a:off x="3998263" y="3374987"/>
            <a:ext cx="677751" cy="677751"/>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FF999A"/>
            </a:solidFill>
          </p:spPr>
        </p:sp>
        <p:sp>
          <p:nvSpPr>
            <p:cNvPr name="TextBox 17" id="17"/>
            <p:cNvSpPr txBox="true"/>
            <p:nvPr/>
          </p:nvSpPr>
          <p:spPr>
            <a:xfrm>
              <a:off x="0" y="-47625"/>
              <a:ext cx="812800" cy="860425"/>
            </a:xfrm>
            <a:prstGeom prst="rect">
              <a:avLst/>
            </a:prstGeom>
          </p:spPr>
          <p:txBody>
            <a:bodyPr anchor="ctr" rtlCol="false" tIns="50800" lIns="50800" bIns="50800" rIns="50800"/>
            <a:lstStyle/>
            <a:p>
              <a:pPr algn="ctr">
                <a:lnSpc>
                  <a:spcPts val="2239"/>
                </a:lnSpc>
              </a:pPr>
            </a:p>
          </p:txBody>
        </p:sp>
      </p:grpSp>
      <p:sp>
        <p:nvSpPr>
          <p:cNvPr name="TextBox 18" id="18"/>
          <p:cNvSpPr txBox="true"/>
          <p:nvPr/>
        </p:nvSpPr>
        <p:spPr>
          <a:xfrm rot="0">
            <a:off x="5341758" y="6165729"/>
            <a:ext cx="9734512" cy="316230"/>
          </a:xfrm>
          <a:prstGeom prst="rect">
            <a:avLst/>
          </a:prstGeom>
        </p:spPr>
        <p:txBody>
          <a:bodyPr anchor="t" rtlCol="false" tIns="0" lIns="0" bIns="0" rIns="0">
            <a:spAutoFit/>
          </a:bodyPr>
          <a:lstStyle/>
          <a:p>
            <a:pPr algn="just">
              <a:lnSpc>
                <a:spcPts val="2520"/>
              </a:lnSpc>
              <a:spcBef>
                <a:spcPct val="0"/>
              </a:spcBef>
            </a:pPr>
            <a:r>
              <a:rPr lang="en-US" sz="1800">
                <a:solidFill>
                  <a:srgbClr val="FFFFFF"/>
                </a:solidFill>
                <a:latin typeface="Roboto"/>
                <a:ea typeface="Roboto"/>
                <a:cs typeface="Roboto"/>
                <a:sym typeface="Roboto"/>
              </a:rPr>
              <a:t>O treino deixa de ser uma obrigação entediante e solitária passa a ser parte de uma jornada estruturada. </a:t>
            </a:r>
          </a:p>
        </p:txBody>
      </p:sp>
      <p:sp>
        <p:nvSpPr>
          <p:cNvPr name="Freeform 19" id="19"/>
          <p:cNvSpPr/>
          <p:nvPr/>
        </p:nvSpPr>
        <p:spPr>
          <a:xfrm flipH="true" flipV="false" rot="0">
            <a:off x="14744428" y="5635793"/>
            <a:ext cx="3543572" cy="4607481"/>
          </a:xfrm>
          <a:custGeom>
            <a:avLst/>
            <a:gdLst/>
            <a:ahLst/>
            <a:cxnLst/>
            <a:rect r="r" b="b" t="t" l="l"/>
            <a:pathLst>
              <a:path h="4607481" w="3543572">
                <a:moveTo>
                  <a:pt x="3543572" y="0"/>
                </a:moveTo>
                <a:lnTo>
                  <a:pt x="0" y="0"/>
                </a:lnTo>
                <a:lnTo>
                  <a:pt x="0" y="4607481"/>
                </a:lnTo>
                <a:lnTo>
                  <a:pt x="3543572" y="4607481"/>
                </a:lnTo>
                <a:lnTo>
                  <a:pt x="3543572"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0" id="20"/>
          <p:cNvSpPr/>
          <p:nvPr/>
        </p:nvSpPr>
        <p:spPr>
          <a:xfrm flipH="false" flipV="false" rot="0">
            <a:off x="10312694" y="8620537"/>
            <a:ext cx="3419561" cy="1622737"/>
          </a:xfrm>
          <a:custGeom>
            <a:avLst/>
            <a:gdLst/>
            <a:ahLst/>
            <a:cxnLst/>
            <a:rect r="r" b="b" t="t" l="l"/>
            <a:pathLst>
              <a:path h="1622737" w="3419561">
                <a:moveTo>
                  <a:pt x="0" y="0"/>
                </a:moveTo>
                <a:lnTo>
                  <a:pt x="3419561" y="0"/>
                </a:lnTo>
                <a:lnTo>
                  <a:pt x="3419561" y="1622737"/>
                </a:lnTo>
                <a:lnTo>
                  <a:pt x="0" y="162273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21" id="21"/>
          <p:cNvSpPr/>
          <p:nvPr/>
        </p:nvSpPr>
        <p:spPr>
          <a:xfrm flipH="false" flipV="false" rot="0">
            <a:off x="-1496685" y="730459"/>
            <a:ext cx="3474012" cy="1212746"/>
          </a:xfrm>
          <a:custGeom>
            <a:avLst/>
            <a:gdLst/>
            <a:ahLst/>
            <a:cxnLst/>
            <a:rect r="r" b="b" t="t" l="l"/>
            <a:pathLst>
              <a:path h="1212746" w="3474012">
                <a:moveTo>
                  <a:pt x="0" y="0"/>
                </a:moveTo>
                <a:lnTo>
                  <a:pt x="3474012" y="0"/>
                </a:lnTo>
                <a:lnTo>
                  <a:pt x="3474012" y="1212746"/>
                </a:lnTo>
                <a:lnTo>
                  <a:pt x="0" y="1212746"/>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22" id="22"/>
          <p:cNvSpPr/>
          <p:nvPr/>
        </p:nvSpPr>
        <p:spPr>
          <a:xfrm flipH="false" flipV="false" rot="0">
            <a:off x="14532871" y="763448"/>
            <a:ext cx="5270840" cy="1840002"/>
          </a:xfrm>
          <a:custGeom>
            <a:avLst/>
            <a:gdLst/>
            <a:ahLst/>
            <a:cxnLst/>
            <a:rect r="r" b="b" t="t" l="l"/>
            <a:pathLst>
              <a:path h="1840002" w="5270840">
                <a:moveTo>
                  <a:pt x="0" y="0"/>
                </a:moveTo>
                <a:lnTo>
                  <a:pt x="5270840" y="0"/>
                </a:lnTo>
                <a:lnTo>
                  <a:pt x="5270840" y="1840002"/>
                </a:lnTo>
                <a:lnTo>
                  <a:pt x="0" y="184000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23" id="23"/>
          <p:cNvSpPr/>
          <p:nvPr/>
        </p:nvSpPr>
        <p:spPr>
          <a:xfrm flipH="true" flipV="false" rot="0">
            <a:off x="8368497" y="990216"/>
            <a:ext cx="3890591" cy="693233"/>
          </a:xfrm>
          <a:custGeom>
            <a:avLst/>
            <a:gdLst/>
            <a:ahLst/>
            <a:cxnLst/>
            <a:rect r="r" b="b" t="t" l="l"/>
            <a:pathLst>
              <a:path h="693233" w="3890591">
                <a:moveTo>
                  <a:pt x="3890591" y="0"/>
                </a:moveTo>
                <a:lnTo>
                  <a:pt x="0" y="0"/>
                </a:lnTo>
                <a:lnTo>
                  <a:pt x="0" y="693233"/>
                </a:lnTo>
                <a:lnTo>
                  <a:pt x="3890591" y="693233"/>
                </a:lnTo>
                <a:lnTo>
                  <a:pt x="3890591"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24" id="24"/>
          <p:cNvSpPr txBox="true"/>
          <p:nvPr/>
        </p:nvSpPr>
        <p:spPr>
          <a:xfrm rot="0">
            <a:off x="2314590" y="1997038"/>
            <a:ext cx="9398282" cy="911224"/>
          </a:xfrm>
          <a:prstGeom prst="rect">
            <a:avLst/>
          </a:prstGeom>
        </p:spPr>
        <p:txBody>
          <a:bodyPr anchor="t" rtlCol="false" tIns="0" lIns="0" bIns="0" rIns="0">
            <a:spAutoFit/>
          </a:bodyPr>
          <a:lstStyle/>
          <a:p>
            <a:pPr algn="l" marL="0" indent="0" lvl="0">
              <a:lnSpc>
                <a:spcPts val="7000"/>
              </a:lnSpc>
              <a:spcBef>
                <a:spcPct val="0"/>
              </a:spcBef>
            </a:pPr>
            <a:r>
              <a:rPr lang="en-US" sz="5000">
                <a:solidFill>
                  <a:srgbClr val="FFFFFF"/>
                </a:solidFill>
                <a:latin typeface="Arcade Gamer"/>
                <a:ea typeface="Arcade Gamer"/>
                <a:cs typeface="Arcade Gamer"/>
                <a:sym typeface="Arcade Gamer"/>
              </a:rPr>
              <a:t>PROPOSTA DE VALOR</a:t>
            </a:r>
          </a:p>
        </p:txBody>
      </p:sp>
      <p:sp>
        <p:nvSpPr>
          <p:cNvPr name="TextBox 25" id="25"/>
          <p:cNvSpPr txBox="true"/>
          <p:nvPr/>
        </p:nvSpPr>
        <p:spPr>
          <a:xfrm rot="0">
            <a:off x="5341758" y="3351913"/>
            <a:ext cx="9191113" cy="944880"/>
          </a:xfrm>
          <a:prstGeom prst="rect">
            <a:avLst/>
          </a:prstGeom>
        </p:spPr>
        <p:txBody>
          <a:bodyPr anchor="t" rtlCol="false" tIns="0" lIns="0" bIns="0" rIns="0">
            <a:spAutoFit/>
          </a:bodyPr>
          <a:lstStyle/>
          <a:p>
            <a:pPr algn="just">
              <a:lnSpc>
                <a:spcPts val="2520"/>
              </a:lnSpc>
              <a:spcBef>
                <a:spcPct val="0"/>
              </a:spcBef>
            </a:pPr>
            <a:r>
              <a:rPr lang="en-US" sz="1800">
                <a:solidFill>
                  <a:srgbClr val="FFFFFF"/>
                </a:solidFill>
                <a:latin typeface="Roboto"/>
                <a:ea typeface="Roboto"/>
                <a:cs typeface="Roboto"/>
                <a:sym typeface="Roboto"/>
              </a:rPr>
              <a:t>Nós transformamos treino em progressão de personagem. Em vez de apenas registrar quilômetros ou cargas, o aplicativo recompensa consistência com XP, níveis e conquistas, criando uma narrativa de evolução pessoal.</a:t>
            </a:r>
          </a:p>
        </p:txBody>
      </p:sp>
      <p:sp>
        <p:nvSpPr>
          <p:cNvPr name="TextBox 26" id="26"/>
          <p:cNvSpPr txBox="true"/>
          <p:nvPr/>
        </p:nvSpPr>
        <p:spPr>
          <a:xfrm rot="0">
            <a:off x="4089083" y="4895485"/>
            <a:ext cx="496110" cy="316230"/>
          </a:xfrm>
          <a:prstGeom prst="rect">
            <a:avLst/>
          </a:prstGeom>
        </p:spPr>
        <p:txBody>
          <a:bodyPr anchor="t" rtlCol="false" tIns="0" lIns="0" bIns="0" rIns="0">
            <a:spAutoFit/>
          </a:bodyPr>
          <a:lstStyle/>
          <a:p>
            <a:pPr algn="ctr">
              <a:lnSpc>
                <a:spcPts val="2519"/>
              </a:lnSpc>
              <a:spcBef>
                <a:spcPct val="0"/>
              </a:spcBef>
            </a:pPr>
            <a:r>
              <a:rPr lang="en-US" b="true" sz="1799">
                <a:solidFill>
                  <a:srgbClr val="FFFFFF"/>
                </a:solidFill>
                <a:latin typeface="Roboto Bold"/>
                <a:ea typeface="Roboto Bold"/>
                <a:cs typeface="Roboto Bold"/>
                <a:sym typeface="Roboto Bold"/>
              </a:rPr>
              <a:t>02</a:t>
            </a:r>
          </a:p>
        </p:txBody>
      </p:sp>
      <p:sp>
        <p:nvSpPr>
          <p:cNvPr name="TextBox 27" id="27"/>
          <p:cNvSpPr txBox="true"/>
          <p:nvPr/>
        </p:nvSpPr>
        <p:spPr>
          <a:xfrm rot="0">
            <a:off x="4089083" y="3531935"/>
            <a:ext cx="496110" cy="316230"/>
          </a:xfrm>
          <a:prstGeom prst="rect">
            <a:avLst/>
          </a:prstGeom>
        </p:spPr>
        <p:txBody>
          <a:bodyPr anchor="t" rtlCol="false" tIns="0" lIns="0" bIns="0" rIns="0">
            <a:spAutoFit/>
          </a:bodyPr>
          <a:lstStyle/>
          <a:p>
            <a:pPr algn="ctr">
              <a:lnSpc>
                <a:spcPts val="2519"/>
              </a:lnSpc>
              <a:spcBef>
                <a:spcPct val="0"/>
              </a:spcBef>
            </a:pPr>
            <a:r>
              <a:rPr lang="en-US" b="true" sz="1799">
                <a:solidFill>
                  <a:srgbClr val="FFFFFF"/>
                </a:solidFill>
                <a:latin typeface="Roboto Bold"/>
                <a:ea typeface="Roboto Bold"/>
                <a:cs typeface="Roboto Bold"/>
                <a:sym typeface="Roboto Bold"/>
              </a:rPr>
              <a:t>01</a:t>
            </a:r>
          </a:p>
        </p:txBody>
      </p:sp>
      <p:sp>
        <p:nvSpPr>
          <p:cNvPr name="TextBox 28" id="28"/>
          <p:cNvSpPr txBox="true"/>
          <p:nvPr/>
        </p:nvSpPr>
        <p:spPr>
          <a:xfrm rot="0">
            <a:off x="5341758" y="4601658"/>
            <a:ext cx="9191113" cy="1259205"/>
          </a:xfrm>
          <a:prstGeom prst="rect">
            <a:avLst/>
          </a:prstGeom>
        </p:spPr>
        <p:txBody>
          <a:bodyPr anchor="t" rtlCol="false" tIns="0" lIns="0" bIns="0" rIns="0">
            <a:spAutoFit/>
          </a:bodyPr>
          <a:lstStyle/>
          <a:p>
            <a:pPr algn="just">
              <a:lnSpc>
                <a:spcPts val="2520"/>
              </a:lnSpc>
              <a:spcBef>
                <a:spcPct val="0"/>
              </a:spcBef>
            </a:pPr>
            <a:r>
              <a:rPr lang="en-US" sz="1800">
                <a:solidFill>
                  <a:srgbClr val="FFFFFF"/>
                </a:solidFill>
                <a:latin typeface="Roboto"/>
                <a:ea typeface="Roboto"/>
                <a:cs typeface="Roboto"/>
                <a:sym typeface="Roboto"/>
              </a:rPr>
              <a:t>Pesquisas em psicologia comportamental mostram que sistemas de recompensa progressiva aumentam retenção e engajamento. Modelos de gamificação aplicados à saúde têm demonstrado melhoria na adesão a hábitos quando há feedback contínuo e senso de progresso.</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2E1B5B"/>
        </a:solidFill>
      </p:bgPr>
    </p:bg>
    <p:spTree>
      <p:nvGrpSpPr>
        <p:cNvPr id="1" name=""/>
        <p:cNvGrpSpPr/>
        <p:nvPr/>
      </p:nvGrpSpPr>
      <p:grpSpPr>
        <a:xfrm>
          <a:off x="0" y="0"/>
          <a:ext cx="0" cy="0"/>
          <a:chOff x="0" y="0"/>
          <a:chExt cx="0" cy="0"/>
        </a:xfrm>
      </p:grpSpPr>
      <p:grpSp>
        <p:nvGrpSpPr>
          <p:cNvPr name="Group 2" id="2"/>
          <p:cNvGrpSpPr/>
          <p:nvPr/>
        </p:nvGrpSpPr>
        <p:grpSpPr>
          <a:xfrm rot="0">
            <a:off x="-26536" y="4158567"/>
            <a:ext cx="22374015" cy="6128433"/>
            <a:chOff x="0" y="0"/>
            <a:chExt cx="29832020" cy="8171245"/>
          </a:xfrm>
        </p:grpSpPr>
        <p:sp>
          <p:nvSpPr>
            <p:cNvPr name="Freeform 3" id="3"/>
            <p:cNvSpPr/>
            <p:nvPr/>
          </p:nvSpPr>
          <p:spPr>
            <a:xfrm flipH="true" flipV="false" rot="0">
              <a:off x="0" y="0"/>
              <a:ext cx="14916010" cy="8171245"/>
            </a:xfrm>
            <a:custGeom>
              <a:avLst/>
              <a:gdLst/>
              <a:ahLst/>
              <a:cxnLst/>
              <a:rect r="r" b="b" t="t" l="l"/>
              <a:pathLst>
                <a:path h="8171245" w="14916010">
                  <a:moveTo>
                    <a:pt x="14916010" y="0"/>
                  </a:moveTo>
                  <a:lnTo>
                    <a:pt x="0" y="0"/>
                  </a:lnTo>
                  <a:lnTo>
                    <a:pt x="0" y="8171245"/>
                  </a:lnTo>
                  <a:lnTo>
                    <a:pt x="14916010" y="8171245"/>
                  </a:lnTo>
                  <a:lnTo>
                    <a:pt x="14916010" y="0"/>
                  </a:lnTo>
                  <a:close/>
                </a:path>
              </a:pathLst>
            </a:custGeom>
            <a:blipFill>
              <a:blip r:embed="rId2">
                <a:alphaModFix amt="40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false" rot="0">
              <a:off x="14916010" y="0"/>
              <a:ext cx="14916010" cy="8171245"/>
            </a:xfrm>
            <a:custGeom>
              <a:avLst/>
              <a:gdLst/>
              <a:ahLst/>
              <a:cxnLst/>
              <a:rect r="r" b="b" t="t" l="l"/>
              <a:pathLst>
                <a:path h="8171245" w="14916010">
                  <a:moveTo>
                    <a:pt x="14916010" y="0"/>
                  </a:moveTo>
                  <a:lnTo>
                    <a:pt x="0" y="0"/>
                  </a:lnTo>
                  <a:lnTo>
                    <a:pt x="0" y="8171245"/>
                  </a:lnTo>
                  <a:lnTo>
                    <a:pt x="14916010" y="8171245"/>
                  </a:lnTo>
                  <a:lnTo>
                    <a:pt x="14916010" y="0"/>
                  </a:lnTo>
                  <a:close/>
                </a:path>
              </a:pathLst>
            </a:custGeom>
            <a:blipFill>
              <a:blip r:embed="rId2">
                <a:alphaModFix amt="40000"/>
                <a:extLst>
                  <a:ext uri="{96DAC541-7B7A-43D3-8B79-37D633B846F1}">
                    <asvg:svgBlip xmlns:asvg="http://schemas.microsoft.com/office/drawing/2016/SVG/main" r:embed="rId3"/>
                  </a:ext>
                </a:extLst>
              </a:blip>
              <a:stretch>
                <a:fillRect l="0" t="0" r="0" b="0"/>
              </a:stretch>
            </a:blipFill>
          </p:spPr>
        </p:sp>
      </p:grpSp>
      <p:sp>
        <p:nvSpPr>
          <p:cNvPr name="Freeform 5" id="5"/>
          <p:cNvSpPr/>
          <p:nvPr/>
        </p:nvSpPr>
        <p:spPr>
          <a:xfrm flipH="false" flipV="false" rot="0">
            <a:off x="12539369" y="382886"/>
            <a:ext cx="2173870" cy="2173870"/>
          </a:xfrm>
          <a:custGeom>
            <a:avLst/>
            <a:gdLst/>
            <a:ahLst/>
            <a:cxnLst/>
            <a:rect r="r" b="b" t="t" l="l"/>
            <a:pathLst>
              <a:path h="2173870" w="2173870">
                <a:moveTo>
                  <a:pt x="0" y="0"/>
                </a:moveTo>
                <a:lnTo>
                  <a:pt x="2173870" y="0"/>
                </a:lnTo>
                <a:lnTo>
                  <a:pt x="2173870" y="2173870"/>
                </a:lnTo>
                <a:lnTo>
                  <a:pt x="0" y="217387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7121029" y="8384137"/>
            <a:ext cx="4009865" cy="1902863"/>
          </a:xfrm>
          <a:custGeom>
            <a:avLst/>
            <a:gdLst/>
            <a:ahLst/>
            <a:cxnLst/>
            <a:rect r="r" b="b" t="t" l="l"/>
            <a:pathLst>
              <a:path h="1902863" w="4009865">
                <a:moveTo>
                  <a:pt x="0" y="0"/>
                </a:moveTo>
                <a:lnTo>
                  <a:pt x="4009865" y="0"/>
                </a:lnTo>
                <a:lnTo>
                  <a:pt x="4009865" y="1902863"/>
                </a:lnTo>
                <a:lnTo>
                  <a:pt x="0" y="190286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11483319" y="9161128"/>
            <a:ext cx="2537827" cy="1125872"/>
          </a:xfrm>
          <a:custGeom>
            <a:avLst/>
            <a:gdLst/>
            <a:ahLst/>
            <a:cxnLst/>
            <a:rect r="r" b="b" t="t" l="l"/>
            <a:pathLst>
              <a:path h="1125872" w="2537827">
                <a:moveTo>
                  <a:pt x="0" y="0"/>
                </a:moveTo>
                <a:lnTo>
                  <a:pt x="2537827" y="0"/>
                </a:lnTo>
                <a:lnTo>
                  <a:pt x="2537827" y="1125872"/>
                </a:lnTo>
                <a:lnTo>
                  <a:pt x="0" y="112587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8" id="8"/>
          <p:cNvSpPr/>
          <p:nvPr/>
        </p:nvSpPr>
        <p:spPr>
          <a:xfrm flipH="false" flipV="false" rot="0">
            <a:off x="14332334" y="9161128"/>
            <a:ext cx="2537827" cy="1125872"/>
          </a:xfrm>
          <a:custGeom>
            <a:avLst/>
            <a:gdLst/>
            <a:ahLst/>
            <a:cxnLst/>
            <a:rect r="r" b="b" t="t" l="l"/>
            <a:pathLst>
              <a:path h="1125872" w="2537827">
                <a:moveTo>
                  <a:pt x="0" y="0"/>
                </a:moveTo>
                <a:lnTo>
                  <a:pt x="2537827" y="0"/>
                </a:lnTo>
                <a:lnTo>
                  <a:pt x="2537827" y="1125872"/>
                </a:lnTo>
                <a:lnTo>
                  <a:pt x="0" y="112587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false" flipV="false" rot="0">
            <a:off x="17222586" y="9161128"/>
            <a:ext cx="2537827" cy="1125872"/>
          </a:xfrm>
          <a:custGeom>
            <a:avLst/>
            <a:gdLst/>
            <a:ahLst/>
            <a:cxnLst/>
            <a:rect r="r" b="b" t="t" l="l"/>
            <a:pathLst>
              <a:path h="1125872" w="2537827">
                <a:moveTo>
                  <a:pt x="0" y="0"/>
                </a:moveTo>
                <a:lnTo>
                  <a:pt x="2537827" y="0"/>
                </a:lnTo>
                <a:lnTo>
                  <a:pt x="2537827" y="1125872"/>
                </a:lnTo>
                <a:lnTo>
                  <a:pt x="0" y="112587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0" id="10"/>
          <p:cNvSpPr/>
          <p:nvPr/>
        </p:nvSpPr>
        <p:spPr>
          <a:xfrm flipH="false" flipV="false" rot="0">
            <a:off x="0" y="1344010"/>
            <a:ext cx="3474012" cy="1212746"/>
          </a:xfrm>
          <a:custGeom>
            <a:avLst/>
            <a:gdLst/>
            <a:ahLst/>
            <a:cxnLst/>
            <a:rect r="r" b="b" t="t" l="l"/>
            <a:pathLst>
              <a:path h="1212746" w="3474012">
                <a:moveTo>
                  <a:pt x="0" y="0"/>
                </a:moveTo>
                <a:lnTo>
                  <a:pt x="3474012" y="0"/>
                </a:lnTo>
                <a:lnTo>
                  <a:pt x="3474012" y="1212746"/>
                </a:lnTo>
                <a:lnTo>
                  <a:pt x="0" y="1212746"/>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1" id="11"/>
          <p:cNvSpPr/>
          <p:nvPr/>
        </p:nvSpPr>
        <p:spPr>
          <a:xfrm flipH="false" flipV="false" rot="0">
            <a:off x="2794067" y="1682275"/>
            <a:ext cx="4907801" cy="874481"/>
          </a:xfrm>
          <a:custGeom>
            <a:avLst/>
            <a:gdLst/>
            <a:ahLst/>
            <a:cxnLst/>
            <a:rect r="r" b="b" t="t" l="l"/>
            <a:pathLst>
              <a:path h="874481" w="4907801">
                <a:moveTo>
                  <a:pt x="0" y="0"/>
                </a:moveTo>
                <a:lnTo>
                  <a:pt x="4907801" y="0"/>
                </a:lnTo>
                <a:lnTo>
                  <a:pt x="4907801" y="874481"/>
                </a:lnTo>
                <a:lnTo>
                  <a:pt x="0" y="874481"/>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2" id="12"/>
          <p:cNvSpPr/>
          <p:nvPr/>
        </p:nvSpPr>
        <p:spPr>
          <a:xfrm flipH="false" flipV="false" rot="0">
            <a:off x="12077819" y="998097"/>
            <a:ext cx="5270840" cy="1840002"/>
          </a:xfrm>
          <a:custGeom>
            <a:avLst/>
            <a:gdLst/>
            <a:ahLst/>
            <a:cxnLst/>
            <a:rect r="r" b="b" t="t" l="l"/>
            <a:pathLst>
              <a:path h="1840002" w="5270840">
                <a:moveTo>
                  <a:pt x="0" y="0"/>
                </a:moveTo>
                <a:lnTo>
                  <a:pt x="5270839" y="0"/>
                </a:lnTo>
                <a:lnTo>
                  <a:pt x="5270839" y="1840002"/>
                </a:lnTo>
                <a:lnTo>
                  <a:pt x="0" y="184000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3" id="13"/>
          <p:cNvSpPr/>
          <p:nvPr/>
        </p:nvSpPr>
        <p:spPr>
          <a:xfrm flipH="false" flipV="false" rot="0">
            <a:off x="14713239" y="1344010"/>
            <a:ext cx="4233199" cy="1477771"/>
          </a:xfrm>
          <a:custGeom>
            <a:avLst/>
            <a:gdLst/>
            <a:ahLst/>
            <a:cxnLst/>
            <a:rect r="r" b="b" t="t" l="l"/>
            <a:pathLst>
              <a:path h="1477771" w="4233199">
                <a:moveTo>
                  <a:pt x="0" y="0"/>
                </a:moveTo>
                <a:lnTo>
                  <a:pt x="4233199" y="0"/>
                </a:lnTo>
                <a:lnTo>
                  <a:pt x="4233199" y="1477771"/>
                </a:lnTo>
                <a:lnTo>
                  <a:pt x="0" y="1477771"/>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4" id="14"/>
          <p:cNvSpPr/>
          <p:nvPr/>
        </p:nvSpPr>
        <p:spPr>
          <a:xfrm flipH="true" flipV="false" rot="0">
            <a:off x="7944548" y="1224866"/>
            <a:ext cx="3890591" cy="693233"/>
          </a:xfrm>
          <a:custGeom>
            <a:avLst/>
            <a:gdLst/>
            <a:ahLst/>
            <a:cxnLst/>
            <a:rect r="r" b="b" t="t" l="l"/>
            <a:pathLst>
              <a:path h="693233" w="3890591">
                <a:moveTo>
                  <a:pt x="3890591" y="0"/>
                </a:moveTo>
                <a:lnTo>
                  <a:pt x="0" y="0"/>
                </a:lnTo>
                <a:lnTo>
                  <a:pt x="0" y="693232"/>
                </a:lnTo>
                <a:lnTo>
                  <a:pt x="3890591" y="693232"/>
                </a:lnTo>
                <a:lnTo>
                  <a:pt x="3890591"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15" id="15"/>
          <p:cNvSpPr txBox="true"/>
          <p:nvPr/>
        </p:nvSpPr>
        <p:spPr>
          <a:xfrm rot="0">
            <a:off x="3078533" y="3390549"/>
            <a:ext cx="12130934" cy="911224"/>
          </a:xfrm>
          <a:prstGeom prst="rect">
            <a:avLst/>
          </a:prstGeom>
        </p:spPr>
        <p:txBody>
          <a:bodyPr anchor="t" rtlCol="false" tIns="0" lIns="0" bIns="0" rIns="0">
            <a:spAutoFit/>
          </a:bodyPr>
          <a:lstStyle/>
          <a:p>
            <a:pPr algn="ctr" marL="0" indent="0" lvl="0">
              <a:lnSpc>
                <a:spcPts val="7000"/>
              </a:lnSpc>
              <a:spcBef>
                <a:spcPct val="0"/>
              </a:spcBef>
            </a:pPr>
            <a:r>
              <a:rPr lang="en-US" sz="5000">
                <a:solidFill>
                  <a:srgbClr val="FFFFFF"/>
                </a:solidFill>
                <a:latin typeface="Arcade Gamer"/>
                <a:ea typeface="Arcade Gamer"/>
                <a:cs typeface="Arcade Gamer"/>
                <a:sym typeface="Arcade Gamer"/>
              </a:rPr>
              <a:t>VISÃO DO PRODUTO</a:t>
            </a:r>
          </a:p>
        </p:txBody>
      </p:sp>
      <p:sp>
        <p:nvSpPr>
          <p:cNvPr name="TextBox 16" id="16"/>
          <p:cNvSpPr txBox="true"/>
          <p:nvPr/>
        </p:nvSpPr>
        <p:spPr>
          <a:xfrm rot="0">
            <a:off x="1737006" y="4958998"/>
            <a:ext cx="14935278" cy="1573620"/>
          </a:xfrm>
          <a:prstGeom prst="rect">
            <a:avLst/>
          </a:prstGeom>
        </p:spPr>
        <p:txBody>
          <a:bodyPr anchor="t" rtlCol="false" tIns="0" lIns="0" bIns="0" rIns="0">
            <a:spAutoFit/>
          </a:bodyPr>
          <a:lstStyle/>
          <a:p>
            <a:pPr algn="just">
              <a:lnSpc>
                <a:spcPts val="2520"/>
              </a:lnSpc>
            </a:pPr>
            <a:r>
              <a:rPr lang="en-US" sz="1800">
                <a:solidFill>
                  <a:srgbClr val="FFFFFF"/>
                </a:solidFill>
                <a:latin typeface="Roboto"/>
                <a:ea typeface="Roboto"/>
                <a:cs typeface="Roboto"/>
                <a:sym typeface="Roboto"/>
              </a:rPr>
              <a:t>Nosso produto é uma plataforma mobile e web gamificada para praticantes iniciantes e intermediários de corrida e musculação que permite transformar treinos em progressão de personagem e participação em guildas, diferentemente de aplicativos tradicionais de tracking esportivo, pois recompensa consistência e evolução pessoal por meio de mecânicas estruturadas de RPG, e não apenas métricas competitivas. </a:t>
            </a:r>
          </a:p>
          <a:p>
            <a:pPr algn="just">
              <a:lnSpc>
                <a:spcPts val="2520"/>
              </a:lnSpc>
            </a:pPr>
          </a:p>
          <a:p>
            <a:pPr algn="just">
              <a:lnSpc>
                <a:spcPts val="2520"/>
              </a:lnSpc>
              <a:spcBef>
                <a:spcPct val="0"/>
              </a:spcBef>
            </a:pPr>
            <a:r>
              <a:rPr lang="en-US" sz="1800">
                <a:solidFill>
                  <a:srgbClr val="FFFFFF"/>
                </a:solidFill>
                <a:latin typeface="Roboto"/>
                <a:ea typeface="Roboto"/>
                <a:cs typeface="Roboto"/>
                <a:sym typeface="Roboto"/>
              </a:rPr>
              <a:t>Enquanto aplicativos tradicionais posicionam o usuário em rankings comparativos, Nós posicionamos o usuário dentro de uma jornada pessoal.</a:t>
            </a:r>
          </a:p>
        </p:txBody>
      </p:sp>
      <p:grpSp>
        <p:nvGrpSpPr>
          <p:cNvPr name="Group 17" id="17"/>
          <p:cNvGrpSpPr/>
          <p:nvPr/>
        </p:nvGrpSpPr>
        <p:grpSpPr>
          <a:xfrm rot="0">
            <a:off x="-1508489" y="9161128"/>
            <a:ext cx="8277094" cy="1125872"/>
            <a:chOff x="0" y="0"/>
            <a:chExt cx="11036125" cy="1501163"/>
          </a:xfrm>
        </p:grpSpPr>
        <p:sp>
          <p:nvSpPr>
            <p:cNvPr name="Freeform 18" id="18"/>
            <p:cNvSpPr/>
            <p:nvPr/>
          </p:nvSpPr>
          <p:spPr>
            <a:xfrm flipH="false" flipV="false" rot="0">
              <a:off x="0" y="0"/>
              <a:ext cx="3383769" cy="1501163"/>
            </a:xfrm>
            <a:custGeom>
              <a:avLst/>
              <a:gdLst/>
              <a:ahLst/>
              <a:cxnLst/>
              <a:rect r="r" b="b" t="t" l="l"/>
              <a:pathLst>
                <a:path h="1501163" w="3383769">
                  <a:moveTo>
                    <a:pt x="0" y="0"/>
                  </a:moveTo>
                  <a:lnTo>
                    <a:pt x="3383769" y="0"/>
                  </a:lnTo>
                  <a:lnTo>
                    <a:pt x="3383769" y="1501163"/>
                  </a:lnTo>
                  <a:lnTo>
                    <a:pt x="0" y="1501163"/>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9" id="19"/>
            <p:cNvSpPr/>
            <p:nvPr/>
          </p:nvSpPr>
          <p:spPr>
            <a:xfrm flipH="false" flipV="false" rot="0">
              <a:off x="3798687" y="0"/>
              <a:ext cx="3383769" cy="1501163"/>
            </a:xfrm>
            <a:custGeom>
              <a:avLst/>
              <a:gdLst/>
              <a:ahLst/>
              <a:cxnLst/>
              <a:rect r="r" b="b" t="t" l="l"/>
              <a:pathLst>
                <a:path h="1501163" w="3383769">
                  <a:moveTo>
                    <a:pt x="0" y="0"/>
                  </a:moveTo>
                  <a:lnTo>
                    <a:pt x="3383769" y="0"/>
                  </a:lnTo>
                  <a:lnTo>
                    <a:pt x="3383769" y="1501163"/>
                  </a:lnTo>
                  <a:lnTo>
                    <a:pt x="0" y="1501163"/>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20" id="20"/>
            <p:cNvSpPr/>
            <p:nvPr/>
          </p:nvSpPr>
          <p:spPr>
            <a:xfrm flipH="false" flipV="false" rot="0">
              <a:off x="7652356" y="0"/>
              <a:ext cx="3383769" cy="1501163"/>
            </a:xfrm>
            <a:custGeom>
              <a:avLst/>
              <a:gdLst/>
              <a:ahLst/>
              <a:cxnLst/>
              <a:rect r="r" b="b" t="t" l="l"/>
              <a:pathLst>
                <a:path h="1501163" w="3383769">
                  <a:moveTo>
                    <a:pt x="0" y="0"/>
                  </a:moveTo>
                  <a:lnTo>
                    <a:pt x="3383769" y="0"/>
                  </a:lnTo>
                  <a:lnTo>
                    <a:pt x="3383769" y="1501163"/>
                  </a:lnTo>
                  <a:lnTo>
                    <a:pt x="0" y="1501163"/>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2E1B5B"/>
        </a:solidFill>
      </p:bgPr>
    </p:bg>
    <p:spTree>
      <p:nvGrpSpPr>
        <p:cNvPr id="1" name=""/>
        <p:cNvGrpSpPr/>
        <p:nvPr/>
      </p:nvGrpSpPr>
      <p:grpSpPr>
        <a:xfrm>
          <a:off x="0" y="0"/>
          <a:ext cx="0" cy="0"/>
          <a:chOff x="0" y="0"/>
          <a:chExt cx="0" cy="0"/>
        </a:xfrm>
      </p:grpSpPr>
      <p:grpSp>
        <p:nvGrpSpPr>
          <p:cNvPr name="Group 2" id="2"/>
          <p:cNvGrpSpPr/>
          <p:nvPr/>
        </p:nvGrpSpPr>
        <p:grpSpPr>
          <a:xfrm rot="0">
            <a:off x="-1401526" y="1082950"/>
            <a:ext cx="24511364" cy="10949453"/>
            <a:chOff x="0" y="0"/>
            <a:chExt cx="32681818" cy="14599270"/>
          </a:xfrm>
        </p:grpSpPr>
        <p:sp>
          <p:nvSpPr>
            <p:cNvPr name="AutoShape 3" id="3"/>
            <p:cNvSpPr/>
            <p:nvPr/>
          </p:nvSpPr>
          <p:spPr>
            <a:xfrm>
              <a:off x="0" y="6686607"/>
              <a:ext cx="32681818" cy="0"/>
            </a:xfrm>
            <a:prstGeom prst="line">
              <a:avLst/>
            </a:prstGeom>
            <a:ln cap="flat" w="67988">
              <a:solidFill>
                <a:srgbClr val="FFFFFF"/>
              </a:solidFill>
              <a:prstDash val="solid"/>
              <a:headEnd type="none" len="sm" w="sm"/>
              <a:tailEnd type="none" len="sm" w="sm"/>
            </a:ln>
          </p:spPr>
        </p:sp>
        <p:sp>
          <p:nvSpPr>
            <p:cNvPr name="AutoShape 4" id="4"/>
            <p:cNvSpPr/>
            <p:nvPr/>
          </p:nvSpPr>
          <p:spPr>
            <a:xfrm>
              <a:off x="16980662" y="0"/>
              <a:ext cx="0" cy="14599270"/>
            </a:xfrm>
            <a:prstGeom prst="line">
              <a:avLst/>
            </a:prstGeom>
            <a:ln cap="flat" w="67988">
              <a:solidFill>
                <a:srgbClr val="FFFFFF"/>
              </a:solidFill>
              <a:prstDash val="solid"/>
              <a:headEnd type="none" len="sm" w="sm"/>
              <a:tailEnd type="none" len="sm" w="sm"/>
            </a:ln>
          </p:spPr>
        </p:sp>
      </p:grpSp>
      <p:grpSp>
        <p:nvGrpSpPr>
          <p:cNvPr name="Group 5" id="5"/>
          <p:cNvGrpSpPr/>
          <p:nvPr/>
        </p:nvGrpSpPr>
        <p:grpSpPr>
          <a:xfrm rot="0">
            <a:off x="-332852" y="4181106"/>
            <a:ext cx="22374015" cy="6128433"/>
            <a:chOff x="0" y="0"/>
            <a:chExt cx="29832020" cy="8171245"/>
          </a:xfrm>
        </p:grpSpPr>
        <p:sp>
          <p:nvSpPr>
            <p:cNvPr name="Freeform 6" id="6"/>
            <p:cNvSpPr/>
            <p:nvPr/>
          </p:nvSpPr>
          <p:spPr>
            <a:xfrm flipH="true" flipV="false" rot="0">
              <a:off x="0" y="0"/>
              <a:ext cx="14916010" cy="8171245"/>
            </a:xfrm>
            <a:custGeom>
              <a:avLst/>
              <a:gdLst/>
              <a:ahLst/>
              <a:cxnLst/>
              <a:rect r="r" b="b" t="t" l="l"/>
              <a:pathLst>
                <a:path h="8171245" w="14916010">
                  <a:moveTo>
                    <a:pt x="14916010" y="0"/>
                  </a:moveTo>
                  <a:lnTo>
                    <a:pt x="0" y="0"/>
                  </a:lnTo>
                  <a:lnTo>
                    <a:pt x="0" y="8171245"/>
                  </a:lnTo>
                  <a:lnTo>
                    <a:pt x="14916010" y="8171245"/>
                  </a:lnTo>
                  <a:lnTo>
                    <a:pt x="14916010" y="0"/>
                  </a:lnTo>
                  <a:close/>
                </a:path>
              </a:pathLst>
            </a:custGeom>
            <a:blipFill>
              <a:blip r:embed="rId2">
                <a:alphaModFix amt="40000"/>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true" flipV="false" rot="0">
              <a:off x="14916010" y="0"/>
              <a:ext cx="14916010" cy="8171245"/>
            </a:xfrm>
            <a:custGeom>
              <a:avLst/>
              <a:gdLst/>
              <a:ahLst/>
              <a:cxnLst/>
              <a:rect r="r" b="b" t="t" l="l"/>
              <a:pathLst>
                <a:path h="8171245" w="14916010">
                  <a:moveTo>
                    <a:pt x="14916010" y="0"/>
                  </a:moveTo>
                  <a:lnTo>
                    <a:pt x="0" y="0"/>
                  </a:lnTo>
                  <a:lnTo>
                    <a:pt x="0" y="8171245"/>
                  </a:lnTo>
                  <a:lnTo>
                    <a:pt x="14916010" y="8171245"/>
                  </a:lnTo>
                  <a:lnTo>
                    <a:pt x="14916010" y="0"/>
                  </a:lnTo>
                  <a:close/>
                </a:path>
              </a:pathLst>
            </a:custGeom>
            <a:blipFill>
              <a:blip r:embed="rId2">
                <a:alphaModFix amt="40000"/>
                <a:extLst>
                  <a:ext uri="{96DAC541-7B7A-43D3-8B79-37D633B846F1}">
                    <asvg:svgBlip xmlns:asvg="http://schemas.microsoft.com/office/drawing/2016/SVG/main" r:embed="rId3"/>
                  </a:ext>
                </a:extLst>
              </a:blip>
              <a:stretch>
                <a:fillRect l="0" t="0" r="0" b="0"/>
              </a:stretch>
            </a:blipFill>
          </p:spPr>
        </p:sp>
      </p:grpSp>
      <p:grpSp>
        <p:nvGrpSpPr>
          <p:cNvPr name="Group 8" id="8"/>
          <p:cNvGrpSpPr/>
          <p:nvPr/>
        </p:nvGrpSpPr>
        <p:grpSpPr>
          <a:xfrm rot="0">
            <a:off x="4081382" y="6545033"/>
            <a:ext cx="677751" cy="677751"/>
            <a:chOff x="0" y="0"/>
            <a:chExt cx="903667" cy="903667"/>
          </a:xfrm>
        </p:grpSpPr>
        <p:grpSp>
          <p:nvGrpSpPr>
            <p:cNvPr name="Group 9" id="9"/>
            <p:cNvGrpSpPr/>
            <p:nvPr/>
          </p:nvGrpSpPr>
          <p:grpSpPr>
            <a:xfrm rot="0">
              <a:off x="0" y="0"/>
              <a:ext cx="903667" cy="903667"/>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8E69E6"/>
              </a:solidFill>
            </p:spPr>
          </p:sp>
          <p:sp>
            <p:nvSpPr>
              <p:cNvPr name="TextBox 11" id="11"/>
              <p:cNvSpPr txBox="true"/>
              <p:nvPr/>
            </p:nvSpPr>
            <p:spPr>
              <a:xfrm>
                <a:off x="0" y="-47625"/>
                <a:ext cx="812800" cy="860425"/>
              </a:xfrm>
              <a:prstGeom prst="rect">
                <a:avLst/>
              </a:prstGeom>
            </p:spPr>
            <p:txBody>
              <a:bodyPr anchor="ctr" rtlCol="false" tIns="50800" lIns="50800" bIns="50800" rIns="50800"/>
              <a:lstStyle/>
              <a:p>
                <a:pPr algn="ctr">
                  <a:lnSpc>
                    <a:spcPts val="2239"/>
                  </a:lnSpc>
                </a:pPr>
              </a:p>
            </p:txBody>
          </p:sp>
        </p:grpSp>
        <p:sp>
          <p:nvSpPr>
            <p:cNvPr name="TextBox 12" id="12"/>
            <p:cNvSpPr txBox="true"/>
            <p:nvPr/>
          </p:nvSpPr>
          <p:spPr>
            <a:xfrm rot="0">
              <a:off x="121094" y="225139"/>
              <a:ext cx="661480" cy="405765"/>
            </a:xfrm>
            <a:prstGeom prst="rect">
              <a:avLst/>
            </a:prstGeom>
          </p:spPr>
          <p:txBody>
            <a:bodyPr anchor="t" rtlCol="false" tIns="0" lIns="0" bIns="0" rIns="0">
              <a:spAutoFit/>
            </a:bodyPr>
            <a:lstStyle/>
            <a:p>
              <a:pPr algn="ctr">
                <a:lnSpc>
                  <a:spcPts val="2519"/>
                </a:lnSpc>
                <a:spcBef>
                  <a:spcPct val="0"/>
                </a:spcBef>
              </a:pPr>
              <a:r>
                <a:rPr lang="en-US" b="true" sz="1799">
                  <a:solidFill>
                    <a:srgbClr val="FFFFFF"/>
                  </a:solidFill>
                  <a:latin typeface="Roboto Bold"/>
                  <a:ea typeface="Roboto Bold"/>
                  <a:cs typeface="Roboto Bold"/>
                  <a:sym typeface="Roboto Bold"/>
                </a:rPr>
                <a:t>FAZ</a:t>
              </a:r>
            </a:p>
          </p:txBody>
        </p:sp>
      </p:grpSp>
      <p:grpSp>
        <p:nvGrpSpPr>
          <p:cNvPr name="Group 13" id="13"/>
          <p:cNvGrpSpPr/>
          <p:nvPr/>
        </p:nvGrpSpPr>
        <p:grpSpPr>
          <a:xfrm rot="0">
            <a:off x="13502143" y="6387870"/>
            <a:ext cx="881961" cy="992076"/>
            <a:chOff x="0" y="0"/>
            <a:chExt cx="1175948" cy="1322767"/>
          </a:xfrm>
        </p:grpSpPr>
        <p:grpSp>
          <p:nvGrpSpPr>
            <p:cNvPr name="Group 14" id="14"/>
            <p:cNvGrpSpPr/>
            <p:nvPr/>
          </p:nvGrpSpPr>
          <p:grpSpPr>
            <a:xfrm rot="0">
              <a:off x="0" y="0"/>
              <a:ext cx="1175948" cy="1322767"/>
              <a:chOff x="0" y="0"/>
              <a:chExt cx="1057702" cy="1189758"/>
            </a:xfrm>
          </p:grpSpPr>
          <p:sp>
            <p:nvSpPr>
              <p:cNvPr name="Freeform 15" id="15"/>
              <p:cNvSpPr/>
              <p:nvPr/>
            </p:nvSpPr>
            <p:spPr>
              <a:xfrm flipH="false" flipV="false" rot="0">
                <a:off x="0" y="0"/>
                <a:ext cx="1057702" cy="1189758"/>
              </a:xfrm>
              <a:custGeom>
                <a:avLst/>
                <a:gdLst/>
                <a:ahLst/>
                <a:cxnLst/>
                <a:rect r="r" b="b" t="t" l="l"/>
                <a:pathLst>
                  <a:path h="1189758" w="1057702">
                    <a:moveTo>
                      <a:pt x="0" y="0"/>
                    </a:moveTo>
                    <a:lnTo>
                      <a:pt x="1057702" y="0"/>
                    </a:lnTo>
                    <a:lnTo>
                      <a:pt x="1057702" y="1189758"/>
                    </a:lnTo>
                    <a:lnTo>
                      <a:pt x="0" y="1189758"/>
                    </a:lnTo>
                    <a:close/>
                  </a:path>
                </a:pathLst>
              </a:custGeom>
              <a:solidFill>
                <a:srgbClr val="5561D3"/>
              </a:solidFill>
            </p:spPr>
          </p:sp>
          <p:sp>
            <p:nvSpPr>
              <p:cNvPr name="TextBox 16" id="16"/>
              <p:cNvSpPr txBox="true"/>
              <p:nvPr/>
            </p:nvSpPr>
            <p:spPr>
              <a:xfrm>
                <a:off x="0" y="-47625"/>
                <a:ext cx="1057702" cy="1237383"/>
              </a:xfrm>
              <a:prstGeom prst="rect">
                <a:avLst/>
              </a:prstGeom>
            </p:spPr>
            <p:txBody>
              <a:bodyPr anchor="ctr" rtlCol="false" tIns="50800" lIns="50800" bIns="50800" rIns="50800"/>
              <a:lstStyle/>
              <a:p>
                <a:pPr algn="ctr">
                  <a:lnSpc>
                    <a:spcPts val="2239"/>
                  </a:lnSpc>
                </a:pPr>
              </a:p>
            </p:txBody>
          </p:sp>
        </p:grpSp>
        <p:sp>
          <p:nvSpPr>
            <p:cNvPr name="TextBox 17" id="17"/>
            <p:cNvSpPr txBox="true"/>
            <p:nvPr/>
          </p:nvSpPr>
          <p:spPr>
            <a:xfrm rot="0">
              <a:off x="157580" y="225139"/>
              <a:ext cx="860789" cy="824865"/>
            </a:xfrm>
            <a:prstGeom prst="rect">
              <a:avLst/>
            </a:prstGeom>
          </p:spPr>
          <p:txBody>
            <a:bodyPr anchor="t" rtlCol="false" tIns="0" lIns="0" bIns="0" rIns="0">
              <a:spAutoFit/>
            </a:bodyPr>
            <a:lstStyle/>
            <a:p>
              <a:pPr algn="ctr">
                <a:lnSpc>
                  <a:spcPts val="2519"/>
                </a:lnSpc>
              </a:pPr>
              <a:r>
                <a:rPr lang="en-US" b="true" sz="1799">
                  <a:solidFill>
                    <a:srgbClr val="FFFFFF"/>
                  </a:solidFill>
                  <a:latin typeface="Roboto Bold"/>
                  <a:ea typeface="Roboto Bold"/>
                  <a:cs typeface="Roboto Bold"/>
                  <a:sym typeface="Roboto Bold"/>
                </a:rPr>
                <a:t>NÃO</a:t>
              </a:r>
            </a:p>
            <a:p>
              <a:pPr algn="ctr">
                <a:lnSpc>
                  <a:spcPts val="2519"/>
                </a:lnSpc>
                <a:spcBef>
                  <a:spcPct val="0"/>
                </a:spcBef>
              </a:pPr>
              <a:r>
                <a:rPr lang="en-US" b="true" sz="1799">
                  <a:solidFill>
                    <a:srgbClr val="FFFFFF"/>
                  </a:solidFill>
                  <a:latin typeface="Roboto Bold"/>
                  <a:ea typeface="Roboto Bold"/>
                  <a:cs typeface="Roboto Bold"/>
                  <a:sym typeface="Roboto Bold"/>
                </a:rPr>
                <a:t>FAZ</a:t>
              </a:r>
            </a:p>
          </p:txBody>
        </p:sp>
      </p:grpSp>
      <p:sp>
        <p:nvSpPr>
          <p:cNvPr name="Freeform 18" id="18"/>
          <p:cNvSpPr/>
          <p:nvPr/>
        </p:nvSpPr>
        <p:spPr>
          <a:xfrm flipH="false" flipV="false" rot="0">
            <a:off x="8481650" y="7222783"/>
            <a:ext cx="631771" cy="631771"/>
          </a:xfrm>
          <a:custGeom>
            <a:avLst/>
            <a:gdLst/>
            <a:ahLst/>
            <a:cxnLst/>
            <a:rect r="r" b="b" t="t" l="l"/>
            <a:pathLst>
              <a:path h="631771" w="631771">
                <a:moveTo>
                  <a:pt x="0" y="0"/>
                </a:moveTo>
                <a:lnTo>
                  <a:pt x="631772" y="0"/>
                </a:lnTo>
                <a:lnTo>
                  <a:pt x="631772" y="631771"/>
                </a:lnTo>
                <a:lnTo>
                  <a:pt x="0" y="63177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9" id="19"/>
          <p:cNvSpPr/>
          <p:nvPr/>
        </p:nvSpPr>
        <p:spPr>
          <a:xfrm flipH="true" flipV="false" rot="0">
            <a:off x="8997190" y="9247358"/>
            <a:ext cx="464527" cy="464527"/>
          </a:xfrm>
          <a:custGeom>
            <a:avLst/>
            <a:gdLst/>
            <a:ahLst/>
            <a:cxnLst/>
            <a:rect r="r" b="b" t="t" l="l"/>
            <a:pathLst>
              <a:path h="464527" w="464527">
                <a:moveTo>
                  <a:pt x="464527" y="0"/>
                </a:moveTo>
                <a:lnTo>
                  <a:pt x="0" y="0"/>
                </a:lnTo>
                <a:lnTo>
                  <a:pt x="0" y="464527"/>
                </a:lnTo>
                <a:lnTo>
                  <a:pt x="464527" y="464527"/>
                </a:lnTo>
                <a:lnTo>
                  <a:pt x="464527"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0" id="20"/>
          <p:cNvSpPr/>
          <p:nvPr/>
        </p:nvSpPr>
        <p:spPr>
          <a:xfrm flipH="false" flipV="false" rot="0">
            <a:off x="11808942" y="8292495"/>
            <a:ext cx="464527" cy="464527"/>
          </a:xfrm>
          <a:custGeom>
            <a:avLst/>
            <a:gdLst/>
            <a:ahLst/>
            <a:cxnLst/>
            <a:rect r="r" b="b" t="t" l="l"/>
            <a:pathLst>
              <a:path h="464527" w="464527">
                <a:moveTo>
                  <a:pt x="0" y="0"/>
                </a:moveTo>
                <a:lnTo>
                  <a:pt x="464527" y="0"/>
                </a:lnTo>
                <a:lnTo>
                  <a:pt x="464527" y="464527"/>
                </a:lnTo>
                <a:lnTo>
                  <a:pt x="0" y="46452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1" id="21"/>
          <p:cNvSpPr/>
          <p:nvPr/>
        </p:nvSpPr>
        <p:spPr>
          <a:xfrm flipH="true" flipV="false" rot="0">
            <a:off x="14812373" y="9088675"/>
            <a:ext cx="557815" cy="557815"/>
          </a:xfrm>
          <a:custGeom>
            <a:avLst/>
            <a:gdLst/>
            <a:ahLst/>
            <a:cxnLst/>
            <a:rect r="r" b="b" t="t" l="l"/>
            <a:pathLst>
              <a:path h="557815" w="557815">
                <a:moveTo>
                  <a:pt x="557815" y="0"/>
                </a:moveTo>
                <a:lnTo>
                  <a:pt x="0" y="0"/>
                </a:lnTo>
                <a:lnTo>
                  <a:pt x="0" y="557815"/>
                </a:lnTo>
                <a:lnTo>
                  <a:pt x="557815" y="557815"/>
                </a:lnTo>
                <a:lnTo>
                  <a:pt x="557815"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2" id="22"/>
          <p:cNvSpPr/>
          <p:nvPr/>
        </p:nvSpPr>
        <p:spPr>
          <a:xfrm flipH="false" flipV="false" rot="0">
            <a:off x="16857246" y="7921290"/>
            <a:ext cx="557815" cy="557815"/>
          </a:xfrm>
          <a:custGeom>
            <a:avLst/>
            <a:gdLst/>
            <a:ahLst/>
            <a:cxnLst/>
            <a:rect r="r" b="b" t="t" l="l"/>
            <a:pathLst>
              <a:path h="557815" w="557815">
                <a:moveTo>
                  <a:pt x="0" y="0"/>
                </a:moveTo>
                <a:lnTo>
                  <a:pt x="557815" y="0"/>
                </a:lnTo>
                <a:lnTo>
                  <a:pt x="557815" y="557815"/>
                </a:lnTo>
                <a:lnTo>
                  <a:pt x="0" y="55781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3" id="23"/>
          <p:cNvSpPr/>
          <p:nvPr/>
        </p:nvSpPr>
        <p:spPr>
          <a:xfrm flipH="false" flipV="false" rot="0">
            <a:off x="6775740" y="8639250"/>
            <a:ext cx="449425" cy="449425"/>
          </a:xfrm>
          <a:custGeom>
            <a:avLst/>
            <a:gdLst/>
            <a:ahLst/>
            <a:cxnLst/>
            <a:rect r="r" b="b" t="t" l="l"/>
            <a:pathLst>
              <a:path h="449425" w="449425">
                <a:moveTo>
                  <a:pt x="0" y="0"/>
                </a:moveTo>
                <a:lnTo>
                  <a:pt x="449425" y="0"/>
                </a:lnTo>
                <a:lnTo>
                  <a:pt x="449425" y="449425"/>
                </a:lnTo>
                <a:lnTo>
                  <a:pt x="0" y="44942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4" id="24"/>
          <p:cNvSpPr/>
          <p:nvPr/>
        </p:nvSpPr>
        <p:spPr>
          <a:xfrm flipH="true" flipV="false" rot="0">
            <a:off x="3336932" y="9088675"/>
            <a:ext cx="390946" cy="390946"/>
          </a:xfrm>
          <a:custGeom>
            <a:avLst/>
            <a:gdLst/>
            <a:ahLst/>
            <a:cxnLst/>
            <a:rect r="r" b="b" t="t" l="l"/>
            <a:pathLst>
              <a:path h="390946" w="390946">
                <a:moveTo>
                  <a:pt x="390946" y="0"/>
                </a:moveTo>
                <a:lnTo>
                  <a:pt x="0" y="0"/>
                </a:lnTo>
                <a:lnTo>
                  <a:pt x="0" y="390946"/>
                </a:lnTo>
                <a:lnTo>
                  <a:pt x="390946" y="390946"/>
                </a:lnTo>
                <a:lnTo>
                  <a:pt x="390946"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5" id="25"/>
          <p:cNvSpPr/>
          <p:nvPr/>
        </p:nvSpPr>
        <p:spPr>
          <a:xfrm flipH="false" flipV="false" rot="0">
            <a:off x="16794773" y="5500101"/>
            <a:ext cx="464527" cy="464527"/>
          </a:xfrm>
          <a:custGeom>
            <a:avLst/>
            <a:gdLst/>
            <a:ahLst/>
            <a:cxnLst/>
            <a:rect r="r" b="b" t="t" l="l"/>
            <a:pathLst>
              <a:path h="464527" w="464527">
                <a:moveTo>
                  <a:pt x="0" y="0"/>
                </a:moveTo>
                <a:lnTo>
                  <a:pt x="464527" y="0"/>
                </a:lnTo>
                <a:lnTo>
                  <a:pt x="464527" y="464527"/>
                </a:lnTo>
                <a:lnTo>
                  <a:pt x="0" y="46452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26" id="26"/>
          <p:cNvGrpSpPr/>
          <p:nvPr/>
        </p:nvGrpSpPr>
        <p:grpSpPr>
          <a:xfrm rot="0">
            <a:off x="13502143" y="2419912"/>
            <a:ext cx="677751" cy="681379"/>
            <a:chOff x="0" y="0"/>
            <a:chExt cx="903667" cy="908506"/>
          </a:xfrm>
        </p:grpSpPr>
        <p:grpSp>
          <p:nvGrpSpPr>
            <p:cNvPr name="Group 27" id="27"/>
            <p:cNvGrpSpPr/>
            <p:nvPr/>
          </p:nvGrpSpPr>
          <p:grpSpPr>
            <a:xfrm rot="0">
              <a:off x="0" y="0"/>
              <a:ext cx="903667" cy="903667"/>
              <a:chOff x="0" y="0"/>
              <a:chExt cx="812800" cy="812800"/>
            </a:xfrm>
          </p:grpSpPr>
          <p:sp>
            <p:nvSpPr>
              <p:cNvPr name="Freeform 28" id="28"/>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FB6BA2"/>
              </a:solidFill>
            </p:spPr>
          </p:sp>
          <p:sp>
            <p:nvSpPr>
              <p:cNvPr name="TextBox 29" id="29"/>
              <p:cNvSpPr txBox="true"/>
              <p:nvPr/>
            </p:nvSpPr>
            <p:spPr>
              <a:xfrm>
                <a:off x="0" y="-47625"/>
                <a:ext cx="812800" cy="860425"/>
              </a:xfrm>
              <a:prstGeom prst="rect">
                <a:avLst/>
              </a:prstGeom>
            </p:spPr>
            <p:txBody>
              <a:bodyPr anchor="ctr" rtlCol="false" tIns="50800" lIns="50800" bIns="50800" rIns="50800"/>
              <a:lstStyle/>
              <a:p>
                <a:pPr algn="ctr">
                  <a:lnSpc>
                    <a:spcPts val="2239"/>
                  </a:lnSpc>
                </a:pPr>
              </a:p>
            </p:txBody>
          </p:sp>
        </p:grpSp>
        <p:sp>
          <p:nvSpPr>
            <p:cNvPr name="TextBox 30" id="30"/>
            <p:cNvSpPr txBox="true"/>
            <p:nvPr/>
          </p:nvSpPr>
          <p:spPr>
            <a:xfrm rot="0">
              <a:off x="121094" y="83641"/>
              <a:ext cx="661480" cy="824865"/>
            </a:xfrm>
            <a:prstGeom prst="rect">
              <a:avLst/>
            </a:prstGeom>
          </p:spPr>
          <p:txBody>
            <a:bodyPr anchor="t" rtlCol="false" tIns="0" lIns="0" bIns="0" rIns="0">
              <a:spAutoFit/>
            </a:bodyPr>
            <a:lstStyle/>
            <a:p>
              <a:pPr algn="ctr">
                <a:lnSpc>
                  <a:spcPts val="2519"/>
                </a:lnSpc>
              </a:pPr>
              <a:r>
                <a:rPr lang="en-US" b="true" sz="1799">
                  <a:solidFill>
                    <a:srgbClr val="FFFFFF"/>
                  </a:solidFill>
                  <a:latin typeface="Roboto Bold"/>
                  <a:ea typeface="Roboto Bold"/>
                  <a:cs typeface="Roboto Bold"/>
                  <a:sym typeface="Roboto Bold"/>
                </a:rPr>
                <a:t>NÃO </a:t>
              </a:r>
            </a:p>
            <a:p>
              <a:pPr algn="ctr">
                <a:lnSpc>
                  <a:spcPts val="2519"/>
                </a:lnSpc>
                <a:spcBef>
                  <a:spcPct val="0"/>
                </a:spcBef>
              </a:pPr>
              <a:r>
                <a:rPr lang="en-US" b="true" sz="1799">
                  <a:solidFill>
                    <a:srgbClr val="FFFFFF"/>
                  </a:solidFill>
                  <a:latin typeface="Roboto Bold"/>
                  <a:ea typeface="Roboto Bold"/>
                  <a:cs typeface="Roboto Bold"/>
                  <a:sym typeface="Roboto Bold"/>
                </a:rPr>
                <a:t>É</a:t>
              </a:r>
            </a:p>
          </p:txBody>
        </p:sp>
      </p:grpSp>
      <p:grpSp>
        <p:nvGrpSpPr>
          <p:cNvPr name="Group 31" id="31"/>
          <p:cNvGrpSpPr/>
          <p:nvPr/>
        </p:nvGrpSpPr>
        <p:grpSpPr>
          <a:xfrm rot="0">
            <a:off x="4081382" y="2423541"/>
            <a:ext cx="677751" cy="677751"/>
            <a:chOff x="0" y="0"/>
            <a:chExt cx="903667" cy="903667"/>
          </a:xfrm>
        </p:grpSpPr>
        <p:grpSp>
          <p:nvGrpSpPr>
            <p:cNvPr name="Group 32" id="32"/>
            <p:cNvGrpSpPr/>
            <p:nvPr/>
          </p:nvGrpSpPr>
          <p:grpSpPr>
            <a:xfrm rot="0">
              <a:off x="0" y="0"/>
              <a:ext cx="903667" cy="903667"/>
              <a:chOff x="0" y="0"/>
              <a:chExt cx="812800" cy="812800"/>
            </a:xfrm>
          </p:grpSpPr>
          <p:sp>
            <p:nvSpPr>
              <p:cNvPr name="Freeform 33" id="33"/>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FF999A"/>
              </a:solidFill>
            </p:spPr>
          </p:sp>
          <p:sp>
            <p:nvSpPr>
              <p:cNvPr name="TextBox 34" id="34"/>
              <p:cNvSpPr txBox="true"/>
              <p:nvPr/>
            </p:nvSpPr>
            <p:spPr>
              <a:xfrm>
                <a:off x="0" y="-47625"/>
                <a:ext cx="812800" cy="860425"/>
              </a:xfrm>
              <a:prstGeom prst="rect">
                <a:avLst/>
              </a:prstGeom>
            </p:spPr>
            <p:txBody>
              <a:bodyPr anchor="ctr" rtlCol="false" tIns="50800" lIns="50800" bIns="50800" rIns="50800"/>
              <a:lstStyle/>
              <a:p>
                <a:pPr algn="ctr">
                  <a:lnSpc>
                    <a:spcPts val="2239"/>
                  </a:lnSpc>
                </a:pPr>
              </a:p>
            </p:txBody>
          </p:sp>
        </p:grpSp>
        <p:sp>
          <p:nvSpPr>
            <p:cNvPr name="TextBox 35" id="35"/>
            <p:cNvSpPr txBox="true"/>
            <p:nvPr/>
          </p:nvSpPr>
          <p:spPr>
            <a:xfrm rot="0">
              <a:off x="121094" y="215614"/>
              <a:ext cx="661480" cy="512657"/>
            </a:xfrm>
            <a:prstGeom prst="rect">
              <a:avLst/>
            </a:prstGeom>
          </p:spPr>
          <p:txBody>
            <a:bodyPr anchor="t" rtlCol="false" tIns="0" lIns="0" bIns="0" rIns="0">
              <a:spAutoFit/>
            </a:bodyPr>
            <a:lstStyle/>
            <a:p>
              <a:pPr algn="ctr">
                <a:lnSpc>
                  <a:spcPts val="3219"/>
                </a:lnSpc>
                <a:spcBef>
                  <a:spcPct val="0"/>
                </a:spcBef>
              </a:pPr>
              <a:r>
                <a:rPr lang="en-US" b="true" sz="2299">
                  <a:solidFill>
                    <a:srgbClr val="FFFFFF"/>
                  </a:solidFill>
                  <a:latin typeface="Roboto Bold"/>
                  <a:ea typeface="Roboto Bold"/>
                  <a:cs typeface="Roboto Bold"/>
                  <a:sym typeface="Roboto Bold"/>
                </a:rPr>
                <a:t>É</a:t>
              </a:r>
            </a:p>
          </p:txBody>
        </p:sp>
      </p:grpSp>
      <p:sp>
        <p:nvSpPr>
          <p:cNvPr name="Freeform 36" id="36"/>
          <p:cNvSpPr/>
          <p:nvPr/>
        </p:nvSpPr>
        <p:spPr>
          <a:xfrm flipH="true" flipV="false" rot="0">
            <a:off x="-648785" y="-265739"/>
            <a:ext cx="2697380" cy="2697380"/>
          </a:xfrm>
          <a:custGeom>
            <a:avLst/>
            <a:gdLst/>
            <a:ahLst/>
            <a:cxnLst/>
            <a:rect r="r" b="b" t="t" l="l"/>
            <a:pathLst>
              <a:path h="2697380" w="2697380">
                <a:moveTo>
                  <a:pt x="2697379" y="0"/>
                </a:moveTo>
                <a:lnTo>
                  <a:pt x="0" y="0"/>
                </a:lnTo>
                <a:lnTo>
                  <a:pt x="0" y="2697379"/>
                </a:lnTo>
                <a:lnTo>
                  <a:pt x="2697379" y="2697379"/>
                </a:lnTo>
                <a:lnTo>
                  <a:pt x="2697379"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37" id="37"/>
          <p:cNvSpPr/>
          <p:nvPr/>
        </p:nvSpPr>
        <p:spPr>
          <a:xfrm flipH="false" flipV="false" rot="0">
            <a:off x="-1709704" y="1028700"/>
            <a:ext cx="4819218" cy="1682345"/>
          </a:xfrm>
          <a:custGeom>
            <a:avLst/>
            <a:gdLst/>
            <a:ahLst/>
            <a:cxnLst/>
            <a:rect r="r" b="b" t="t" l="l"/>
            <a:pathLst>
              <a:path h="1682345" w="4819218">
                <a:moveTo>
                  <a:pt x="0" y="0"/>
                </a:moveTo>
                <a:lnTo>
                  <a:pt x="4819217" y="0"/>
                </a:lnTo>
                <a:lnTo>
                  <a:pt x="4819217" y="1682345"/>
                </a:lnTo>
                <a:lnTo>
                  <a:pt x="0" y="168234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38" id="38"/>
          <p:cNvSpPr/>
          <p:nvPr/>
        </p:nvSpPr>
        <p:spPr>
          <a:xfrm flipH="false" flipV="false" rot="0">
            <a:off x="15091281" y="390119"/>
            <a:ext cx="1564542" cy="1564542"/>
          </a:xfrm>
          <a:custGeom>
            <a:avLst/>
            <a:gdLst/>
            <a:ahLst/>
            <a:cxnLst/>
            <a:rect r="r" b="b" t="t" l="l"/>
            <a:pathLst>
              <a:path h="1564542" w="1564542">
                <a:moveTo>
                  <a:pt x="0" y="0"/>
                </a:moveTo>
                <a:lnTo>
                  <a:pt x="1564542" y="0"/>
                </a:lnTo>
                <a:lnTo>
                  <a:pt x="1564542" y="1564542"/>
                </a:lnTo>
                <a:lnTo>
                  <a:pt x="0" y="1564542"/>
                </a:lnTo>
                <a:lnTo>
                  <a:pt x="0" y="0"/>
                </a:lnTo>
                <a:close/>
              </a:path>
            </a:pathLst>
          </a:custGeom>
          <a:blipFill>
            <a:blip r:embed="rId10"/>
            <a:stretch>
              <a:fillRect l="0" t="0" r="0" b="0"/>
            </a:stretch>
          </a:blipFill>
        </p:spPr>
      </p:sp>
      <p:sp>
        <p:nvSpPr>
          <p:cNvPr name="TextBox 39" id="39"/>
          <p:cNvSpPr txBox="true"/>
          <p:nvPr/>
        </p:nvSpPr>
        <p:spPr>
          <a:xfrm rot="0">
            <a:off x="2273307" y="3425142"/>
            <a:ext cx="6524229" cy="2202180"/>
          </a:xfrm>
          <a:prstGeom prst="rect">
            <a:avLst/>
          </a:prstGeom>
        </p:spPr>
        <p:txBody>
          <a:bodyPr anchor="t" rtlCol="false" tIns="0" lIns="0" bIns="0" rIns="0">
            <a:spAutoFit/>
          </a:bodyPr>
          <a:lstStyle/>
          <a:p>
            <a:pPr algn="just" marL="388620" indent="-194310" lvl="1">
              <a:lnSpc>
                <a:spcPts val="2520"/>
              </a:lnSpc>
              <a:buFont typeface="Arial"/>
              <a:buChar char="•"/>
            </a:pPr>
            <a:r>
              <a:rPr lang="en-US" sz="1800">
                <a:solidFill>
                  <a:srgbClr val="FFFFFF"/>
                </a:solidFill>
                <a:latin typeface="Roboto"/>
                <a:ea typeface="Roboto"/>
                <a:cs typeface="Roboto"/>
                <a:sym typeface="Roboto"/>
              </a:rPr>
              <a:t>Uma plataforma digital de gamificação aplicada à atividade física.</a:t>
            </a:r>
          </a:p>
          <a:p>
            <a:pPr algn="just" marL="388620" indent="-194310" lvl="1">
              <a:lnSpc>
                <a:spcPts val="2520"/>
              </a:lnSpc>
              <a:buFont typeface="Arial"/>
              <a:buChar char="•"/>
            </a:pPr>
            <a:r>
              <a:rPr lang="en-US" sz="1800">
                <a:solidFill>
                  <a:srgbClr val="FFFFFF"/>
                </a:solidFill>
                <a:latin typeface="Roboto"/>
                <a:ea typeface="Roboto"/>
                <a:cs typeface="Roboto"/>
                <a:sym typeface="Roboto"/>
              </a:rPr>
              <a:t>Um sistema de progressão comportamental baseado em mecânicas de RPG.</a:t>
            </a:r>
          </a:p>
          <a:p>
            <a:pPr algn="just" marL="388620" indent="-194310" lvl="1">
              <a:lnSpc>
                <a:spcPts val="2520"/>
              </a:lnSpc>
              <a:buFont typeface="Arial"/>
              <a:buChar char="•"/>
            </a:pPr>
            <a:r>
              <a:rPr lang="en-US" sz="1800">
                <a:solidFill>
                  <a:srgbClr val="FFFFFF"/>
                </a:solidFill>
                <a:latin typeface="Roboto"/>
                <a:ea typeface="Roboto"/>
                <a:cs typeface="Roboto"/>
                <a:sym typeface="Roboto"/>
              </a:rPr>
              <a:t>Um produ</a:t>
            </a:r>
            <a:r>
              <a:rPr lang="en-US" sz="1800">
                <a:solidFill>
                  <a:srgbClr val="FFFFFF"/>
                </a:solidFill>
                <a:latin typeface="Roboto"/>
                <a:ea typeface="Roboto"/>
                <a:cs typeface="Roboto"/>
                <a:sym typeface="Roboto"/>
              </a:rPr>
              <a:t>to B2C focado em engajamento e retenção.</a:t>
            </a:r>
          </a:p>
          <a:p>
            <a:pPr algn="just">
              <a:lnSpc>
                <a:spcPts val="2520"/>
              </a:lnSpc>
            </a:pPr>
          </a:p>
          <a:p>
            <a:pPr algn="just">
              <a:lnSpc>
                <a:spcPts val="2520"/>
              </a:lnSpc>
              <a:spcBef>
                <a:spcPct val="0"/>
              </a:spcBef>
            </a:pPr>
          </a:p>
        </p:txBody>
      </p:sp>
      <p:sp>
        <p:nvSpPr>
          <p:cNvPr name="TextBox 40" id="40"/>
          <p:cNvSpPr txBox="true"/>
          <p:nvPr/>
        </p:nvSpPr>
        <p:spPr>
          <a:xfrm rot="0">
            <a:off x="6434549" y="551138"/>
            <a:ext cx="7841177" cy="911224"/>
          </a:xfrm>
          <a:prstGeom prst="rect">
            <a:avLst/>
          </a:prstGeom>
        </p:spPr>
        <p:txBody>
          <a:bodyPr anchor="t" rtlCol="false" tIns="0" lIns="0" bIns="0" rIns="0">
            <a:spAutoFit/>
          </a:bodyPr>
          <a:lstStyle/>
          <a:p>
            <a:pPr algn="l" marL="0" indent="0" lvl="0">
              <a:lnSpc>
                <a:spcPts val="7000"/>
              </a:lnSpc>
              <a:spcBef>
                <a:spcPct val="0"/>
              </a:spcBef>
            </a:pPr>
            <a:r>
              <a:rPr lang="en-US" sz="5000">
                <a:solidFill>
                  <a:srgbClr val="FFFFFF"/>
                </a:solidFill>
                <a:latin typeface="Arcade Gamer"/>
                <a:ea typeface="Arcade Gamer"/>
                <a:cs typeface="Arcade Gamer"/>
                <a:sym typeface="Arcade Gamer"/>
              </a:rPr>
              <a:t>NOSSO PRODUTO</a:t>
            </a:r>
          </a:p>
        </p:txBody>
      </p:sp>
      <p:sp>
        <p:nvSpPr>
          <p:cNvPr name="TextBox 41" id="41"/>
          <p:cNvSpPr txBox="true"/>
          <p:nvPr/>
        </p:nvSpPr>
        <p:spPr>
          <a:xfrm rot="0">
            <a:off x="2048594" y="7357185"/>
            <a:ext cx="6840115" cy="2516505"/>
          </a:xfrm>
          <a:prstGeom prst="rect">
            <a:avLst/>
          </a:prstGeom>
        </p:spPr>
        <p:txBody>
          <a:bodyPr anchor="t" rtlCol="false" tIns="0" lIns="0" bIns="0" rIns="0">
            <a:spAutoFit/>
          </a:bodyPr>
          <a:lstStyle/>
          <a:p>
            <a:pPr algn="just" marL="388620" indent="-194310" lvl="1">
              <a:lnSpc>
                <a:spcPts val="2520"/>
              </a:lnSpc>
              <a:buFont typeface="Arial"/>
              <a:buChar char="•"/>
            </a:pPr>
            <a:r>
              <a:rPr lang="en-US" sz="1800">
                <a:solidFill>
                  <a:srgbClr val="FFFFFF"/>
                </a:solidFill>
                <a:latin typeface="Roboto"/>
                <a:ea typeface="Roboto"/>
                <a:cs typeface="Roboto"/>
                <a:sym typeface="Roboto"/>
              </a:rPr>
              <a:t>Registra treinos de corrida e musculação.</a:t>
            </a:r>
          </a:p>
          <a:p>
            <a:pPr algn="just" marL="388620" indent="-194310" lvl="1">
              <a:lnSpc>
                <a:spcPts val="2520"/>
              </a:lnSpc>
              <a:buFont typeface="Arial"/>
              <a:buChar char="•"/>
            </a:pPr>
            <a:r>
              <a:rPr lang="en-US" sz="1800">
                <a:solidFill>
                  <a:srgbClr val="FFFFFF"/>
                </a:solidFill>
                <a:latin typeface="Roboto"/>
                <a:ea typeface="Roboto"/>
                <a:cs typeface="Roboto"/>
                <a:sym typeface="Roboto"/>
              </a:rPr>
              <a:t>Converte treinos em XP com regras claras e auditáveis.</a:t>
            </a:r>
          </a:p>
          <a:p>
            <a:pPr algn="just" marL="388620" indent="-194310" lvl="1">
              <a:lnSpc>
                <a:spcPts val="2520"/>
              </a:lnSpc>
              <a:buFont typeface="Arial"/>
              <a:buChar char="•"/>
            </a:pPr>
            <a:r>
              <a:rPr lang="en-US" sz="1800">
                <a:solidFill>
                  <a:srgbClr val="FFFFFF"/>
                </a:solidFill>
                <a:latin typeface="Roboto"/>
                <a:ea typeface="Roboto"/>
                <a:cs typeface="Roboto"/>
                <a:sym typeface="Roboto"/>
              </a:rPr>
              <a:t>Calcula níveis e progressão.</a:t>
            </a:r>
          </a:p>
          <a:p>
            <a:pPr algn="just" marL="388620" indent="-194310" lvl="1">
              <a:lnSpc>
                <a:spcPts val="2520"/>
              </a:lnSpc>
              <a:buFont typeface="Arial"/>
              <a:buChar char="•"/>
            </a:pPr>
            <a:r>
              <a:rPr lang="en-US" sz="1800">
                <a:solidFill>
                  <a:srgbClr val="FFFFFF"/>
                </a:solidFill>
                <a:latin typeface="Roboto"/>
                <a:ea typeface="Roboto"/>
                <a:cs typeface="Roboto"/>
                <a:sym typeface="Roboto"/>
              </a:rPr>
              <a:t>Gera conquistas baseadas em consistência.</a:t>
            </a:r>
          </a:p>
          <a:p>
            <a:pPr algn="just" marL="388620" indent="-194310" lvl="1">
              <a:lnSpc>
                <a:spcPts val="2520"/>
              </a:lnSpc>
              <a:buFont typeface="Arial"/>
              <a:buChar char="•"/>
            </a:pPr>
            <a:r>
              <a:rPr lang="en-US" sz="1800">
                <a:solidFill>
                  <a:srgbClr val="FFFFFF"/>
                </a:solidFill>
                <a:latin typeface="Roboto"/>
                <a:ea typeface="Roboto"/>
                <a:cs typeface="Roboto"/>
                <a:sym typeface="Roboto"/>
              </a:rPr>
              <a:t>Permite criação e participação em guildas.</a:t>
            </a:r>
          </a:p>
          <a:p>
            <a:pPr algn="just" marL="388620" indent="-194310" lvl="1">
              <a:lnSpc>
                <a:spcPts val="2520"/>
              </a:lnSpc>
              <a:buFont typeface="Arial"/>
              <a:buChar char="•"/>
            </a:pPr>
            <a:r>
              <a:rPr lang="en-US" sz="1800">
                <a:solidFill>
                  <a:srgbClr val="FFFFFF"/>
                </a:solidFill>
                <a:latin typeface="Roboto"/>
                <a:ea typeface="Roboto"/>
                <a:cs typeface="Roboto"/>
                <a:sym typeface="Roboto"/>
              </a:rPr>
              <a:t>Implementa desafios semanais com ranking interno.</a:t>
            </a:r>
          </a:p>
          <a:p>
            <a:pPr algn="just">
              <a:lnSpc>
                <a:spcPts val="2520"/>
              </a:lnSpc>
            </a:pPr>
          </a:p>
          <a:p>
            <a:pPr algn="just">
              <a:lnSpc>
                <a:spcPts val="2520"/>
              </a:lnSpc>
              <a:spcBef>
                <a:spcPct val="0"/>
              </a:spcBef>
            </a:pPr>
          </a:p>
        </p:txBody>
      </p:sp>
      <p:sp>
        <p:nvSpPr>
          <p:cNvPr name="Freeform 42" id="42"/>
          <p:cNvSpPr/>
          <p:nvPr/>
        </p:nvSpPr>
        <p:spPr>
          <a:xfrm flipH="false" flipV="false" rot="0">
            <a:off x="14180602" y="387653"/>
            <a:ext cx="631771" cy="631771"/>
          </a:xfrm>
          <a:custGeom>
            <a:avLst/>
            <a:gdLst/>
            <a:ahLst/>
            <a:cxnLst/>
            <a:rect r="r" b="b" t="t" l="l"/>
            <a:pathLst>
              <a:path h="631771" w="631771">
                <a:moveTo>
                  <a:pt x="0" y="0"/>
                </a:moveTo>
                <a:lnTo>
                  <a:pt x="631771" y="0"/>
                </a:lnTo>
                <a:lnTo>
                  <a:pt x="631771" y="631771"/>
                </a:lnTo>
                <a:lnTo>
                  <a:pt x="0" y="63177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3" id="43"/>
          <p:cNvSpPr/>
          <p:nvPr/>
        </p:nvSpPr>
        <p:spPr>
          <a:xfrm flipH="false" flipV="false" rot="0">
            <a:off x="17027037" y="387653"/>
            <a:ext cx="631771" cy="631771"/>
          </a:xfrm>
          <a:custGeom>
            <a:avLst/>
            <a:gdLst/>
            <a:ahLst/>
            <a:cxnLst/>
            <a:rect r="r" b="b" t="t" l="l"/>
            <a:pathLst>
              <a:path h="631771" w="631771">
                <a:moveTo>
                  <a:pt x="0" y="0"/>
                </a:moveTo>
                <a:lnTo>
                  <a:pt x="631771" y="0"/>
                </a:lnTo>
                <a:lnTo>
                  <a:pt x="631771" y="631771"/>
                </a:lnTo>
                <a:lnTo>
                  <a:pt x="0" y="63177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4" id="44"/>
          <p:cNvSpPr/>
          <p:nvPr/>
        </p:nvSpPr>
        <p:spPr>
          <a:xfrm flipH="false" flipV="false" rot="0">
            <a:off x="16655823" y="1308885"/>
            <a:ext cx="2505023" cy="874481"/>
          </a:xfrm>
          <a:custGeom>
            <a:avLst/>
            <a:gdLst/>
            <a:ahLst/>
            <a:cxnLst/>
            <a:rect r="r" b="b" t="t" l="l"/>
            <a:pathLst>
              <a:path h="874481" w="2505023">
                <a:moveTo>
                  <a:pt x="0" y="0"/>
                </a:moveTo>
                <a:lnTo>
                  <a:pt x="2505023" y="0"/>
                </a:lnTo>
                <a:lnTo>
                  <a:pt x="2505023" y="874480"/>
                </a:lnTo>
                <a:lnTo>
                  <a:pt x="0" y="87448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45" id="45"/>
          <p:cNvSpPr/>
          <p:nvPr/>
        </p:nvSpPr>
        <p:spPr>
          <a:xfrm flipH="false" flipV="false" rot="10712413">
            <a:off x="14496488" y="1396846"/>
            <a:ext cx="557815" cy="557815"/>
          </a:xfrm>
          <a:custGeom>
            <a:avLst/>
            <a:gdLst/>
            <a:ahLst/>
            <a:cxnLst/>
            <a:rect r="r" b="b" t="t" l="l"/>
            <a:pathLst>
              <a:path h="557815" w="557815">
                <a:moveTo>
                  <a:pt x="0" y="0"/>
                </a:moveTo>
                <a:lnTo>
                  <a:pt x="557815" y="0"/>
                </a:lnTo>
                <a:lnTo>
                  <a:pt x="557815" y="557815"/>
                </a:lnTo>
                <a:lnTo>
                  <a:pt x="0" y="55781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6" id="46"/>
          <p:cNvSpPr/>
          <p:nvPr/>
        </p:nvSpPr>
        <p:spPr>
          <a:xfrm flipH="false" flipV="false" rot="0">
            <a:off x="2896574" y="295939"/>
            <a:ext cx="631771" cy="631771"/>
          </a:xfrm>
          <a:custGeom>
            <a:avLst/>
            <a:gdLst/>
            <a:ahLst/>
            <a:cxnLst/>
            <a:rect r="r" b="b" t="t" l="l"/>
            <a:pathLst>
              <a:path h="631771" w="631771">
                <a:moveTo>
                  <a:pt x="0" y="0"/>
                </a:moveTo>
                <a:lnTo>
                  <a:pt x="631771" y="0"/>
                </a:lnTo>
                <a:lnTo>
                  <a:pt x="631771" y="631771"/>
                </a:lnTo>
                <a:lnTo>
                  <a:pt x="0" y="63177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7" id="47"/>
          <p:cNvSpPr/>
          <p:nvPr/>
        </p:nvSpPr>
        <p:spPr>
          <a:xfrm flipH="false" flipV="false" rot="10712413">
            <a:off x="3212460" y="1305132"/>
            <a:ext cx="557815" cy="557815"/>
          </a:xfrm>
          <a:custGeom>
            <a:avLst/>
            <a:gdLst/>
            <a:ahLst/>
            <a:cxnLst/>
            <a:rect r="r" b="b" t="t" l="l"/>
            <a:pathLst>
              <a:path h="557815" w="557815">
                <a:moveTo>
                  <a:pt x="0" y="0"/>
                </a:moveTo>
                <a:lnTo>
                  <a:pt x="557815" y="0"/>
                </a:lnTo>
                <a:lnTo>
                  <a:pt x="557815" y="557815"/>
                </a:lnTo>
                <a:lnTo>
                  <a:pt x="0" y="55781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8" id="48"/>
          <p:cNvSpPr txBox="true"/>
          <p:nvPr/>
        </p:nvSpPr>
        <p:spPr>
          <a:xfrm rot="0">
            <a:off x="11365090" y="3425142"/>
            <a:ext cx="5771064" cy="1887855"/>
          </a:xfrm>
          <a:prstGeom prst="rect">
            <a:avLst/>
          </a:prstGeom>
        </p:spPr>
        <p:txBody>
          <a:bodyPr anchor="t" rtlCol="false" tIns="0" lIns="0" bIns="0" rIns="0">
            <a:spAutoFit/>
          </a:bodyPr>
          <a:lstStyle/>
          <a:p>
            <a:pPr algn="just" marL="388620" indent="-194310" lvl="1">
              <a:lnSpc>
                <a:spcPts val="2520"/>
              </a:lnSpc>
              <a:buFont typeface="Arial"/>
              <a:buChar char="•"/>
            </a:pPr>
            <a:r>
              <a:rPr lang="en-US" sz="1800">
                <a:solidFill>
                  <a:srgbClr val="FFFFFF"/>
                </a:solidFill>
                <a:latin typeface="Roboto"/>
                <a:ea typeface="Roboto"/>
                <a:cs typeface="Roboto"/>
                <a:sym typeface="Roboto"/>
              </a:rPr>
              <a:t>Não é um aplicativo médico ou clínico.</a:t>
            </a:r>
          </a:p>
          <a:p>
            <a:pPr algn="just" marL="388620" indent="-194310" lvl="1">
              <a:lnSpc>
                <a:spcPts val="2520"/>
              </a:lnSpc>
              <a:buFont typeface="Arial"/>
              <a:buChar char="•"/>
            </a:pPr>
            <a:r>
              <a:rPr lang="en-US" sz="1800">
                <a:solidFill>
                  <a:srgbClr val="FFFFFF"/>
                </a:solidFill>
                <a:latin typeface="Roboto"/>
                <a:ea typeface="Roboto"/>
                <a:cs typeface="Roboto"/>
                <a:sym typeface="Roboto"/>
              </a:rPr>
              <a:t>Não é uma p</a:t>
            </a:r>
            <a:r>
              <a:rPr lang="en-US" sz="1800">
                <a:solidFill>
                  <a:srgbClr val="FFFFFF"/>
                </a:solidFill>
                <a:latin typeface="Roboto"/>
                <a:ea typeface="Roboto"/>
                <a:cs typeface="Roboto"/>
                <a:sym typeface="Roboto"/>
              </a:rPr>
              <a:t>lataforma de prescrição profissional de treino.</a:t>
            </a:r>
          </a:p>
          <a:p>
            <a:pPr algn="just" marL="388620" indent="-194310" lvl="1">
              <a:lnSpc>
                <a:spcPts val="2520"/>
              </a:lnSpc>
              <a:buFont typeface="Arial"/>
              <a:buChar char="•"/>
            </a:pPr>
            <a:r>
              <a:rPr lang="en-US" sz="1800">
                <a:solidFill>
                  <a:srgbClr val="FFFFFF"/>
                </a:solidFill>
                <a:latin typeface="Roboto"/>
                <a:ea typeface="Roboto"/>
                <a:cs typeface="Roboto"/>
                <a:sym typeface="Roboto"/>
              </a:rPr>
              <a:t>Nã</a:t>
            </a:r>
            <a:r>
              <a:rPr lang="en-US" sz="1800">
                <a:solidFill>
                  <a:srgbClr val="FFFFFF"/>
                </a:solidFill>
                <a:latin typeface="Roboto"/>
                <a:ea typeface="Roboto"/>
                <a:cs typeface="Roboto"/>
                <a:sym typeface="Roboto"/>
              </a:rPr>
              <a:t>o é um substituto de personal trainer.</a:t>
            </a:r>
          </a:p>
          <a:p>
            <a:pPr algn="just" marL="388620" indent="-194310" lvl="1">
              <a:lnSpc>
                <a:spcPts val="2520"/>
              </a:lnSpc>
              <a:buFont typeface="Arial"/>
              <a:buChar char="•"/>
            </a:pPr>
            <a:r>
              <a:rPr lang="en-US" sz="1800">
                <a:solidFill>
                  <a:srgbClr val="FFFFFF"/>
                </a:solidFill>
                <a:latin typeface="Roboto"/>
                <a:ea typeface="Roboto"/>
                <a:cs typeface="Roboto"/>
                <a:sym typeface="Roboto"/>
              </a:rPr>
              <a:t>Não é focado em atletas de alta performance.</a:t>
            </a:r>
          </a:p>
          <a:p>
            <a:pPr algn="just">
              <a:lnSpc>
                <a:spcPts val="2520"/>
              </a:lnSpc>
              <a:spcBef>
                <a:spcPct val="0"/>
              </a:spcBef>
            </a:pPr>
          </a:p>
        </p:txBody>
      </p:sp>
      <p:sp>
        <p:nvSpPr>
          <p:cNvPr name="TextBox 49" id="49"/>
          <p:cNvSpPr txBox="true"/>
          <p:nvPr/>
        </p:nvSpPr>
        <p:spPr>
          <a:xfrm rot="0">
            <a:off x="11116901" y="7703796"/>
            <a:ext cx="6267441" cy="2202180"/>
          </a:xfrm>
          <a:prstGeom prst="rect">
            <a:avLst/>
          </a:prstGeom>
        </p:spPr>
        <p:txBody>
          <a:bodyPr anchor="t" rtlCol="false" tIns="0" lIns="0" bIns="0" rIns="0">
            <a:spAutoFit/>
          </a:bodyPr>
          <a:lstStyle/>
          <a:p>
            <a:pPr algn="just" marL="388620" indent="-194310" lvl="1">
              <a:lnSpc>
                <a:spcPts val="2520"/>
              </a:lnSpc>
              <a:buFont typeface="Arial"/>
              <a:buChar char="•"/>
            </a:pPr>
            <a:r>
              <a:rPr lang="en-US" sz="1800">
                <a:solidFill>
                  <a:srgbClr val="FFFFFF"/>
                </a:solidFill>
                <a:latin typeface="Roboto"/>
                <a:ea typeface="Roboto"/>
                <a:cs typeface="Roboto"/>
                <a:sym typeface="Roboto"/>
              </a:rPr>
              <a:t>Não integra com dispositivos wearables inicialmente.</a:t>
            </a:r>
          </a:p>
          <a:p>
            <a:pPr algn="just" marL="388620" indent="-194310" lvl="1">
              <a:lnSpc>
                <a:spcPts val="2520"/>
              </a:lnSpc>
              <a:buFont typeface="Arial"/>
              <a:buChar char="•"/>
            </a:pPr>
            <a:r>
              <a:rPr lang="en-US" sz="1800">
                <a:solidFill>
                  <a:srgbClr val="FFFFFF"/>
                </a:solidFill>
                <a:latin typeface="Roboto"/>
                <a:ea typeface="Roboto"/>
                <a:cs typeface="Roboto"/>
                <a:sym typeface="Roboto"/>
              </a:rPr>
              <a:t>Não realiza monitoramento fisiológico.</a:t>
            </a:r>
          </a:p>
          <a:p>
            <a:pPr algn="just" marL="388620" indent="-194310" lvl="1">
              <a:lnSpc>
                <a:spcPts val="2520"/>
              </a:lnSpc>
              <a:buFont typeface="Arial"/>
              <a:buChar char="•"/>
            </a:pPr>
            <a:r>
              <a:rPr lang="en-US" sz="1800">
                <a:solidFill>
                  <a:srgbClr val="FFFFFF"/>
                </a:solidFill>
                <a:latin typeface="Roboto"/>
                <a:ea typeface="Roboto"/>
                <a:cs typeface="Roboto"/>
                <a:sym typeface="Roboto"/>
              </a:rPr>
              <a:t>Não impl</a:t>
            </a:r>
            <a:r>
              <a:rPr lang="en-US" sz="1800">
                <a:solidFill>
                  <a:srgbClr val="FFFFFF"/>
                </a:solidFill>
                <a:latin typeface="Roboto"/>
                <a:ea typeface="Roboto"/>
                <a:cs typeface="Roboto"/>
                <a:sym typeface="Roboto"/>
              </a:rPr>
              <a:t>ementa mundo 3D ou sistema gráfico complexo.</a:t>
            </a:r>
          </a:p>
          <a:p>
            <a:pPr algn="just" marL="388620" indent="-194310" lvl="1">
              <a:lnSpc>
                <a:spcPts val="2520"/>
              </a:lnSpc>
              <a:buFont typeface="Arial"/>
              <a:buChar char="•"/>
            </a:pPr>
            <a:r>
              <a:rPr lang="en-US" sz="1800">
                <a:solidFill>
                  <a:srgbClr val="FFFFFF"/>
                </a:solidFill>
                <a:latin typeface="Roboto"/>
                <a:ea typeface="Roboto"/>
                <a:cs typeface="Roboto"/>
                <a:sym typeface="Roboto"/>
              </a:rPr>
              <a:t>Não possui marketplace ou sistema de pagamentos avançado.</a:t>
            </a:r>
          </a:p>
          <a:p>
            <a:pPr algn="just">
              <a:lnSpc>
                <a:spcPts val="2520"/>
              </a:lnSpc>
            </a:pPr>
          </a:p>
          <a:p>
            <a:pPr algn="just">
              <a:lnSpc>
                <a:spcPts val="2520"/>
              </a:lnSpc>
              <a:spcBef>
                <a:spcPct val="0"/>
              </a:spcBef>
            </a:pP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2E1B5B"/>
        </a:solidFill>
      </p:bgPr>
    </p:bg>
    <p:spTree>
      <p:nvGrpSpPr>
        <p:cNvPr id="1" name=""/>
        <p:cNvGrpSpPr/>
        <p:nvPr/>
      </p:nvGrpSpPr>
      <p:grpSpPr>
        <a:xfrm>
          <a:off x="0" y="0"/>
          <a:ext cx="0" cy="0"/>
          <a:chOff x="0" y="0"/>
          <a:chExt cx="0" cy="0"/>
        </a:xfrm>
      </p:grpSpPr>
      <p:grpSp>
        <p:nvGrpSpPr>
          <p:cNvPr name="Group 2" id="2"/>
          <p:cNvGrpSpPr/>
          <p:nvPr/>
        </p:nvGrpSpPr>
        <p:grpSpPr>
          <a:xfrm rot="0">
            <a:off x="-26536" y="4158567"/>
            <a:ext cx="22374015" cy="6128433"/>
            <a:chOff x="0" y="0"/>
            <a:chExt cx="29832020" cy="8171245"/>
          </a:xfrm>
        </p:grpSpPr>
        <p:sp>
          <p:nvSpPr>
            <p:cNvPr name="Freeform 3" id="3"/>
            <p:cNvSpPr/>
            <p:nvPr/>
          </p:nvSpPr>
          <p:spPr>
            <a:xfrm flipH="true" flipV="false" rot="0">
              <a:off x="0" y="0"/>
              <a:ext cx="14916010" cy="8171245"/>
            </a:xfrm>
            <a:custGeom>
              <a:avLst/>
              <a:gdLst/>
              <a:ahLst/>
              <a:cxnLst/>
              <a:rect r="r" b="b" t="t" l="l"/>
              <a:pathLst>
                <a:path h="8171245" w="14916010">
                  <a:moveTo>
                    <a:pt x="14916010" y="0"/>
                  </a:moveTo>
                  <a:lnTo>
                    <a:pt x="0" y="0"/>
                  </a:lnTo>
                  <a:lnTo>
                    <a:pt x="0" y="8171245"/>
                  </a:lnTo>
                  <a:lnTo>
                    <a:pt x="14916010" y="8171245"/>
                  </a:lnTo>
                  <a:lnTo>
                    <a:pt x="14916010" y="0"/>
                  </a:lnTo>
                  <a:close/>
                </a:path>
              </a:pathLst>
            </a:custGeom>
            <a:blipFill>
              <a:blip r:embed="rId2">
                <a:alphaModFix amt="40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false" rot="0">
              <a:off x="14916010" y="0"/>
              <a:ext cx="14916010" cy="8171245"/>
            </a:xfrm>
            <a:custGeom>
              <a:avLst/>
              <a:gdLst/>
              <a:ahLst/>
              <a:cxnLst/>
              <a:rect r="r" b="b" t="t" l="l"/>
              <a:pathLst>
                <a:path h="8171245" w="14916010">
                  <a:moveTo>
                    <a:pt x="14916010" y="0"/>
                  </a:moveTo>
                  <a:lnTo>
                    <a:pt x="0" y="0"/>
                  </a:lnTo>
                  <a:lnTo>
                    <a:pt x="0" y="8171245"/>
                  </a:lnTo>
                  <a:lnTo>
                    <a:pt x="14916010" y="8171245"/>
                  </a:lnTo>
                  <a:lnTo>
                    <a:pt x="14916010" y="0"/>
                  </a:lnTo>
                  <a:close/>
                </a:path>
              </a:pathLst>
            </a:custGeom>
            <a:blipFill>
              <a:blip r:embed="rId2">
                <a:alphaModFix amt="40000"/>
                <a:extLst>
                  <a:ext uri="{96DAC541-7B7A-43D3-8B79-37D633B846F1}">
                    <asvg:svgBlip xmlns:asvg="http://schemas.microsoft.com/office/drawing/2016/SVG/main" r:embed="rId3"/>
                  </a:ext>
                </a:extLst>
              </a:blip>
              <a:stretch>
                <a:fillRect l="0" t="0" r="0" b="0"/>
              </a:stretch>
            </a:blipFill>
          </p:spPr>
        </p:sp>
      </p:grpSp>
      <p:sp>
        <p:nvSpPr>
          <p:cNvPr name="Freeform 5" id="5"/>
          <p:cNvSpPr/>
          <p:nvPr/>
        </p:nvSpPr>
        <p:spPr>
          <a:xfrm flipH="false" flipV="false" rot="0">
            <a:off x="11583933" y="4851303"/>
            <a:ext cx="5129322" cy="5435697"/>
          </a:xfrm>
          <a:custGeom>
            <a:avLst/>
            <a:gdLst/>
            <a:ahLst/>
            <a:cxnLst/>
            <a:rect r="r" b="b" t="t" l="l"/>
            <a:pathLst>
              <a:path h="5435697" w="5129322">
                <a:moveTo>
                  <a:pt x="0" y="0"/>
                </a:moveTo>
                <a:lnTo>
                  <a:pt x="5129321" y="0"/>
                </a:lnTo>
                <a:lnTo>
                  <a:pt x="5129321" y="5435697"/>
                </a:lnTo>
                <a:lnTo>
                  <a:pt x="0" y="543569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10416385" y="9258300"/>
            <a:ext cx="3303035" cy="960883"/>
          </a:xfrm>
          <a:custGeom>
            <a:avLst/>
            <a:gdLst/>
            <a:ahLst/>
            <a:cxnLst/>
            <a:rect r="r" b="b" t="t" l="l"/>
            <a:pathLst>
              <a:path h="960883" w="3303035">
                <a:moveTo>
                  <a:pt x="0" y="0"/>
                </a:moveTo>
                <a:lnTo>
                  <a:pt x="3303035" y="0"/>
                </a:lnTo>
                <a:lnTo>
                  <a:pt x="3303035" y="960883"/>
                </a:lnTo>
                <a:lnTo>
                  <a:pt x="0" y="96088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true" flipV="false" rot="0">
            <a:off x="13267668" y="1097026"/>
            <a:ext cx="2697380" cy="2697380"/>
          </a:xfrm>
          <a:custGeom>
            <a:avLst/>
            <a:gdLst/>
            <a:ahLst/>
            <a:cxnLst/>
            <a:rect r="r" b="b" t="t" l="l"/>
            <a:pathLst>
              <a:path h="2697380" w="2697380">
                <a:moveTo>
                  <a:pt x="2697380" y="0"/>
                </a:moveTo>
                <a:lnTo>
                  <a:pt x="0" y="0"/>
                </a:lnTo>
                <a:lnTo>
                  <a:pt x="0" y="2697380"/>
                </a:lnTo>
                <a:lnTo>
                  <a:pt x="2697380" y="2697380"/>
                </a:lnTo>
                <a:lnTo>
                  <a:pt x="269738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8" id="8"/>
          <p:cNvSpPr/>
          <p:nvPr/>
        </p:nvSpPr>
        <p:spPr>
          <a:xfrm flipH="false" flipV="false" rot="0">
            <a:off x="14849691" y="1752483"/>
            <a:ext cx="4819218" cy="1682345"/>
          </a:xfrm>
          <a:custGeom>
            <a:avLst/>
            <a:gdLst/>
            <a:ahLst/>
            <a:cxnLst/>
            <a:rect r="r" b="b" t="t" l="l"/>
            <a:pathLst>
              <a:path h="1682345" w="4819218">
                <a:moveTo>
                  <a:pt x="0" y="0"/>
                </a:moveTo>
                <a:lnTo>
                  <a:pt x="4819218" y="0"/>
                </a:lnTo>
                <a:lnTo>
                  <a:pt x="4819218" y="1682345"/>
                </a:lnTo>
                <a:lnTo>
                  <a:pt x="0" y="1682345"/>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9" id="9"/>
          <p:cNvSpPr/>
          <p:nvPr/>
        </p:nvSpPr>
        <p:spPr>
          <a:xfrm flipH="false" flipV="false" rot="0">
            <a:off x="9828829" y="1752483"/>
            <a:ext cx="3890591" cy="693233"/>
          </a:xfrm>
          <a:custGeom>
            <a:avLst/>
            <a:gdLst/>
            <a:ahLst/>
            <a:cxnLst/>
            <a:rect r="r" b="b" t="t" l="l"/>
            <a:pathLst>
              <a:path h="693233" w="3890591">
                <a:moveTo>
                  <a:pt x="0" y="0"/>
                </a:moveTo>
                <a:lnTo>
                  <a:pt x="3890591" y="0"/>
                </a:lnTo>
                <a:lnTo>
                  <a:pt x="3890591" y="693233"/>
                </a:lnTo>
                <a:lnTo>
                  <a:pt x="0" y="693233"/>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0" id="10"/>
          <p:cNvSpPr/>
          <p:nvPr/>
        </p:nvSpPr>
        <p:spPr>
          <a:xfrm flipH="false" flipV="false" rot="0">
            <a:off x="15016663" y="9170932"/>
            <a:ext cx="3716138" cy="1081058"/>
          </a:xfrm>
          <a:custGeom>
            <a:avLst/>
            <a:gdLst/>
            <a:ahLst/>
            <a:cxnLst/>
            <a:rect r="r" b="b" t="t" l="l"/>
            <a:pathLst>
              <a:path h="1081058" w="3716138">
                <a:moveTo>
                  <a:pt x="0" y="0"/>
                </a:moveTo>
                <a:lnTo>
                  <a:pt x="3716137" y="0"/>
                </a:lnTo>
                <a:lnTo>
                  <a:pt x="3716137" y="1081058"/>
                </a:lnTo>
                <a:lnTo>
                  <a:pt x="0" y="108105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1" id="11"/>
          <p:cNvSpPr/>
          <p:nvPr/>
        </p:nvSpPr>
        <p:spPr>
          <a:xfrm flipH="true" flipV="false" rot="0">
            <a:off x="-542181" y="9170932"/>
            <a:ext cx="3716138" cy="1081058"/>
          </a:xfrm>
          <a:custGeom>
            <a:avLst/>
            <a:gdLst/>
            <a:ahLst/>
            <a:cxnLst/>
            <a:rect r="r" b="b" t="t" l="l"/>
            <a:pathLst>
              <a:path h="1081058" w="3716138">
                <a:moveTo>
                  <a:pt x="3716138" y="0"/>
                </a:moveTo>
                <a:lnTo>
                  <a:pt x="0" y="0"/>
                </a:lnTo>
                <a:lnTo>
                  <a:pt x="0" y="1081058"/>
                </a:lnTo>
                <a:lnTo>
                  <a:pt x="3716138" y="1081058"/>
                </a:lnTo>
                <a:lnTo>
                  <a:pt x="3716138"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2" id="12"/>
          <p:cNvSpPr/>
          <p:nvPr/>
        </p:nvSpPr>
        <p:spPr>
          <a:xfrm flipH="false" flipV="false" rot="0">
            <a:off x="3173957" y="8126000"/>
            <a:ext cx="4020072" cy="2264600"/>
          </a:xfrm>
          <a:custGeom>
            <a:avLst/>
            <a:gdLst/>
            <a:ahLst/>
            <a:cxnLst/>
            <a:rect r="r" b="b" t="t" l="l"/>
            <a:pathLst>
              <a:path h="2264600" w="4020072">
                <a:moveTo>
                  <a:pt x="0" y="0"/>
                </a:moveTo>
                <a:lnTo>
                  <a:pt x="4020072" y="0"/>
                </a:lnTo>
                <a:lnTo>
                  <a:pt x="4020072" y="2264600"/>
                </a:lnTo>
                <a:lnTo>
                  <a:pt x="0" y="2264600"/>
                </a:lnTo>
                <a:lnTo>
                  <a:pt x="0" y="0"/>
                </a:lnTo>
                <a:close/>
              </a:path>
            </a:pathLst>
          </a:custGeom>
          <a:blipFill>
            <a:blip r:embed="rId14"/>
            <a:stretch>
              <a:fillRect l="-105172" t="-12242" r="-10680" b="-115269"/>
            </a:stretch>
          </a:blipFill>
        </p:spPr>
      </p:sp>
      <p:pic>
        <p:nvPicPr>
          <p:cNvPr name="Picture 13" id="13"/>
          <p:cNvPicPr>
            <a:picLocks noChangeAspect="true"/>
          </p:cNvPicPr>
          <p:nvPr/>
        </p:nvPicPr>
        <p:blipFill>
          <a:blip r:embed="rId15"/>
          <a:srcRect l="0" t="0" r="0" b="0"/>
          <a:stretch>
            <a:fillRect/>
          </a:stretch>
        </p:blipFill>
        <p:spPr>
          <a:xfrm flipH="true" flipV="false" rot="0">
            <a:off x="8161552" y="8514914"/>
            <a:ext cx="1667277" cy="1875686"/>
          </a:xfrm>
          <a:prstGeom prst="rect">
            <a:avLst/>
          </a:prstGeom>
        </p:spPr>
      </p:pic>
      <p:sp>
        <p:nvSpPr>
          <p:cNvPr name="TextBox 14" id="14"/>
          <p:cNvSpPr txBox="true"/>
          <p:nvPr/>
        </p:nvSpPr>
        <p:spPr>
          <a:xfrm rot="0">
            <a:off x="1715177" y="1510598"/>
            <a:ext cx="6054336" cy="911224"/>
          </a:xfrm>
          <a:prstGeom prst="rect">
            <a:avLst/>
          </a:prstGeom>
        </p:spPr>
        <p:txBody>
          <a:bodyPr anchor="t" rtlCol="false" tIns="0" lIns="0" bIns="0" rIns="0">
            <a:spAutoFit/>
          </a:bodyPr>
          <a:lstStyle/>
          <a:p>
            <a:pPr algn="l" marL="0" indent="0" lvl="0">
              <a:lnSpc>
                <a:spcPts val="7000"/>
              </a:lnSpc>
              <a:spcBef>
                <a:spcPct val="0"/>
              </a:spcBef>
            </a:pPr>
            <a:r>
              <a:rPr lang="en-US" sz="5000">
                <a:solidFill>
                  <a:srgbClr val="FFFFFF"/>
                </a:solidFill>
                <a:latin typeface="Arcade Gamer"/>
                <a:ea typeface="Arcade Gamer"/>
                <a:cs typeface="Arcade Gamer"/>
                <a:sym typeface="Arcade Gamer"/>
              </a:rPr>
              <a:t>MERCADO</a:t>
            </a:r>
          </a:p>
        </p:txBody>
      </p:sp>
      <p:sp>
        <p:nvSpPr>
          <p:cNvPr name="TextBox 15" id="15"/>
          <p:cNvSpPr txBox="true"/>
          <p:nvPr/>
        </p:nvSpPr>
        <p:spPr>
          <a:xfrm rot="0">
            <a:off x="1671356" y="2766012"/>
            <a:ext cx="9489115" cy="1887855"/>
          </a:xfrm>
          <a:prstGeom prst="rect">
            <a:avLst/>
          </a:prstGeom>
        </p:spPr>
        <p:txBody>
          <a:bodyPr anchor="t" rtlCol="false" tIns="0" lIns="0" bIns="0" rIns="0">
            <a:spAutoFit/>
          </a:bodyPr>
          <a:lstStyle/>
          <a:p>
            <a:pPr algn="just">
              <a:lnSpc>
                <a:spcPts val="2520"/>
              </a:lnSpc>
            </a:pPr>
            <a:r>
              <a:rPr lang="en-US" sz="1800">
                <a:solidFill>
                  <a:srgbClr val="FFFFFF"/>
                </a:solidFill>
                <a:latin typeface="Roboto"/>
                <a:ea typeface="Roboto"/>
                <a:cs typeface="Roboto"/>
                <a:sym typeface="Roboto"/>
              </a:rPr>
              <a:t>O mercado de fitness digital é consolidado e competitivo. Entre os principais players:</a:t>
            </a:r>
          </a:p>
          <a:p>
            <a:pPr algn="just" marL="388620" indent="-194310" lvl="1">
              <a:lnSpc>
                <a:spcPts val="2520"/>
              </a:lnSpc>
              <a:buFont typeface="Arial"/>
              <a:buChar char="•"/>
            </a:pPr>
            <a:r>
              <a:rPr lang="en-US" sz="1800">
                <a:solidFill>
                  <a:srgbClr val="FFFFFF"/>
                </a:solidFill>
                <a:latin typeface="Roboto"/>
                <a:ea typeface="Roboto"/>
                <a:cs typeface="Roboto"/>
                <a:sym typeface="Roboto"/>
              </a:rPr>
              <a:t>Strava → foco em tracking e competição social.</a:t>
            </a:r>
          </a:p>
          <a:p>
            <a:pPr algn="just" marL="388620" indent="-194310" lvl="1">
              <a:lnSpc>
                <a:spcPts val="2520"/>
              </a:lnSpc>
              <a:buFont typeface="Arial"/>
              <a:buChar char="•"/>
            </a:pPr>
            <a:r>
              <a:rPr lang="en-US" sz="1800">
                <a:solidFill>
                  <a:srgbClr val="FFFFFF"/>
                </a:solidFill>
                <a:latin typeface="Roboto"/>
                <a:ea typeface="Roboto"/>
                <a:cs typeface="Roboto"/>
                <a:sym typeface="Roboto"/>
              </a:rPr>
              <a:t>GymRats </a:t>
            </a:r>
            <a:r>
              <a:rPr lang="en-US" sz="1800">
                <a:solidFill>
                  <a:srgbClr val="FFFFFF"/>
                </a:solidFill>
                <a:latin typeface="Roboto"/>
                <a:ea typeface="Roboto"/>
                <a:cs typeface="Roboto"/>
                <a:sym typeface="Roboto"/>
              </a:rPr>
              <a:t>→ competição social.</a:t>
            </a:r>
          </a:p>
          <a:p>
            <a:pPr algn="just" marL="388620" indent="-194310" lvl="1">
              <a:lnSpc>
                <a:spcPts val="2520"/>
              </a:lnSpc>
              <a:buFont typeface="Arial"/>
              <a:buChar char="•"/>
            </a:pPr>
            <a:r>
              <a:rPr lang="en-US" sz="1800">
                <a:solidFill>
                  <a:srgbClr val="FFFFFF"/>
                </a:solidFill>
                <a:latin typeface="Roboto"/>
                <a:ea typeface="Roboto"/>
                <a:cs typeface="Roboto"/>
                <a:sym typeface="Roboto"/>
              </a:rPr>
              <a:t>Freeletics → personalização com foco em alta intensidade.</a:t>
            </a:r>
          </a:p>
          <a:p>
            <a:pPr algn="just" marL="388620" indent="-194310" lvl="1">
              <a:lnSpc>
                <a:spcPts val="2520"/>
              </a:lnSpc>
              <a:buFont typeface="Arial"/>
              <a:buChar char="•"/>
            </a:pPr>
            <a:r>
              <a:rPr lang="en-US" sz="1800">
                <a:solidFill>
                  <a:srgbClr val="FFFFFF"/>
                </a:solidFill>
                <a:latin typeface="Roboto"/>
                <a:ea typeface="Roboto"/>
                <a:cs typeface="Roboto"/>
                <a:sym typeface="Roboto"/>
              </a:rPr>
              <a:t>MyFitnessPal → controle nutricional e métricas.</a:t>
            </a:r>
          </a:p>
          <a:p>
            <a:pPr algn="just">
              <a:lnSpc>
                <a:spcPts val="2520"/>
              </a:lnSpc>
              <a:spcBef>
                <a:spcPct val="0"/>
              </a:spcBef>
            </a:pPr>
          </a:p>
        </p:txBody>
      </p:sp>
      <p:sp>
        <p:nvSpPr>
          <p:cNvPr name="TextBox 16" id="16"/>
          <p:cNvSpPr txBox="true"/>
          <p:nvPr/>
        </p:nvSpPr>
        <p:spPr>
          <a:xfrm rot="0">
            <a:off x="1715177" y="4683422"/>
            <a:ext cx="9514505" cy="2516505"/>
          </a:xfrm>
          <a:prstGeom prst="rect">
            <a:avLst/>
          </a:prstGeom>
        </p:spPr>
        <p:txBody>
          <a:bodyPr anchor="t" rtlCol="false" tIns="0" lIns="0" bIns="0" rIns="0">
            <a:spAutoFit/>
          </a:bodyPr>
          <a:lstStyle/>
          <a:p>
            <a:pPr algn="just">
              <a:lnSpc>
                <a:spcPts val="2520"/>
              </a:lnSpc>
            </a:pPr>
            <a:r>
              <a:rPr lang="en-US" sz="1800">
                <a:solidFill>
                  <a:srgbClr val="FFFFFF"/>
                </a:solidFill>
                <a:latin typeface="Roboto"/>
                <a:ea typeface="Roboto"/>
                <a:cs typeface="Roboto"/>
                <a:sym typeface="Roboto"/>
              </a:rPr>
              <a:t>A maioria das soluções de mercado hoje:</a:t>
            </a:r>
          </a:p>
          <a:p>
            <a:pPr algn="just" marL="388620" indent="-194310" lvl="1">
              <a:lnSpc>
                <a:spcPts val="2520"/>
              </a:lnSpc>
              <a:buFont typeface="Arial"/>
              <a:buChar char="•"/>
            </a:pPr>
            <a:r>
              <a:rPr lang="en-US" sz="1800">
                <a:solidFill>
                  <a:srgbClr val="FFFFFF"/>
                </a:solidFill>
                <a:latin typeface="Roboto"/>
                <a:ea typeface="Roboto"/>
                <a:cs typeface="Roboto"/>
                <a:sym typeface="Roboto"/>
              </a:rPr>
              <a:t>Mede performance.</a:t>
            </a:r>
          </a:p>
          <a:p>
            <a:pPr algn="just" marL="388620" indent="-194310" lvl="1">
              <a:lnSpc>
                <a:spcPts val="2520"/>
              </a:lnSpc>
              <a:buFont typeface="Arial"/>
              <a:buChar char="•"/>
            </a:pPr>
            <a:r>
              <a:rPr lang="en-US" sz="1800">
                <a:solidFill>
                  <a:srgbClr val="FFFFFF"/>
                </a:solidFill>
                <a:latin typeface="Roboto"/>
                <a:ea typeface="Roboto"/>
                <a:cs typeface="Roboto"/>
                <a:sym typeface="Roboto"/>
              </a:rPr>
              <a:t>Compara usuários.</a:t>
            </a:r>
          </a:p>
          <a:p>
            <a:pPr algn="just" marL="388620" indent="-194310" lvl="1">
              <a:lnSpc>
                <a:spcPts val="2520"/>
              </a:lnSpc>
              <a:buFont typeface="Arial"/>
              <a:buChar char="•"/>
            </a:pPr>
            <a:r>
              <a:rPr lang="en-US" sz="1800">
                <a:solidFill>
                  <a:srgbClr val="FFFFFF"/>
                </a:solidFill>
                <a:latin typeface="Roboto"/>
                <a:ea typeface="Roboto"/>
                <a:cs typeface="Roboto"/>
                <a:sym typeface="Roboto"/>
              </a:rPr>
              <a:t>Foca em resultado físico.</a:t>
            </a:r>
          </a:p>
          <a:p>
            <a:pPr algn="just">
              <a:lnSpc>
                <a:spcPts val="2520"/>
              </a:lnSpc>
            </a:pPr>
          </a:p>
          <a:p>
            <a:pPr algn="just">
              <a:lnSpc>
                <a:spcPts val="2520"/>
              </a:lnSpc>
            </a:pPr>
            <a:r>
              <a:rPr lang="en-US" sz="1800">
                <a:solidFill>
                  <a:srgbClr val="FFFFFF"/>
                </a:solidFill>
                <a:latin typeface="Roboto"/>
                <a:ea typeface="Roboto"/>
                <a:cs typeface="Roboto"/>
                <a:sym typeface="Roboto"/>
              </a:rPr>
              <a:t>Nenhuma estrutura progressão psicológica contínua baseada em consistência.</a:t>
            </a:r>
          </a:p>
          <a:p>
            <a:pPr algn="just">
              <a:lnSpc>
                <a:spcPts val="2520"/>
              </a:lnSpc>
            </a:pPr>
            <a:r>
              <a:rPr lang="en-US" sz="1800">
                <a:solidFill>
                  <a:srgbClr val="FFFFFF"/>
                </a:solidFill>
                <a:latin typeface="Roboto"/>
                <a:ea typeface="Roboto"/>
                <a:cs typeface="Roboto"/>
                <a:sym typeface="Roboto"/>
              </a:rPr>
              <a:t>O iniciante é frequentemente exposto a ranking, não a jornada.</a:t>
            </a:r>
          </a:p>
          <a:p>
            <a:pPr algn="just">
              <a:lnSpc>
                <a:spcPts val="2520"/>
              </a:lnSpc>
              <a:spcBef>
                <a:spcPct val="0"/>
              </a:spcBef>
            </a:pP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2E1B5B"/>
        </a:solidFill>
      </p:bgPr>
    </p:bg>
    <p:spTree>
      <p:nvGrpSpPr>
        <p:cNvPr id="1" name=""/>
        <p:cNvGrpSpPr/>
        <p:nvPr/>
      </p:nvGrpSpPr>
      <p:grpSpPr>
        <a:xfrm>
          <a:off x="0" y="0"/>
          <a:ext cx="0" cy="0"/>
          <a:chOff x="0" y="0"/>
          <a:chExt cx="0" cy="0"/>
        </a:xfrm>
      </p:grpSpPr>
      <p:grpSp>
        <p:nvGrpSpPr>
          <p:cNvPr name="Group 2" id="2"/>
          <p:cNvGrpSpPr/>
          <p:nvPr/>
        </p:nvGrpSpPr>
        <p:grpSpPr>
          <a:xfrm rot="0">
            <a:off x="-26536" y="4158567"/>
            <a:ext cx="22374015" cy="6128433"/>
            <a:chOff x="0" y="0"/>
            <a:chExt cx="29832020" cy="8171245"/>
          </a:xfrm>
        </p:grpSpPr>
        <p:sp>
          <p:nvSpPr>
            <p:cNvPr name="Freeform 3" id="3"/>
            <p:cNvSpPr/>
            <p:nvPr/>
          </p:nvSpPr>
          <p:spPr>
            <a:xfrm flipH="true" flipV="false" rot="0">
              <a:off x="0" y="0"/>
              <a:ext cx="14916010" cy="8171245"/>
            </a:xfrm>
            <a:custGeom>
              <a:avLst/>
              <a:gdLst/>
              <a:ahLst/>
              <a:cxnLst/>
              <a:rect r="r" b="b" t="t" l="l"/>
              <a:pathLst>
                <a:path h="8171245" w="14916010">
                  <a:moveTo>
                    <a:pt x="14916010" y="0"/>
                  </a:moveTo>
                  <a:lnTo>
                    <a:pt x="0" y="0"/>
                  </a:lnTo>
                  <a:lnTo>
                    <a:pt x="0" y="8171245"/>
                  </a:lnTo>
                  <a:lnTo>
                    <a:pt x="14916010" y="8171245"/>
                  </a:lnTo>
                  <a:lnTo>
                    <a:pt x="14916010" y="0"/>
                  </a:lnTo>
                  <a:close/>
                </a:path>
              </a:pathLst>
            </a:custGeom>
            <a:blipFill>
              <a:blip r:embed="rId2">
                <a:alphaModFix amt="40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false" rot="0">
              <a:off x="14916010" y="0"/>
              <a:ext cx="14916010" cy="8171245"/>
            </a:xfrm>
            <a:custGeom>
              <a:avLst/>
              <a:gdLst/>
              <a:ahLst/>
              <a:cxnLst/>
              <a:rect r="r" b="b" t="t" l="l"/>
              <a:pathLst>
                <a:path h="8171245" w="14916010">
                  <a:moveTo>
                    <a:pt x="14916010" y="0"/>
                  </a:moveTo>
                  <a:lnTo>
                    <a:pt x="0" y="0"/>
                  </a:lnTo>
                  <a:lnTo>
                    <a:pt x="0" y="8171245"/>
                  </a:lnTo>
                  <a:lnTo>
                    <a:pt x="14916010" y="8171245"/>
                  </a:lnTo>
                  <a:lnTo>
                    <a:pt x="14916010" y="0"/>
                  </a:lnTo>
                  <a:close/>
                </a:path>
              </a:pathLst>
            </a:custGeom>
            <a:blipFill>
              <a:blip r:embed="rId2">
                <a:alphaModFix amt="40000"/>
                <a:extLst>
                  <a:ext uri="{96DAC541-7B7A-43D3-8B79-37D633B846F1}">
                    <asvg:svgBlip xmlns:asvg="http://schemas.microsoft.com/office/drawing/2016/SVG/main" r:embed="rId3"/>
                  </a:ext>
                </a:extLst>
              </a:blip>
              <a:stretch>
                <a:fillRect l="0" t="0" r="0" b="0"/>
              </a:stretch>
            </a:blipFill>
          </p:spPr>
        </p:sp>
      </p:grpSp>
      <p:sp>
        <p:nvSpPr>
          <p:cNvPr name="Freeform 5" id="5"/>
          <p:cNvSpPr/>
          <p:nvPr/>
        </p:nvSpPr>
        <p:spPr>
          <a:xfrm flipH="false" flipV="false" rot="0">
            <a:off x="11583933" y="4851303"/>
            <a:ext cx="5129322" cy="5435697"/>
          </a:xfrm>
          <a:custGeom>
            <a:avLst/>
            <a:gdLst/>
            <a:ahLst/>
            <a:cxnLst/>
            <a:rect r="r" b="b" t="t" l="l"/>
            <a:pathLst>
              <a:path h="5435697" w="5129322">
                <a:moveTo>
                  <a:pt x="0" y="0"/>
                </a:moveTo>
                <a:lnTo>
                  <a:pt x="5129321" y="0"/>
                </a:lnTo>
                <a:lnTo>
                  <a:pt x="5129321" y="5435697"/>
                </a:lnTo>
                <a:lnTo>
                  <a:pt x="0" y="543569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10416385" y="9258300"/>
            <a:ext cx="3303035" cy="960883"/>
          </a:xfrm>
          <a:custGeom>
            <a:avLst/>
            <a:gdLst/>
            <a:ahLst/>
            <a:cxnLst/>
            <a:rect r="r" b="b" t="t" l="l"/>
            <a:pathLst>
              <a:path h="960883" w="3303035">
                <a:moveTo>
                  <a:pt x="0" y="0"/>
                </a:moveTo>
                <a:lnTo>
                  <a:pt x="3303035" y="0"/>
                </a:lnTo>
                <a:lnTo>
                  <a:pt x="3303035" y="960883"/>
                </a:lnTo>
                <a:lnTo>
                  <a:pt x="0" y="96088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true" flipV="false" rot="0">
            <a:off x="13267668" y="1097026"/>
            <a:ext cx="2697380" cy="2697380"/>
          </a:xfrm>
          <a:custGeom>
            <a:avLst/>
            <a:gdLst/>
            <a:ahLst/>
            <a:cxnLst/>
            <a:rect r="r" b="b" t="t" l="l"/>
            <a:pathLst>
              <a:path h="2697380" w="2697380">
                <a:moveTo>
                  <a:pt x="2697380" y="0"/>
                </a:moveTo>
                <a:lnTo>
                  <a:pt x="0" y="0"/>
                </a:lnTo>
                <a:lnTo>
                  <a:pt x="0" y="2697380"/>
                </a:lnTo>
                <a:lnTo>
                  <a:pt x="2697380" y="2697380"/>
                </a:lnTo>
                <a:lnTo>
                  <a:pt x="269738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8" id="8"/>
          <p:cNvSpPr/>
          <p:nvPr/>
        </p:nvSpPr>
        <p:spPr>
          <a:xfrm flipH="false" flipV="false" rot="0">
            <a:off x="14849691" y="1752483"/>
            <a:ext cx="4819218" cy="1682345"/>
          </a:xfrm>
          <a:custGeom>
            <a:avLst/>
            <a:gdLst/>
            <a:ahLst/>
            <a:cxnLst/>
            <a:rect r="r" b="b" t="t" l="l"/>
            <a:pathLst>
              <a:path h="1682345" w="4819218">
                <a:moveTo>
                  <a:pt x="0" y="0"/>
                </a:moveTo>
                <a:lnTo>
                  <a:pt x="4819218" y="0"/>
                </a:lnTo>
                <a:lnTo>
                  <a:pt x="4819218" y="1682345"/>
                </a:lnTo>
                <a:lnTo>
                  <a:pt x="0" y="1682345"/>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9" id="9"/>
          <p:cNvSpPr/>
          <p:nvPr/>
        </p:nvSpPr>
        <p:spPr>
          <a:xfrm flipH="false" flipV="false" rot="0">
            <a:off x="9828829" y="1752483"/>
            <a:ext cx="3890591" cy="693233"/>
          </a:xfrm>
          <a:custGeom>
            <a:avLst/>
            <a:gdLst/>
            <a:ahLst/>
            <a:cxnLst/>
            <a:rect r="r" b="b" t="t" l="l"/>
            <a:pathLst>
              <a:path h="693233" w="3890591">
                <a:moveTo>
                  <a:pt x="0" y="0"/>
                </a:moveTo>
                <a:lnTo>
                  <a:pt x="3890591" y="0"/>
                </a:lnTo>
                <a:lnTo>
                  <a:pt x="3890591" y="693233"/>
                </a:lnTo>
                <a:lnTo>
                  <a:pt x="0" y="693233"/>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0" id="10"/>
          <p:cNvSpPr/>
          <p:nvPr/>
        </p:nvSpPr>
        <p:spPr>
          <a:xfrm flipH="false" flipV="false" rot="0">
            <a:off x="15016663" y="9170932"/>
            <a:ext cx="3716138" cy="1081058"/>
          </a:xfrm>
          <a:custGeom>
            <a:avLst/>
            <a:gdLst/>
            <a:ahLst/>
            <a:cxnLst/>
            <a:rect r="r" b="b" t="t" l="l"/>
            <a:pathLst>
              <a:path h="1081058" w="3716138">
                <a:moveTo>
                  <a:pt x="0" y="0"/>
                </a:moveTo>
                <a:lnTo>
                  <a:pt x="3716137" y="0"/>
                </a:lnTo>
                <a:lnTo>
                  <a:pt x="3716137" y="1081058"/>
                </a:lnTo>
                <a:lnTo>
                  <a:pt x="0" y="108105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1" id="11"/>
          <p:cNvSpPr/>
          <p:nvPr/>
        </p:nvSpPr>
        <p:spPr>
          <a:xfrm flipH="true" flipV="false" rot="0">
            <a:off x="-542181" y="9170932"/>
            <a:ext cx="3716138" cy="1081058"/>
          </a:xfrm>
          <a:custGeom>
            <a:avLst/>
            <a:gdLst/>
            <a:ahLst/>
            <a:cxnLst/>
            <a:rect r="r" b="b" t="t" l="l"/>
            <a:pathLst>
              <a:path h="1081058" w="3716138">
                <a:moveTo>
                  <a:pt x="3716138" y="0"/>
                </a:moveTo>
                <a:lnTo>
                  <a:pt x="0" y="0"/>
                </a:lnTo>
                <a:lnTo>
                  <a:pt x="0" y="1081058"/>
                </a:lnTo>
                <a:lnTo>
                  <a:pt x="3716138" y="1081058"/>
                </a:lnTo>
                <a:lnTo>
                  <a:pt x="3716138"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2" id="12"/>
          <p:cNvSpPr/>
          <p:nvPr/>
        </p:nvSpPr>
        <p:spPr>
          <a:xfrm flipH="false" flipV="false" rot="0">
            <a:off x="3173957" y="8126000"/>
            <a:ext cx="4020072" cy="2264600"/>
          </a:xfrm>
          <a:custGeom>
            <a:avLst/>
            <a:gdLst/>
            <a:ahLst/>
            <a:cxnLst/>
            <a:rect r="r" b="b" t="t" l="l"/>
            <a:pathLst>
              <a:path h="2264600" w="4020072">
                <a:moveTo>
                  <a:pt x="0" y="0"/>
                </a:moveTo>
                <a:lnTo>
                  <a:pt x="4020072" y="0"/>
                </a:lnTo>
                <a:lnTo>
                  <a:pt x="4020072" y="2264600"/>
                </a:lnTo>
                <a:lnTo>
                  <a:pt x="0" y="2264600"/>
                </a:lnTo>
                <a:lnTo>
                  <a:pt x="0" y="0"/>
                </a:lnTo>
                <a:close/>
              </a:path>
            </a:pathLst>
          </a:custGeom>
          <a:blipFill>
            <a:blip r:embed="rId14"/>
            <a:stretch>
              <a:fillRect l="-105172" t="-12242" r="-10680" b="-115269"/>
            </a:stretch>
          </a:blipFill>
        </p:spPr>
      </p:sp>
      <p:pic>
        <p:nvPicPr>
          <p:cNvPr name="Picture 13" id="13"/>
          <p:cNvPicPr>
            <a:picLocks noChangeAspect="true"/>
          </p:cNvPicPr>
          <p:nvPr/>
        </p:nvPicPr>
        <p:blipFill>
          <a:blip r:embed="rId15"/>
          <a:srcRect l="0" t="0" r="0" b="0"/>
          <a:stretch>
            <a:fillRect/>
          </a:stretch>
        </p:blipFill>
        <p:spPr>
          <a:xfrm flipH="true" flipV="false" rot="0">
            <a:off x="8161552" y="8514914"/>
            <a:ext cx="1667277" cy="1875686"/>
          </a:xfrm>
          <a:prstGeom prst="rect">
            <a:avLst/>
          </a:prstGeom>
        </p:spPr>
      </p:pic>
      <p:sp>
        <p:nvSpPr>
          <p:cNvPr name="TextBox 14" id="14"/>
          <p:cNvSpPr txBox="true"/>
          <p:nvPr/>
        </p:nvSpPr>
        <p:spPr>
          <a:xfrm rot="0">
            <a:off x="1715177" y="1510598"/>
            <a:ext cx="6054336" cy="911224"/>
          </a:xfrm>
          <a:prstGeom prst="rect">
            <a:avLst/>
          </a:prstGeom>
        </p:spPr>
        <p:txBody>
          <a:bodyPr anchor="t" rtlCol="false" tIns="0" lIns="0" bIns="0" rIns="0">
            <a:spAutoFit/>
          </a:bodyPr>
          <a:lstStyle/>
          <a:p>
            <a:pPr algn="l" marL="0" indent="0" lvl="0">
              <a:lnSpc>
                <a:spcPts val="7000"/>
              </a:lnSpc>
              <a:spcBef>
                <a:spcPct val="0"/>
              </a:spcBef>
            </a:pPr>
            <a:r>
              <a:rPr lang="en-US" sz="5000">
                <a:solidFill>
                  <a:srgbClr val="FFFFFF"/>
                </a:solidFill>
                <a:latin typeface="Arcade Gamer"/>
                <a:ea typeface="Arcade Gamer"/>
                <a:cs typeface="Arcade Gamer"/>
                <a:sym typeface="Arcade Gamer"/>
              </a:rPr>
              <a:t>MERCADO</a:t>
            </a:r>
          </a:p>
        </p:txBody>
      </p:sp>
      <p:sp>
        <p:nvSpPr>
          <p:cNvPr name="TextBox 15" id="15"/>
          <p:cNvSpPr txBox="true"/>
          <p:nvPr/>
        </p:nvSpPr>
        <p:spPr>
          <a:xfrm rot="0">
            <a:off x="1671356" y="2766012"/>
            <a:ext cx="9489115" cy="1573530"/>
          </a:xfrm>
          <a:prstGeom prst="rect">
            <a:avLst/>
          </a:prstGeom>
        </p:spPr>
        <p:txBody>
          <a:bodyPr anchor="t" rtlCol="false" tIns="0" lIns="0" bIns="0" rIns="0">
            <a:spAutoFit/>
          </a:bodyPr>
          <a:lstStyle/>
          <a:p>
            <a:pPr algn="just">
              <a:lnSpc>
                <a:spcPts val="2520"/>
              </a:lnSpc>
            </a:pPr>
            <a:r>
              <a:rPr lang="en-US" sz="1800">
                <a:solidFill>
                  <a:srgbClr val="FFFFFF"/>
                </a:solidFill>
                <a:latin typeface="Roboto"/>
                <a:ea typeface="Roboto"/>
                <a:cs typeface="Roboto"/>
                <a:sym typeface="Roboto"/>
              </a:rPr>
              <a:t>Nós não competimos por:</a:t>
            </a:r>
          </a:p>
          <a:p>
            <a:pPr algn="just" marL="388620" indent="-194310" lvl="1">
              <a:lnSpc>
                <a:spcPts val="2520"/>
              </a:lnSpc>
              <a:buFont typeface="Arial"/>
              <a:buChar char="•"/>
            </a:pPr>
            <a:r>
              <a:rPr lang="en-US" sz="1800">
                <a:solidFill>
                  <a:srgbClr val="FFFFFF"/>
                </a:solidFill>
                <a:latin typeface="Roboto"/>
                <a:ea typeface="Roboto"/>
                <a:cs typeface="Roboto"/>
                <a:sym typeface="Roboto"/>
              </a:rPr>
              <a:t>P</a:t>
            </a:r>
            <a:r>
              <a:rPr lang="en-US" sz="1800">
                <a:solidFill>
                  <a:srgbClr val="FFFFFF"/>
                </a:solidFill>
                <a:latin typeface="Roboto"/>
                <a:ea typeface="Roboto"/>
                <a:cs typeface="Roboto"/>
                <a:sym typeface="Roboto"/>
              </a:rPr>
              <a:t>recisão de GPS.</a:t>
            </a:r>
          </a:p>
          <a:p>
            <a:pPr algn="just" marL="388620" indent="-194310" lvl="1">
              <a:lnSpc>
                <a:spcPts val="2520"/>
              </a:lnSpc>
              <a:buFont typeface="Arial"/>
              <a:buChar char="•"/>
            </a:pPr>
            <a:r>
              <a:rPr lang="en-US" sz="1800">
                <a:solidFill>
                  <a:srgbClr val="FFFFFF"/>
                </a:solidFill>
                <a:latin typeface="Roboto"/>
                <a:ea typeface="Roboto"/>
                <a:cs typeface="Roboto"/>
                <a:sym typeface="Roboto"/>
              </a:rPr>
              <a:t>B</a:t>
            </a:r>
            <a:r>
              <a:rPr lang="en-US" sz="1800">
                <a:solidFill>
                  <a:srgbClr val="FFFFFF"/>
                </a:solidFill>
                <a:latin typeface="Roboto"/>
                <a:ea typeface="Roboto"/>
                <a:cs typeface="Roboto"/>
                <a:sym typeface="Roboto"/>
              </a:rPr>
              <a:t>iblioteca de exercícios.</a:t>
            </a:r>
          </a:p>
          <a:p>
            <a:pPr algn="just" marL="388620" indent="-194310" lvl="1">
              <a:lnSpc>
                <a:spcPts val="2520"/>
              </a:lnSpc>
              <a:buFont typeface="Arial"/>
              <a:buChar char="•"/>
            </a:pPr>
            <a:r>
              <a:rPr lang="en-US" sz="1800">
                <a:solidFill>
                  <a:srgbClr val="FFFFFF"/>
                </a:solidFill>
                <a:latin typeface="Roboto"/>
                <a:ea typeface="Roboto"/>
                <a:cs typeface="Roboto"/>
                <a:sym typeface="Roboto"/>
              </a:rPr>
              <a:t>P</a:t>
            </a:r>
            <a:r>
              <a:rPr lang="en-US" sz="1800">
                <a:solidFill>
                  <a:srgbClr val="FFFFFF"/>
                </a:solidFill>
                <a:latin typeface="Roboto"/>
                <a:ea typeface="Roboto"/>
                <a:cs typeface="Roboto"/>
                <a:sym typeface="Roboto"/>
              </a:rPr>
              <a:t>rescrição avançada.</a:t>
            </a:r>
          </a:p>
          <a:p>
            <a:pPr algn="just">
              <a:lnSpc>
                <a:spcPts val="2520"/>
              </a:lnSpc>
              <a:spcBef>
                <a:spcPct val="0"/>
              </a:spcBef>
            </a:pPr>
          </a:p>
        </p:txBody>
      </p:sp>
      <p:sp>
        <p:nvSpPr>
          <p:cNvPr name="TextBox 16" id="16"/>
          <p:cNvSpPr txBox="true"/>
          <p:nvPr/>
        </p:nvSpPr>
        <p:spPr>
          <a:xfrm rot="0">
            <a:off x="1315888" y="4355050"/>
            <a:ext cx="9514505" cy="944880"/>
          </a:xfrm>
          <a:prstGeom prst="rect">
            <a:avLst/>
          </a:prstGeom>
        </p:spPr>
        <p:txBody>
          <a:bodyPr anchor="t" rtlCol="false" tIns="0" lIns="0" bIns="0" rIns="0">
            <a:spAutoFit/>
          </a:bodyPr>
          <a:lstStyle/>
          <a:p>
            <a:pPr algn="just">
              <a:lnSpc>
                <a:spcPts val="2520"/>
              </a:lnSpc>
            </a:pPr>
            <a:r>
              <a:rPr lang="en-US" sz="1800">
                <a:solidFill>
                  <a:srgbClr val="FFFFFF"/>
                </a:solidFill>
                <a:latin typeface="Roboto"/>
                <a:ea typeface="Roboto"/>
                <a:cs typeface="Roboto"/>
                <a:sym typeface="Roboto"/>
              </a:rPr>
              <a:t>Nosso diferencial é estrutural e preenchemos uma lacuna que não existe hoje, a</a:t>
            </a:r>
            <a:r>
              <a:rPr lang="en-US" sz="1800">
                <a:solidFill>
                  <a:srgbClr val="FFFFFF"/>
                </a:solidFill>
                <a:latin typeface="Roboto"/>
                <a:ea typeface="Roboto"/>
                <a:cs typeface="Roboto"/>
                <a:sym typeface="Roboto"/>
              </a:rPr>
              <a:t>plicam</a:t>
            </a:r>
            <a:r>
              <a:rPr lang="en-US" sz="1800">
                <a:solidFill>
                  <a:srgbClr val="FFFFFF"/>
                </a:solidFill>
                <a:latin typeface="Roboto"/>
                <a:ea typeface="Roboto"/>
                <a:cs typeface="Roboto"/>
                <a:sym typeface="Roboto"/>
              </a:rPr>
              <a:t>os mecânicas de progressão inspiradas em jogos para</a:t>
            </a:r>
            <a:r>
              <a:rPr lang="en-US" sz="1800" b="true">
                <a:solidFill>
                  <a:srgbClr val="FFFFFF"/>
                </a:solidFill>
                <a:latin typeface="Roboto Bold"/>
                <a:ea typeface="Roboto Bold"/>
                <a:cs typeface="Roboto Bold"/>
                <a:sym typeface="Roboto Bold"/>
              </a:rPr>
              <a:t> resolver um problema de adesão, </a:t>
            </a:r>
            <a:r>
              <a:rPr lang="en-US" sz="1800">
                <a:solidFill>
                  <a:srgbClr val="FFFFFF"/>
                </a:solidFill>
                <a:latin typeface="Roboto"/>
                <a:ea typeface="Roboto"/>
                <a:cs typeface="Roboto"/>
                <a:sym typeface="Roboto"/>
              </a:rPr>
              <a:t>não de performance.</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2E1B5B"/>
        </a:solidFill>
      </p:bgPr>
    </p:bg>
    <p:spTree>
      <p:nvGrpSpPr>
        <p:cNvPr id="1" name=""/>
        <p:cNvGrpSpPr/>
        <p:nvPr/>
      </p:nvGrpSpPr>
      <p:grpSpPr>
        <a:xfrm>
          <a:off x="0" y="0"/>
          <a:ext cx="0" cy="0"/>
          <a:chOff x="0" y="0"/>
          <a:chExt cx="0" cy="0"/>
        </a:xfrm>
      </p:grpSpPr>
      <p:grpSp>
        <p:nvGrpSpPr>
          <p:cNvPr name="Group 2" id="2"/>
          <p:cNvGrpSpPr/>
          <p:nvPr/>
        </p:nvGrpSpPr>
        <p:grpSpPr>
          <a:xfrm rot="0">
            <a:off x="-1249693" y="5287916"/>
            <a:ext cx="22374015" cy="6128433"/>
            <a:chOff x="0" y="0"/>
            <a:chExt cx="29832020" cy="8171245"/>
          </a:xfrm>
        </p:grpSpPr>
        <p:sp>
          <p:nvSpPr>
            <p:cNvPr name="Freeform 3" id="3"/>
            <p:cNvSpPr/>
            <p:nvPr/>
          </p:nvSpPr>
          <p:spPr>
            <a:xfrm flipH="true" flipV="false" rot="0">
              <a:off x="0" y="0"/>
              <a:ext cx="14916010" cy="8171245"/>
            </a:xfrm>
            <a:custGeom>
              <a:avLst/>
              <a:gdLst/>
              <a:ahLst/>
              <a:cxnLst/>
              <a:rect r="r" b="b" t="t" l="l"/>
              <a:pathLst>
                <a:path h="8171245" w="14916010">
                  <a:moveTo>
                    <a:pt x="14916010" y="0"/>
                  </a:moveTo>
                  <a:lnTo>
                    <a:pt x="0" y="0"/>
                  </a:lnTo>
                  <a:lnTo>
                    <a:pt x="0" y="8171245"/>
                  </a:lnTo>
                  <a:lnTo>
                    <a:pt x="14916010" y="8171245"/>
                  </a:lnTo>
                  <a:lnTo>
                    <a:pt x="14916010" y="0"/>
                  </a:lnTo>
                  <a:close/>
                </a:path>
              </a:pathLst>
            </a:custGeom>
            <a:blipFill>
              <a:blip r:embed="rId2">
                <a:alphaModFix amt="40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false" rot="0">
              <a:off x="14916010" y="0"/>
              <a:ext cx="14916010" cy="8171245"/>
            </a:xfrm>
            <a:custGeom>
              <a:avLst/>
              <a:gdLst/>
              <a:ahLst/>
              <a:cxnLst/>
              <a:rect r="r" b="b" t="t" l="l"/>
              <a:pathLst>
                <a:path h="8171245" w="14916010">
                  <a:moveTo>
                    <a:pt x="14916010" y="0"/>
                  </a:moveTo>
                  <a:lnTo>
                    <a:pt x="0" y="0"/>
                  </a:lnTo>
                  <a:lnTo>
                    <a:pt x="0" y="8171245"/>
                  </a:lnTo>
                  <a:lnTo>
                    <a:pt x="14916010" y="8171245"/>
                  </a:lnTo>
                  <a:lnTo>
                    <a:pt x="14916010" y="0"/>
                  </a:lnTo>
                  <a:close/>
                </a:path>
              </a:pathLst>
            </a:custGeom>
            <a:blipFill>
              <a:blip r:embed="rId2">
                <a:alphaModFix amt="40000"/>
                <a:extLst>
                  <a:ext uri="{96DAC541-7B7A-43D3-8B79-37D633B846F1}">
                    <asvg:svgBlip xmlns:asvg="http://schemas.microsoft.com/office/drawing/2016/SVG/main" r:embed="rId3"/>
                  </a:ext>
                </a:extLst>
              </a:blip>
              <a:stretch>
                <a:fillRect l="0" t="0" r="0" b="0"/>
              </a:stretch>
            </a:blipFill>
          </p:spPr>
        </p:sp>
      </p:grpSp>
      <p:sp>
        <p:nvSpPr>
          <p:cNvPr name="TextBox 5" id="5"/>
          <p:cNvSpPr txBox="true"/>
          <p:nvPr/>
        </p:nvSpPr>
        <p:spPr>
          <a:xfrm rot="0">
            <a:off x="2526147" y="1990043"/>
            <a:ext cx="8634324" cy="1797049"/>
          </a:xfrm>
          <a:prstGeom prst="rect">
            <a:avLst/>
          </a:prstGeom>
        </p:spPr>
        <p:txBody>
          <a:bodyPr anchor="t" rtlCol="false" tIns="0" lIns="0" bIns="0" rIns="0">
            <a:spAutoFit/>
          </a:bodyPr>
          <a:lstStyle/>
          <a:p>
            <a:pPr algn="l" marL="0" indent="0" lvl="0">
              <a:lnSpc>
                <a:spcPts val="7000"/>
              </a:lnSpc>
              <a:spcBef>
                <a:spcPct val="0"/>
              </a:spcBef>
            </a:pPr>
            <a:r>
              <a:rPr lang="en-US" sz="5000">
                <a:solidFill>
                  <a:srgbClr val="FFFFFF"/>
                </a:solidFill>
                <a:latin typeface="Arcade Gamer"/>
                <a:ea typeface="Arcade Gamer"/>
                <a:cs typeface="Arcade Gamer"/>
                <a:sym typeface="Arcade Gamer"/>
              </a:rPr>
              <a:t>MODELO</a:t>
            </a:r>
            <a:r>
              <a:rPr lang="en-US" sz="5000" strike="noStrike" u="none">
                <a:solidFill>
                  <a:srgbClr val="FFFFFF"/>
                </a:solidFill>
                <a:latin typeface="Arcade Gamer"/>
                <a:ea typeface="Arcade Gamer"/>
                <a:cs typeface="Arcade Gamer"/>
                <a:sym typeface="Arcade Gamer"/>
              </a:rPr>
              <a:t> DE NEGÓCIO</a:t>
            </a:r>
          </a:p>
          <a:p>
            <a:pPr algn="l" marL="0" indent="0" lvl="0">
              <a:lnSpc>
                <a:spcPts val="7000"/>
              </a:lnSpc>
              <a:spcBef>
                <a:spcPct val="0"/>
              </a:spcBef>
            </a:pPr>
          </a:p>
        </p:txBody>
      </p:sp>
      <p:grpSp>
        <p:nvGrpSpPr>
          <p:cNvPr name="Group 6" id="6"/>
          <p:cNvGrpSpPr/>
          <p:nvPr/>
        </p:nvGrpSpPr>
        <p:grpSpPr>
          <a:xfrm rot="0">
            <a:off x="1390396" y="4738538"/>
            <a:ext cx="677751" cy="677751"/>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FB6BA2"/>
            </a:solidFill>
          </p:spPr>
        </p:sp>
        <p:sp>
          <p:nvSpPr>
            <p:cNvPr name="TextBox 8" id="8"/>
            <p:cNvSpPr txBox="true"/>
            <p:nvPr/>
          </p:nvSpPr>
          <p:spPr>
            <a:xfrm>
              <a:off x="0" y="-47625"/>
              <a:ext cx="812800" cy="860425"/>
            </a:xfrm>
            <a:prstGeom prst="rect">
              <a:avLst/>
            </a:prstGeom>
          </p:spPr>
          <p:txBody>
            <a:bodyPr anchor="ctr" rtlCol="false" tIns="50800" lIns="50800" bIns="50800" rIns="50800"/>
            <a:lstStyle/>
            <a:p>
              <a:pPr algn="ctr">
                <a:lnSpc>
                  <a:spcPts val="2239"/>
                </a:lnSpc>
              </a:pPr>
            </a:p>
          </p:txBody>
        </p:sp>
      </p:grpSp>
      <p:grpSp>
        <p:nvGrpSpPr>
          <p:cNvPr name="Group 9" id="9"/>
          <p:cNvGrpSpPr/>
          <p:nvPr/>
        </p:nvGrpSpPr>
        <p:grpSpPr>
          <a:xfrm rot="0">
            <a:off x="1390396" y="3448216"/>
            <a:ext cx="677751" cy="677751"/>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FF999A"/>
            </a:solidFill>
          </p:spPr>
        </p:sp>
        <p:sp>
          <p:nvSpPr>
            <p:cNvPr name="TextBox 11" id="11"/>
            <p:cNvSpPr txBox="true"/>
            <p:nvPr/>
          </p:nvSpPr>
          <p:spPr>
            <a:xfrm>
              <a:off x="0" y="-47625"/>
              <a:ext cx="812800" cy="860425"/>
            </a:xfrm>
            <a:prstGeom prst="rect">
              <a:avLst/>
            </a:prstGeom>
          </p:spPr>
          <p:txBody>
            <a:bodyPr anchor="ctr" rtlCol="false" tIns="50800" lIns="50800" bIns="50800" rIns="50800"/>
            <a:lstStyle/>
            <a:p>
              <a:pPr algn="ctr">
                <a:lnSpc>
                  <a:spcPts val="2239"/>
                </a:lnSpc>
              </a:pPr>
            </a:p>
          </p:txBody>
        </p:sp>
      </p:grpSp>
      <p:sp>
        <p:nvSpPr>
          <p:cNvPr name="Freeform 12" id="12"/>
          <p:cNvSpPr/>
          <p:nvPr/>
        </p:nvSpPr>
        <p:spPr>
          <a:xfrm flipH="true" flipV="false" rot="0">
            <a:off x="15487514" y="5679519"/>
            <a:ext cx="3543572" cy="4607481"/>
          </a:xfrm>
          <a:custGeom>
            <a:avLst/>
            <a:gdLst/>
            <a:ahLst/>
            <a:cxnLst/>
            <a:rect r="r" b="b" t="t" l="l"/>
            <a:pathLst>
              <a:path h="4607481" w="3543572">
                <a:moveTo>
                  <a:pt x="3543572" y="0"/>
                </a:moveTo>
                <a:lnTo>
                  <a:pt x="0" y="0"/>
                </a:lnTo>
                <a:lnTo>
                  <a:pt x="0" y="4607481"/>
                </a:lnTo>
                <a:lnTo>
                  <a:pt x="3543572" y="4607481"/>
                </a:lnTo>
                <a:lnTo>
                  <a:pt x="3543572"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3" id="13"/>
          <p:cNvSpPr/>
          <p:nvPr/>
        </p:nvSpPr>
        <p:spPr>
          <a:xfrm flipH="false" flipV="false" rot="0">
            <a:off x="-1496685" y="730459"/>
            <a:ext cx="3474012" cy="1212746"/>
          </a:xfrm>
          <a:custGeom>
            <a:avLst/>
            <a:gdLst/>
            <a:ahLst/>
            <a:cxnLst/>
            <a:rect r="r" b="b" t="t" l="l"/>
            <a:pathLst>
              <a:path h="1212746" w="3474012">
                <a:moveTo>
                  <a:pt x="0" y="0"/>
                </a:moveTo>
                <a:lnTo>
                  <a:pt x="3474012" y="0"/>
                </a:lnTo>
                <a:lnTo>
                  <a:pt x="3474012" y="1212746"/>
                </a:lnTo>
                <a:lnTo>
                  <a:pt x="0" y="121274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4" id="14"/>
          <p:cNvSpPr/>
          <p:nvPr/>
        </p:nvSpPr>
        <p:spPr>
          <a:xfrm flipH="false" flipV="false" rot="0">
            <a:off x="14532871" y="763448"/>
            <a:ext cx="5270840" cy="1840002"/>
          </a:xfrm>
          <a:custGeom>
            <a:avLst/>
            <a:gdLst/>
            <a:ahLst/>
            <a:cxnLst/>
            <a:rect r="r" b="b" t="t" l="l"/>
            <a:pathLst>
              <a:path h="1840002" w="5270840">
                <a:moveTo>
                  <a:pt x="0" y="0"/>
                </a:moveTo>
                <a:lnTo>
                  <a:pt x="5270840" y="0"/>
                </a:lnTo>
                <a:lnTo>
                  <a:pt x="5270840" y="1840002"/>
                </a:lnTo>
                <a:lnTo>
                  <a:pt x="0" y="184000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5" id="15"/>
          <p:cNvSpPr/>
          <p:nvPr/>
        </p:nvSpPr>
        <p:spPr>
          <a:xfrm flipH="true" flipV="false" rot="0">
            <a:off x="8368497" y="990216"/>
            <a:ext cx="3890591" cy="693233"/>
          </a:xfrm>
          <a:custGeom>
            <a:avLst/>
            <a:gdLst/>
            <a:ahLst/>
            <a:cxnLst/>
            <a:rect r="r" b="b" t="t" l="l"/>
            <a:pathLst>
              <a:path h="693233" w="3890591">
                <a:moveTo>
                  <a:pt x="3890591" y="0"/>
                </a:moveTo>
                <a:lnTo>
                  <a:pt x="0" y="0"/>
                </a:lnTo>
                <a:lnTo>
                  <a:pt x="0" y="693233"/>
                </a:lnTo>
                <a:lnTo>
                  <a:pt x="3890591" y="693233"/>
                </a:lnTo>
                <a:lnTo>
                  <a:pt x="3890591"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6" id="16"/>
          <p:cNvSpPr/>
          <p:nvPr/>
        </p:nvSpPr>
        <p:spPr>
          <a:xfrm flipH="false" flipV="false" rot="0">
            <a:off x="12022475" y="-983929"/>
            <a:ext cx="7398251" cy="5854268"/>
          </a:xfrm>
          <a:custGeom>
            <a:avLst/>
            <a:gdLst/>
            <a:ahLst/>
            <a:cxnLst/>
            <a:rect r="r" b="b" t="t" l="l"/>
            <a:pathLst>
              <a:path h="5854268" w="7398251">
                <a:moveTo>
                  <a:pt x="0" y="0"/>
                </a:moveTo>
                <a:lnTo>
                  <a:pt x="7398250" y="0"/>
                </a:lnTo>
                <a:lnTo>
                  <a:pt x="7398250" y="5854268"/>
                </a:lnTo>
                <a:lnTo>
                  <a:pt x="0" y="5854268"/>
                </a:lnTo>
                <a:lnTo>
                  <a:pt x="0" y="0"/>
                </a:lnTo>
                <a:close/>
              </a:path>
            </a:pathLst>
          </a:custGeom>
          <a:blipFill>
            <a:blip r:embed="rId10"/>
            <a:stretch>
              <a:fillRect l="0" t="0" r="0" b="0"/>
            </a:stretch>
          </a:blipFill>
        </p:spPr>
      </p:sp>
      <p:sp>
        <p:nvSpPr>
          <p:cNvPr name="Freeform 17" id="17"/>
          <p:cNvSpPr/>
          <p:nvPr/>
        </p:nvSpPr>
        <p:spPr>
          <a:xfrm flipH="false" flipV="false" rot="0">
            <a:off x="2783230" y="7222783"/>
            <a:ext cx="5117056" cy="3725216"/>
          </a:xfrm>
          <a:custGeom>
            <a:avLst/>
            <a:gdLst/>
            <a:ahLst/>
            <a:cxnLst/>
            <a:rect r="r" b="b" t="t" l="l"/>
            <a:pathLst>
              <a:path h="3725216" w="5117056">
                <a:moveTo>
                  <a:pt x="0" y="0"/>
                </a:moveTo>
                <a:lnTo>
                  <a:pt x="5117056" y="0"/>
                </a:lnTo>
                <a:lnTo>
                  <a:pt x="5117056" y="3725217"/>
                </a:lnTo>
                <a:lnTo>
                  <a:pt x="0" y="3725217"/>
                </a:lnTo>
                <a:lnTo>
                  <a:pt x="0" y="0"/>
                </a:lnTo>
                <a:close/>
              </a:path>
            </a:pathLst>
          </a:custGeom>
          <a:blipFill>
            <a:blip r:embed="rId11"/>
            <a:stretch>
              <a:fillRect l="0" t="0" r="0" b="0"/>
            </a:stretch>
          </a:blipFill>
        </p:spPr>
      </p:sp>
      <p:sp>
        <p:nvSpPr>
          <p:cNvPr name="Freeform 18" id="18"/>
          <p:cNvSpPr/>
          <p:nvPr/>
        </p:nvSpPr>
        <p:spPr>
          <a:xfrm flipH="false" flipV="false" rot="0">
            <a:off x="6318224" y="7222783"/>
            <a:ext cx="5991047" cy="4361482"/>
          </a:xfrm>
          <a:custGeom>
            <a:avLst/>
            <a:gdLst/>
            <a:ahLst/>
            <a:cxnLst/>
            <a:rect r="r" b="b" t="t" l="l"/>
            <a:pathLst>
              <a:path h="4361482" w="5991047">
                <a:moveTo>
                  <a:pt x="0" y="0"/>
                </a:moveTo>
                <a:lnTo>
                  <a:pt x="5991046" y="0"/>
                </a:lnTo>
                <a:lnTo>
                  <a:pt x="5991046" y="4361482"/>
                </a:lnTo>
                <a:lnTo>
                  <a:pt x="0" y="4361482"/>
                </a:lnTo>
                <a:lnTo>
                  <a:pt x="0" y="0"/>
                </a:lnTo>
                <a:close/>
              </a:path>
            </a:pathLst>
          </a:custGeom>
          <a:blipFill>
            <a:blip r:embed="rId11"/>
            <a:stretch>
              <a:fillRect l="0" t="0" r="0" b="0"/>
            </a:stretch>
          </a:blipFill>
        </p:spPr>
      </p:sp>
      <p:sp>
        <p:nvSpPr>
          <p:cNvPr name="Freeform 19" id="19"/>
          <p:cNvSpPr/>
          <p:nvPr/>
        </p:nvSpPr>
        <p:spPr>
          <a:xfrm flipH="false" flipV="false" rot="0">
            <a:off x="10525168" y="7277512"/>
            <a:ext cx="5991047" cy="4361482"/>
          </a:xfrm>
          <a:custGeom>
            <a:avLst/>
            <a:gdLst/>
            <a:ahLst/>
            <a:cxnLst/>
            <a:rect r="r" b="b" t="t" l="l"/>
            <a:pathLst>
              <a:path h="4361482" w="5991047">
                <a:moveTo>
                  <a:pt x="0" y="0"/>
                </a:moveTo>
                <a:lnTo>
                  <a:pt x="5991046" y="0"/>
                </a:lnTo>
                <a:lnTo>
                  <a:pt x="5991046" y="4361481"/>
                </a:lnTo>
                <a:lnTo>
                  <a:pt x="0" y="4361481"/>
                </a:lnTo>
                <a:lnTo>
                  <a:pt x="0" y="0"/>
                </a:lnTo>
                <a:close/>
              </a:path>
            </a:pathLst>
          </a:custGeom>
          <a:blipFill>
            <a:blip r:embed="rId11"/>
            <a:stretch>
              <a:fillRect l="0" t="0" r="0" b="0"/>
            </a:stretch>
          </a:blipFill>
        </p:spPr>
      </p:sp>
      <p:sp>
        <p:nvSpPr>
          <p:cNvPr name="Freeform 20" id="20"/>
          <p:cNvSpPr/>
          <p:nvPr/>
        </p:nvSpPr>
        <p:spPr>
          <a:xfrm flipH="false" flipV="false" rot="0">
            <a:off x="-26536" y="7222783"/>
            <a:ext cx="3528839" cy="3528839"/>
          </a:xfrm>
          <a:custGeom>
            <a:avLst/>
            <a:gdLst/>
            <a:ahLst/>
            <a:cxnLst/>
            <a:rect r="r" b="b" t="t" l="l"/>
            <a:pathLst>
              <a:path h="3528839" w="3528839">
                <a:moveTo>
                  <a:pt x="0" y="0"/>
                </a:moveTo>
                <a:lnTo>
                  <a:pt x="3528839" y="0"/>
                </a:lnTo>
                <a:lnTo>
                  <a:pt x="3528839" y="3528840"/>
                </a:lnTo>
                <a:lnTo>
                  <a:pt x="0" y="3528840"/>
                </a:lnTo>
                <a:lnTo>
                  <a:pt x="0" y="0"/>
                </a:lnTo>
                <a:close/>
              </a:path>
            </a:pathLst>
          </a:custGeom>
          <a:blipFill>
            <a:blip r:embed="rId12"/>
            <a:stretch>
              <a:fillRect l="0" t="0" r="0" b="0"/>
            </a:stretch>
          </a:blipFill>
        </p:spPr>
      </p:sp>
      <p:sp>
        <p:nvSpPr>
          <p:cNvPr name="TextBox 21" id="21"/>
          <p:cNvSpPr txBox="true"/>
          <p:nvPr/>
        </p:nvSpPr>
        <p:spPr>
          <a:xfrm rot="0">
            <a:off x="2449754" y="3351913"/>
            <a:ext cx="9191113" cy="944880"/>
          </a:xfrm>
          <a:prstGeom prst="rect">
            <a:avLst/>
          </a:prstGeom>
        </p:spPr>
        <p:txBody>
          <a:bodyPr anchor="t" rtlCol="false" tIns="0" lIns="0" bIns="0" rIns="0">
            <a:spAutoFit/>
          </a:bodyPr>
          <a:lstStyle/>
          <a:p>
            <a:pPr algn="just">
              <a:lnSpc>
                <a:spcPts val="2520"/>
              </a:lnSpc>
              <a:spcBef>
                <a:spcPct val="0"/>
              </a:spcBef>
            </a:pPr>
            <a:r>
              <a:rPr lang="en-US" sz="1800">
                <a:solidFill>
                  <a:srgbClr val="FFFFFF"/>
                </a:solidFill>
                <a:latin typeface="Roboto"/>
                <a:ea typeface="Roboto"/>
                <a:cs typeface="Roboto"/>
                <a:sym typeface="Roboto"/>
              </a:rPr>
              <a:t>O modelo inicial será freemium. Usuários terão acesso gratuito ao registro básico e sistema inicial de progressão. Recursos avançados como guildas premium, eventos especiais e personalizações estarão no plano pago.</a:t>
            </a:r>
          </a:p>
        </p:txBody>
      </p:sp>
      <p:sp>
        <p:nvSpPr>
          <p:cNvPr name="TextBox 22" id="22"/>
          <p:cNvSpPr txBox="true"/>
          <p:nvPr/>
        </p:nvSpPr>
        <p:spPr>
          <a:xfrm rot="0">
            <a:off x="1481216" y="4895485"/>
            <a:ext cx="496110" cy="316230"/>
          </a:xfrm>
          <a:prstGeom prst="rect">
            <a:avLst/>
          </a:prstGeom>
        </p:spPr>
        <p:txBody>
          <a:bodyPr anchor="t" rtlCol="false" tIns="0" lIns="0" bIns="0" rIns="0">
            <a:spAutoFit/>
          </a:bodyPr>
          <a:lstStyle/>
          <a:p>
            <a:pPr algn="ctr">
              <a:lnSpc>
                <a:spcPts val="2519"/>
              </a:lnSpc>
              <a:spcBef>
                <a:spcPct val="0"/>
              </a:spcBef>
            </a:pPr>
            <a:r>
              <a:rPr lang="en-US" b="true" sz="1799">
                <a:solidFill>
                  <a:srgbClr val="FFFFFF"/>
                </a:solidFill>
                <a:latin typeface="Roboto Bold"/>
                <a:ea typeface="Roboto Bold"/>
                <a:cs typeface="Roboto Bold"/>
                <a:sym typeface="Roboto Bold"/>
              </a:rPr>
              <a:t>02</a:t>
            </a:r>
          </a:p>
        </p:txBody>
      </p:sp>
      <p:sp>
        <p:nvSpPr>
          <p:cNvPr name="TextBox 23" id="23"/>
          <p:cNvSpPr txBox="true"/>
          <p:nvPr/>
        </p:nvSpPr>
        <p:spPr>
          <a:xfrm rot="0">
            <a:off x="1489828" y="3605164"/>
            <a:ext cx="496110" cy="316230"/>
          </a:xfrm>
          <a:prstGeom prst="rect">
            <a:avLst/>
          </a:prstGeom>
        </p:spPr>
        <p:txBody>
          <a:bodyPr anchor="t" rtlCol="false" tIns="0" lIns="0" bIns="0" rIns="0">
            <a:spAutoFit/>
          </a:bodyPr>
          <a:lstStyle/>
          <a:p>
            <a:pPr algn="ctr">
              <a:lnSpc>
                <a:spcPts val="2519"/>
              </a:lnSpc>
              <a:spcBef>
                <a:spcPct val="0"/>
              </a:spcBef>
            </a:pPr>
            <a:r>
              <a:rPr lang="en-US" b="true" sz="1799">
                <a:solidFill>
                  <a:srgbClr val="FFFFFF"/>
                </a:solidFill>
                <a:latin typeface="Roboto Bold"/>
                <a:ea typeface="Roboto Bold"/>
                <a:cs typeface="Roboto Bold"/>
                <a:sym typeface="Roboto Bold"/>
              </a:rPr>
              <a:t>01</a:t>
            </a:r>
          </a:p>
        </p:txBody>
      </p:sp>
      <p:sp>
        <p:nvSpPr>
          <p:cNvPr name="TextBox 24" id="24"/>
          <p:cNvSpPr txBox="true"/>
          <p:nvPr/>
        </p:nvSpPr>
        <p:spPr>
          <a:xfrm rot="0">
            <a:off x="2449754" y="4634501"/>
            <a:ext cx="12305322" cy="1259205"/>
          </a:xfrm>
          <a:prstGeom prst="rect">
            <a:avLst/>
          </a:prstGeom>
        </p:spPr>
        <p:txBody>
          <a:bodyPr anchor="t" rtlCol="false" tIns="0" lIns="0" bIns="0" rIns="0">
            <a:spAutoFit/>
          </a:bodyPr>
          <a:lstStyle/>
          <a:p>
            <a:pPr algn="just">
              <a:lnSpc>
                <a:spcPts val="2520"/>
              </a:lnSpc>
            </a:pPr>
            <a:r>
              <a:rPr lang="en-US" sz="1800">
                <a:solidFill>
                  <a:srgbClr val="FFFFFF"/>
                </a:solidFill>
                <a:latin typeface="Roboto"/>
                <a:ea typeface="Roboto"/>
                <a:cs typeface="Roboto"/>
                <a:sym typeface="Roboto"/>
              </a:rPr>
              <a:t>Esse modelo já é validado por aplicativos digitais e permite aquisição inicial ampla, com monetização baseada em engajamento.</a:t>
            </a:r>
          </a:p>
          <a:p>
            <a:pPr algn="just">
              <a:lnSpc>
                <a:spcPts val="2520"/>
              </a:lnSpc>
            </a:pPr>
            <a:r>
              <a:rPr lang="en-US" sz="1800">
                <a:solidFill>
                  <a:srgbClr val="FFFFFF"/>
                </a:solidFill>
                <a:latin typeface="Roboto"/>
                <a:ea typeface="Roboto"/>
                <a:cs typeface="Roboto"/>
                <a:sym typeface="Roboto"/>
              </a:rPr>
              <a:t>A escalabilidade é alta, pois se trata de produto digital com baixo custo marginal e potencial efeito de rede via guildas.</a:t>
            </a:r>
          </a:p>
          <a:p>
            <a:pPr algn="just">
              <a:lnSpc>
                <a:spcPts val="2520"/>
              </a:lnSpc>
              <a:spcBef>
                <a:spcPct val="0"/>
              </a:spcBef>
            </a:pPr>
          </a:p>
        </p:txBody>
      </p:sp>
      <p:sp>
        <p:nvSpPr>
          <p:cNvPr name="TextBox 25" id="25"/>
          <p:cNvSpPr txBox="true"/>
          <p:nvPr/>
        </p:nvSpPr>
        <p:spPr>
          <a:xfrm rot="0">
            <a:off x="10525168" y="5855606"/>
            <a:ext cx="8505918" cy="1767438"/>
          </a:xfrm>
          <a:prstGeom prst="rect">
            <a:avLst/>
          </a:prstGeom>
        </p:spPr>
        <p:txBody>
          <a:bodyPr anchor="t" rtlCol="false" tIns="0" lIns="0" bIns="0" rIns="0">
            <a:spAutoFit/>
          </a:bodyPr>
          <a:lstStyle/>
          <a:p>
            <a:pPr algn="just">
              <a:lnSpc>
                <a:spcPts val="2332"/>
              </a:lnSpc>
            </a:pPr>
            <a:r>
              <a:rPr lang="en-US" sz="1665">
                <a:solidFill>
                  <a:srgbClr val="FFFFFF"/>
                </a:solidFill>
                <a:latin typeface="Roboto"/>
                <a:ea typeface="Roboto"/>
                <a:cs typeface="Roboto"/>
                <a:sym typeface="Roboto"/>
              </a:rPr>
              <a:t>P</a:t>
            </a:r>
            <a:r>
              <a:rPr lang="en-US" sz="1665" b="true">
                <a:solidFill>
                  <a:srgbClr val="FFFFFF"/>
                </a:solidFill>
                <a:latin typeface="Roboto Bold"/>
                <a:ea typeface="Roboto Bold"/>
                <a:cs typeface="Roboto Bold"/>
                <a:sym typeface="Roboto Bold"/>
              </a:rPr>
              <a:t>ontos-chave</a:t>
            </a:r>
          </a:p>
          <a:p>
            <a:pPr algn="just" marL="359648" indent="-179824" lvl="1">
              <a:lnSpc>
                <a:spcPts val="2332"/>
              </a:lnSpc>
              <a:buFont typeface="Arial"/>
              <a:buChar char="•"/>
            </a:pPr>
            <a:r>
              <a:rPr lang="en-US" sz="1665">
                <a:solidFill>
                  <a:srgbClr val="FFFFFF"/>
                </a:solidFill>
                <a:latin typeface="Roboto"/>
                <a:ea typeface="Roboto"/>
                <a:cs typeface="Roboto"/>
                <a:sym typeface="Roboto"/>
              </a:rPr>
              <a:t>Modelo freemium</a:t>
            </a:r>
          </a:p>
          <a:p>
            <a:pPr algn="just" marL="359648" indent="-179824" lvl="1">
              <a:lnSpc>
                <a:spcPts val="2332"/>
              </a:lnSpc>
              <a:buFont typeface="Arial"/>
              <a:buChar char="•"/>
            </a:pPr>
            <a:r>
              <a:rPr lang="en-US" sz="1665">
                <a:solidFill>
                  <a:srgbClr val="FFFFFF"/>
                </a:solidFill>
                <a:latin typeface="Roboto"/>
                <a:ea typeface="Roboto"/>
                <a:cs typeface="Roboto"/>
                <a:sym typeface="Roboto"/>
              </a:rPr>
              <a:t>Receita recorrente mensal</a:t>
            </a:r>
          </a:p>
          <a:p>
            <a:pPr algn="just" marL="359648" indent="-179824" lvl="1">
              <a:lnSpc>
                <a:spcPts val="2332"/>
              </a:lnSpc>
              <a:buFont typeface="Arial"/>
              <a:buChar char="•"/>
            </a:pPr>
            <a:r>
              <a:rPr lang="en-US" sz="1665">
                <a:solidFill>
                  <a:srgbClr val="FFFFFF"/>
                </a:solidFill>
                <a:latin typeface="Roboto"/>
                <a:ea typeface="Roboto"/>
                <a:cs typeface="Roboto"/>
                <a:sym typeface="Roboto"/>
              </a:rPr>
              <a:t>Escalável digitalmente</a:t>
            </a:r>
          </a:p>
          <a:p>
            <a:pPr algn="just" marL="359648" indent="-179824" lvl="1">
              <a:lnSpc>
                <a:spcPts val="2332"/>
              </a:lnSpc>
              <a:buFont typeface="Arial"/>
              <a:buChar char="•"/>
            </a:pPr>
            <a:r>
              <a:rPr lang="en-US" sz="1665">
                <a:solidFill>
                  <a:srgbClr val="FFFFFF"/>
                </a:solidFill>
                <a:latin typeface="Roboto"/>
                <a:ea typeface="Roboto"/>
                <a:cs typeface="Roboto"/>
                <a:sym typeface="Roboto"/>
              </a:rPr>
              <a:t>Potencial B2B futuro (academias e empresas)</a:t>
            </a:r>
          </a:p>
          <a:p>
            <a:pPr algn="just">
              <a:lnSpc>
                <a:spcPts val="2332"/>
              </a:lnSpc>
              <a:spcBef>
                <a:spcPct val="0"/>
              </a:spcBef>
            </a:pP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2E1B5B"/>
        </a:solidFill>
      </p:bgPr>
    </p:bg>
    <p:spTree>
      <p:nvGrpSpPr>
        <p:cNvPr id="1" name=""/>
        <p:cNvGrpSpPr/>
        <p:nvPr/>
      </p:nvGrpSpPr>
      <p:grpSpPr>
        <a:xfrm>
          <a:off x="0" y="0"/>
          <a:ext cx="0" cy="0"/>
          <a:chOff x="0" y="0"/>
          <a:chExt cx="0" cy="0"/>
        </a:xfrm>
      </p:grpSpPr>
      <p:grpSp>
        <p:nvGrpSpPr>
          <p:cNvPr name="Group 2" id="2"/>
          <p:cNvGrpSpPr/>
          <p:nvPr/>
        </p:nvGrpSpPr>
        <p:grpSpPr>
          <a:xfrm rot="0">
            <a:off x="-26536" y="4158567"/>
            <a:ext cx="22374015" cy="6128433"/>
            <a:chOff x="0" y="0"/>
            <a:chExt cx="29832020" cy="8171245"/>
          </a:xfrm>
        </p:grpSpPr>
        <p:sp>
          <p:nvSpPr>
            <p:cNvPr name="Freeform 3" id="3"/>
            <p:cNvSpPr/>
            <p:nvPr/>
          </p:nvSpPr>
          <p:spPr>
            <a:xfrm flipH="true" flipV="false" rot="0">
              <a:off x="0" y="0"/>
              <a:ext cx="14916010" cy="8171245"/>
            </a:xfrm>
            <a:custGeom>
              <a:avLst/>
              <a:gdLst/>
              <a:ahLst/>
              <a:cxnLst/>
              <a:rect r="r" b="b" t="t" l="l"/>
              <a:pathLst>
                <a:path h="8171245" w="14916010">
                  <a:moveTo>
                    <a:pt x="14916010" y="0"/>
                  </a:moveTo>
                  <a:lnTo>
                    <a:pt x="0" y="0"/>
                  </a:lnTo>
                  <a:lnTo>
                    <a:pt x="0" y="8171245"/>
                  </a:lnTo>
                  <a:lnTo>
                    <a:pt x="14916010" y="8171245"/>
                  </a:lnTo>
                  <a:lnTo>
                    <a:pt x="14916010" y="0"/>
                  </a:lnTo>
                  <a:close/>
                </a:path>
              </a:pathLst>
            </a:custGeom>
            <a:blipFill>
              <a:blip r:embed="rId2">
                <a:alphaModFix amt="40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false" rot="0">
              <a:off x="14916010" y="0"/>
              <a:ext cx="14916010" cy="8171245"/>
            </a:xfrm>
            <a:custGeom>
              <a:avLst/>
              <a:gdLst/>
              <a:ahLst/>
              <a:cxnLst/>
              <a:rect r="r" b="b" t="t" l="l"/>
              <a:pathLst>
                <a:path h="8171245" w="14916010">
                  <a:moveTo>
                    <a:pt x="14916010" y="0"/>
                  </a:moveTo>
                  <a:lnTo>
                    <a:pt x="0" y="0"/>
                  </a:lnTo>
                  <a:lnTo>
                    <a:pt x="0" y="8171245"/>
                  </a:lnTo>
                  <a:lnTo>
                    <a:pt x="14916010" y="8171245"/>
                  </a:lnTo>
                  <a:lnTo>
                    <a:pt x="14916010" y="0"/>
                  </a:lnTo>
                  <a:close/>
                </a:path>
              </a:pathLst>
            </a:custGeom>
            <a:blipFill>
              <a:blip r:embed="rId2">
                <a:alphaModFix amt="40000"/>
                <a:extLst>
                  <a:ext uri="{96DAC541-7B7A-43D3-8B79-37D633B846F1}">
                    <asvg:svgBlip xmlns:asvg="http://schemas.microsoft.com/office/drawing/2016/SVG/main" r:embed="rId3"/>
                  </a:ext>
                </a:extLst>
              </a:blip>
              <a:stretch>
                <a:fillRect l="0" t="0" r="0" b="0"/>
              </a:stretch>
            </a:blipFill>
          </p:spPr>
        </p:sp>
      </p:grpSp>
      <p:sp>
        <p:nvSpPr>
          <p:cNvPr name="Freeform 5" id="5"/>
          <p:cNvSpPr/>
          <p:nvPr/>
        </p:nvSpPr>
        <p:spPr>
          <a:xfrm flipH="false" flipV="false" rot="0">
            <a:off x="12539369" y="382886"/>
            <a:ext cx="2173870" cy="2173870"/>
          </a:xfrm>
          <a:custGeom>
            <a:avLst/>
            <a:gdLst/>
            <a:ahLst/>
            <a:cxnLst/>
            <a:rect r="r" b="b" t="t" l="l"/>
            <a:pathLst>
              <a:path h="2173870" w="2173870">
                <a:moveTo>
                  <a:pt x="0" y="0"/>
                </a:moveTo>
                <a:lnTo>
                  <a:pt x="2173870" y="0"/>
                </a:lnTo>
                <a:lnTo>
                  <a:pt x="2173870" y="2173870"/>
                </a:lnTo>
                <a:lnTo>
                  <a:pt x="0" y="217387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7121029" y="8384137"/>
            <a:ext cx="4009865" cy="1902863"/>
          </a:xfrm>
          <a:custGeom>
            <a:avLst/>
            <a:gdLst/>
            <a:ahLst/>
            <a:cxnLst/>
            <a:rect r="r" b="b" t="t" l="l"/>
            <a:pathLst>
              <a:path h="1902863" w="4009865">
                <a:moveTo>
                  <a:pt x="0" y="0"/>
                </a:moveTo>
                <a:lnTo>
                  <a:pt x="4009865" y="0"/>
                </a:lnTo>
                <a:lnTo>
                  <a:pt x="4009865" y="1902863"/>
                </a:lnTo>
                <a:lnTo>
                  <a:pt x="0" y="190286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11483319" y="9161128"/>
            <a:ext cx="2537827" cy="1125872"/>
          </a:xfrm>
          <a:custGeom>
            <a:avLst/>
            <a:gdLst/>
            <a:ahLst/>
            <a:cxnLst/>
            <a:rect r="r" b="b" t="t" l="l"/>
            <a:pathLst>
              <a:path h="1125872" w="2537827">
                <a:moveTo>
                  <a:pt x="0" y="0"/>
                </a:moveTo>
                <a:lnTo>
                  <a:pt x="2537827" y="0"/>
                </a:lnTo>
                <a:lnTo>
                  <a:pt x="2537827" y="1125872"/>
                </a:lnTo>
                <a:lnTo>
                  <a:pt x="0" y="112587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8" id="8"/>
          <p:cNvSpPr/>
          <p:nvPr/>
        </p:nvSpPr>
        <p:spPr>
          <a:xfrm flipH="false" flipV="false" rot="0">
            <a:off x="14332334" y="9161128"/>
            <a:ext cx="2537827" cy="1125872"/>
          </a:xfrm>
          <a:custGeom>
            <a:avLst/>
            <a:gdLst/>
            <a:ahLst/>
            <a:cxnLst/>
            <a:rect r="r" b="b" t="t" l="l"/>
            <a:pathLst>
              <a:path h="1125872" w="2537827">
                <a:moveTo>
                  <a:pt x="0" y="0"/>
                </a:moveTo>
                <a:lnTo>
                  <a:pt x="2537827" y="0"/>
                </a:lnTo>
                <a:lnTo>
                  <a:pt x="2537827" y="1125872"/>
                </a:lnTo>
                <a:lnTo>
                  <a:pt x="0" y="112587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false" flipV="false" rot="0">
            <a:off x="17222586" y="9161128"/>
            <a:ext cx="2537827" cy="1125872"/>
          </a:xfrm>
          <a:custGeom>
            <a:avLst/>
            <a:gdLst/>
            <a:ahLst/>
            <a:cxnLst/>
            <a:rect r="r" b="b" t="t" l="l"/>
            <a:pathLst>
              <a:path h="1125872" w="2537827">
                <a:moveTo>
                  <a:pt x="0" y="0"/>
                </a:moveTo>
                <a:lnTo>
                  <a:pt x="2537827" y="0"/>
                </a:lnTo>
                <a:lnTo>
                  <a:pt x="2537827" y="1125872"/>
                </a:lnTo>
                <a:lnTo>
                  <a:pt x="0" y="112587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0" id="10"/>
          <p:cNvSpPr/>
          <p:nvPr/>
        </p:nvSpPr>
        <p:spPr>
          <a:xfrm flipH="false" flipV="false" rot="0">
            <a:off x="0" y="1344010"/>
            <a:ext cx="3474012" cy="1212746"/>
          </a:xfrm>
          <a:custGeom>
            <a:avLst/>
            <a:gdLst/>
            <a:ahLst/>
            <a:cxnLst/>
            <a:rect r="r" b="b" t="t" l="l"/>
            <a:pathLst>
              <a:path h="1212746" w="3474012">
                <a:moveTo>
                  <a:pt x="0" y="0"/>
                </a:moveTo>
                <a:lnTo>
                  <a:pt x="3474012" y="0"/>
                </a:lnTo>
                <a:lnTo>
                  <a:pt x="3474012" y="1212746"/>
                </a:lnTo>
                <a:lnTo>
                  <a:pt x="0" y="1212746"/>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1" id="11"/>
          <p:cNvSpPr/>
          <p:nvPr/>
        </p:nvSpPr>
        <p:spPr>
          <a:xfrm flipH="false" flipV="false" rot="0">
            <a:off x="2794067" y="1682275"/>
            <a:ext cx="4907801" cy="874481"/>
          </a:xfrm>
          <a:custGeom>
            <a:avLst/>
            <a:gdLst/>
            <a:ahLst/>
            <a:cxnLst/>
            <a:rect r="r" b="b" t="t" l="l"/>
            <a:pathLst>
              <a:path h="874481" w="4907801">
                <a:moveTo>
                  <a:pt x="0" y="0"/>
                </a:moveTo>
                <a:lnTo>
                  <a:pt x="4907801" y="0"/>
                </a:lnTo>
                <a:lnTo>
                  <a:pt x="4907801" y="874481"/>
                </a:lnTo>
                <a:lnTo>
                  <a:pt x="0" y="874481"/>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2" id="12"/>
          <p:cNvSpPr/>
          <p:nvPr/>
        </p:nvSpPr>
        <p:spPr>
          <a:xfrm flipH="false" flipV="false" rot="0">
            <a:off x="12077819" y="998097"/>
            <a:ext cx="5270840" cy="1840002"/>
          </a:xfrm>
          <a:custGeom>
            <a:avLst/>
            <a:gdLst/>
            <a:ahLst/>
            <a:cxnLst/>
            <a:rect r="r" b="b" t="t" l="l"/>
            <a:pathLst>
              <a:path h="1840002" w="5270840">
                <a:moveTo>
                  <a:pt x="0" y="0"/>
                </a:moveTo>
                <a:lnTo>
                  <a:pt x="5270839" y="0"/>
                </a:lnTo>
                <a:lnTo>
                  <a:pt x="5270839" y="1840002"/>
                </a:lnTo>
                <a:lnTo>
                  <a:pt x="0" y="184000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3" id="13"/>
          <p:cNvSpPr/>
          <p:nvPr/>
        </p:nvSpPr>
        <p:spPr>
          <a:xfrm flipH="false" flipV="false" rot="0">
            <a:off x="14713239" y="1344010"/>
            <a:ext cx="4233199" cy="1477771"/>
          </a:xfrm>
          <a:custGeom>
            <a:avLst/>
            <a:gdLst/>
            <a:ahLst/>
            <a:cxnLst/>
            <a:rect r="r" b="b" t="t" l="l"/>
            <a:pathLst>
              <a:path h="1477771" w="4233199">
                <a:moveTo>
                  <a:pt x="0" y="0"/>
                </a:moveTo>
                <a:lnTo>
                  <a:pt x="4233199" y="0"/>
                </a:lnTo>
                <a:lnTo>
                  <a:pt x="4233199" y="1477771"/>
                </a:lnTo>
                <a:lnTo>
                  <a:pt x="0" y="1477771"/>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4" id="14"/>
          <p:cNvSpPr/>
          <p:nvPr/>
        </p:nvSpPr>
        <p:spPr>
          <a:xfrm flipH="true" flipV="false" rot="0">
            <a:off x="7944548" y="1224866"/>
            <a:ext cx="3890591" cy="693233"/>
          </a:xfrm>
          <a:custGeom>
            <a:avLst/>
            <a:gdLst/>
            <a:ahLst/>
            <a:cxnLst/>
            <a:rect r="r" b="b" t="t" l="l"/>
            <a:pathLst>
              <a:path h="693233" w="3890591">
                <a:moveTo>
                  <a:pt x="3890591" y="0"/>
                </a:moveTo>
                <a:lnTo>
                  <a:pt x="0" y="0"/>
                </a:lnTo>
                <a:lnTo>
                  <a:pt x="0" y="693232"/>
                </a:lnTo>
                <a:lnTo>
                  <a:pt x="3890591" y="693232"/>
                </a:lnTo>
                <a:lnTo>
                  <a:pt x="3890591"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15" id="15"/>
          <p:cNvSpPr txBox="true"/>
          <p:nvPr/>
        </p:nvSpPr>
        <p:spPr>
          <a:xfrm rot="0">
            <a:off x="3060495" y="3247343"/>
            <a:ext cx="12130934" cy="911224"/>
          </a:xfrm>
          <a:prstGeom prst="rect">
            <a:avLst/>
          </a:prstGeom>
        </p:spPr>
        <p:txBody>
          <a:bodyPr anchor="t" rtlCol="false" tIns="0" lIns="0" bIns="0" rIns="0">
            <a:spAutoFit/>
          </a:bodyPr>
          <a:lstStyle/>
          <a:p>
            <a:pPr algn="ctr" marL="0" indent="0" lvl="0">
              <a:lnSpc>
                <a:spcPts val="7000"/>
              </a:lnSpc>
              <a:spcBef>
                <a:spcPct val="0"/>
              </a:spcBef>
            </a:pPr>
            <a:r>
              <a:rPr lang="en-US" sz="5000">
                <a:solidFill>
                  <a:srgbClr val="FFFFFF"/>
                </a:solidFill>
                <a:latin typeface="Arcade Gamer"/>
                <a:ea typeface="Arcade Gamer"/>
                <a:cs typeface="Arcade Gamer"/>
                <a:sym typeface="Arcade Gamer"/>
              </a:rPr>
              <a:t>VIABILIDADE</a:t>
            </a:r>
          </a:p>
        </p:txBody>
      </p:sp>
      <p:sp>
        <p:nvSpPr>
          <p:cNvPr name="TextBox 16" id="16"/>
          <p:cNvSpPr txBox="true"/>
          <p:nvPr/>
        </p:nvSpPr>
        <p:spPr>
          <a:xfrm rot="0">
            <a:off x="4747540" y="4800541"/>
            <a:ext cx="8792920" cy="1573530"/>
          </a:xfrm>
          <a:prstGeom prst="rect">
            <a:avLst/>
          </a:prstGeom>
        </p:spPr>
        <p:txBody>
          <a:bodyPr anchor="t" rtlCol="false" tIns="0" lIns="0" bIns="0" rIns="0">
            <a:spAutoFit/>
          </a:bodyPr>
          <a:lstStyle/>
          <a:p>
            <a:pPr algn="just" marL="388620" indent="-194310" lvl="1">
              <a:lnSpc>
                <a:spcPts val="2520"/>
              </a:lnSpc>
              <a:buFont typeface="Arial"/>
              <a:buChar char="•"/>
            </a:pPr>
            <a:r>
              <a:rPr lang="en-US" sz="1800">
                <a:solidFill>
                  <a:srgbClr val="FFFFFF"/>
                </a:solidFill>
                <a:latin typeface="Roboto"/>
                <a:ea typeface="Roboto"/>
                <a:cs typeface="Roboto"/>
                <a:sym typeface="Roboto"/>
              </a:rPr>
              <a:t>Arquitetura baseada em microserviços (auth, treino, progressão, desafios, guildas)</a:t>
            </a:r>
          </a:p>
          <a:p>
            <a:pPr algn="just" marL="388620" indent="-194310" lvl="1">
              <a:lnSpc>
                <a:spcPts val="2520"/>
              </a:lnSpc>
              <a:buFont typeface="Arial"/>
              <a:buChar char="•"/>
            </a:pPr>
            <a:r>
              <a:rPr lang="en-US" sz="1800">
                <a:solidFill>
                  <a:srgbClr val="FFFFFF"/>
                </a:solidFill>
                <a:latin typeface="Roboto"/>
                <a:ea typeface="Roboto"/>
                <a:cs typeface="Roboto"/>
                <a:sym typeface="Roboto"/>
              </a:rPr>
              <a:t>Comunicação assíncrona via mensageria para cálculo de XP e eventos</a:t>
            </a:r>
          </a:p>
          <a:p>
            <a:pPr algn="just" marL="388620" indent="-194310" lvl="1">
              <a:lnSpc>
                <a:spcPts val="2520"/>
              </a:lnSpc>
              <a:buFont typeface="Arial"/>
              <a:buChar char="•"/>
            </a:pPr>
            <a:r>
              <a:rPr lang="en-US" sz="1800">
                <a:solidFill>
                  <a:srgbClr val="FFFFFF"/>
                </a:solidFill>
                <a:latin typeface="Roboto"/>
                <a:ea typeface="Roboto"/>
                <a:cs typeface="Roboto"/>
                <a:sym typeface="Roboto"/>
              </a:rPr>
              <a:t>Stack já definida (Rea</a:t>
            </a:r>
            <a:r>
              <a:rPr lang="en-US" sz="1800">
                <a:solidFill>
                  <a:srgbClr val="FFFFFF"/>
                </a:solidFill>
                <a:latin typeface="Roboto"/>
                <a:ea typeface="Roboto"/>
                <a:cs typeface="Roboto"/>
                <a:sym typeface="Roboto"/>
              </a:rPr>
              <a:t>ct, Python, Java, PostgreSQL, AWS)</a:t>
            </a:r>
          </a:p>
          <a:p>
            <a:pPr algn="just" marL="388620" indent="-194310" lvl="1">
              <a:lnSpc>
                <a:spcPts val="2520"/>
              </a:lnSpc>
              <a:buFont typeface="Arial"/>
              <a:buChar char="•"/>
            </a:pPr>
            <a:r>
              <a:rPr lang="en-US" sz="1800">
                <a:solidFill>
                  <a:srgbClr val="FFFFFF"/>
                </a:solidFill>
                <a:latin typeface="Roboto"/>
                <a:ea typeface="Roboto"/>
                <a:cs typeface="Roboto"/>
                <a:sym typeface="Roboto"/>
              </a:rPr>
              <a:t>Escopo inicial controlado (sem wearables, sem prescrição avançada)</a:t>
            </a:r>
          </a:p>
          <a:p>
            <a:pPr algn="just">
              <a:lnSpc>
                <a:spcPts val="2520"/>
              </a:lnSpc>
              <a:spcBef>
                <a:spcPct val="0"/>
              </a:spcBef>
            </a:pPr>
          </a:p>
        </p:txBody>
      </p:sp>
      <p:grpSp>
        <p:nvGrpSpPr>
          <p:cNvPr name="Group 17" id="17"/>
          <p:cNvGrpSpPr/>
          <p:nvPr/>
        </p:nvGrpSpPr>
        <p:grpSpPr>
          <a:xfrm rot="0">
            <a:off x="-1508489" y="9161128"/>
            <a:ext cx="8277094" cy="1125872"/>
            <a:chOff x="0" y="0"/>
            <a:chExt cx="11036125" cy="1501163"/>
          </a:xfrm>
        </p:grpSpPr>
        <p:sp>
          <p:nvSpPr>
            <p:cNvPr name="Freeform 18" id="18"/>
            <p:cNvSpPr/>
            <p:nvPr/>
          </p:nvSpPr>
          <p:spPr>
            <a:xfrm flipH="false" flipV="false" rot="0">
              <a:off x="0" y="0"/>
              <a:ext cx="3383769" cy="1501163"/>
            </a:xfrm>
            <a:custGeom>
              <a:avLst/>
              <a:gdLst/>
              <a:ahLst/>
              <a:cxnLst/>
              <a:rect r="r" b="b" t="t" l="l"/>
              <a:pathLst>
                <a:path h="1501163" w="3383769">
                  <a:moveTo>
                    <a:pt x="0" y="0"/>
                  </a:moveTo>
                  <a:lnTo>
                    <a:pt x="3383769" y="0"/>
                  </a:lnTo>
                  <a:lnTo>
                    <a:pt x="3383769" y="1501163"/>
                  </a:lnTo>
                  <a:lnTo>
                    <a:pt x="0" y="1501163"/>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9" id="19"/>
            <p:cNvSpPr/>
            <p:nvPr/>
          </p:nvSpPr>
          <p:spPr>
            <a:xfrm flipH="false" flipV="false" rot="0">
              <a:off x="3798687" y="0"/>
              <a:ext cx="3383769" cy="1501163"/>
            </a:xfrm>
            <a:custGeom>
              <a:avLst/>
              <a:gdLst/>
              <a:ahLst/>
              <a:cxnLst/>
              <a:rect r="r" b="b" t="t" l="l"/>
              <a:pathLst>
                <a:path h="1501163" w="3383769">
                  <a:moveTo>
                    <a:pt x="0" y="0"/>
                  </a:moveTo>
                  <a:lnTo>
                    <a:pt x="3383769" y="0"/>
                  </a:lnTo>
                  <a:lnTo>
                    <a:pt x="3383769" y="1501163"/>
                  </a:lnTo>
                  <a:lnTo>
                    <a:pt x="0" y="1501163"/>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20" id="20"/>
            <p:cNvSpPr/>
            <p:nvPr/>
          </p:nvSpPr>
          <p:spPr>
            <a:xfrm flipH="false" flipV="false" rot="0">
              <a:off x="7652356" y="0"/>
              <a:ext cx="3383769" cy="1501163"/>
            </a:xfrm>
            <a:custGeom>
              <a:avLst/>
              <a:gdLst/>
              <a:ahLst/>
              <a:cxnLst/>
              <a:rect r="r" b="b" t="t" l="l"/>
              <a:pathLst>
                <a:path h="1501163" w="3383769">
                  <a:moveTo>
                    <a:pt x="0" y="0"/>
                  </a:moveTo>
                  <a:lnTo>
                    <a:pt x="3383769" y="0"/>
                  </a:lnTo>
                  <a:lnTo>
                    <a:pt x="3383769" y="1501163"/>
                  </a:lnTo>
                  <a:lnTo>
                    <a:pt x="0" y="1501163"/>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2E1B5B"/>
        </a:solidFill>
      </p:bgPr>
    </p:bg>
    <p:spTree>
      <p:nvGrpSpPr>
        <p:cNvPr id="1" name=""/>
        <p:cNvGrpSpPr/>
        <p:nvPr/>
      </p:nvGrpSpPr>
      <p:grpSpPr>
        <a:xfrm>
          <a:off x="0" y="0"/>
          <a:ext cx="0" cy="0"/>
          <a:chOff x="0" y="0"/>
          <a:chExt cx="0" cy="0"/>
        </a:xfrm>
      </p:grpSpPr>
      <p:grpSp>
        <p:nvGrpSpPr>
          <p:cNvPr name="Group 2" id="2"/>
          <p:cNvGrpSpPr/>
          <p:nvPr/>
        </p:nvGrpSpPr>
        <p:grpSpPr>
          <a:xfrm rot="0">
            <a:off x="-26536" y="4158567"/>
            <a:ext cx="22374015" cy="6128433"/>
            <a:chOff x="0" y="0"/>
            <a:chExt cx="29832020" cy="8171245"/>
          </a:xfrm>
        </p:grpSpPr>
        <p:sp>
          <p:nvSpPr>
            <p:cNvPr name="Freeform 3" id="3"/>
            <p:cNvSpPr/>
            <p:nvPr/>
          </p:nvSpPr>
          <p:spPr>
            <a:xfrm flipH="true" flipV="false" rot="0">
              <a:off x="0" y="0"/>
              <a:ext cx="14916010" cy="8171245"/>
            </a:xfrm>
            <a:custGeom>
              <a:avLst/>
              <a:gdLst/>
              <a:ahLst/>
              <a:cxnLst/>
              <a:rect r="r" b="b" t="t" l="l"/>
              <a:pathLst>
                <a:path h="8171245" w="14916010">
                  <a:moveTo>
                    <a:pt x="14916010" y="0"/>
                  </a:moveTo>
                  <a:lnTo>
                    <a:pt x="0" y="0"/>
                  </a:lnTo>
                  <a:lnTo>
                    <a:pt x="0" y="8171245"/>
                  </a:lnTo>
                  <a:lnTo>
                    <a:pt x="14916010" y="8171245"/>
                  </a:lnTo>
                  <a:lnTo>
                    <a:pt x="14916010" y="0"/>
                  </a:lnTo>
                  <a:close/>
                </a:path>
              </a:pathLst>
            </a:custGeom>
            <a:blipFill>
              <a:blip r:embed="rId2">
                <a:alphaModFix amt="40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false" rot="0">
              <a:off x="14916010" y="0"/>
              <a:ext cx="14916010" cy="8171245"/>
            </a:xfrm>
            <a:custGeom>
              <a:avLst/>
              <a:gdLst/>
              <a:ahLst/>
              <a:cxnLst/>
              <a:rect r="r" b="b" t="t" l="l"/>
              <a:pathLst>
                <a:path h="8171245" w="14916010">
                  <a:moveTo>
                    <a:pt x="14916010" y="0"/>
                  </a:moveTo>
                  <a:lnTo>
                    <a:pt x="0" y="0"/>
                  </a:lnTo>
                  <a:lnTo>
                    <a:pt x="0" y="8171245"/>
                  </a:lnTo>
                  <a:lnTo>
                    <a:pt x="14916010" y="8171245"/>
                  </a:lnTo>
                  <a:lnTo>
                    <a:pt x="14916010" y="0"/>
                  </a:lnTo>
                  <a:close/>
                </a:path>
              </a:pathLst>
            </a:custGeom>
            <a:blipFill>
              <a:blip r:embed="rId2">
                <a:alphaModFix amt="40000"/>
                <a:extLst>
                  <a:ext uri="{96DAC541-7B7A-43D3-8B79-37D633B846F1}">
                    <asvg:svgBlip xmlns:asvg="http://schemas.microsoft.com/office/drawing/2016/SVG/main" r:embed="rId3"/>
                  </a:ext>
                </a:extLst>
              </a:blip>
              <a:stretch>
                <a:fillRect l="0" t="0" r="0" b="0"/>
              </a:stretch>
            </a:blipFill>
          </p:spPr>
        </p:sp>
      </p:grpSp>
      <p:sp>
        <p:nvSpPr>
          <p:cNvPr name="Freeform 5" id="5"/>
          <p:cNvSpPr/>
          <p:nvPr/>
        </p:nvSpPr>
        <p:spPr>
          <a:xfrm flipH="false" flipV="false" rot="0">
            <a:off x="12539369" y="382886"/>
            <a:ext cx="2173870" cy="2173870"/>
          </a:xfrm>
          <a:custGeom>
            <a:avLst/>
            <a:gdLst/>
            <a:ahLst/>
            <a:cxnLst/>
            <a:rect r="r" b="b" t="t" l="l"/>
            <a:pathLst>
              <a:path h="2173870" w="2173870">
                <a:moveTo>
                  <a:pt x="0" y="0"/>
                </a:moveTo>
                <a:lnTo>
                  <a:pt x="2173870" y="0"/>
                </a:lnTo>
                <a:lnTo>
                  <a:pt x="2173870" y="2173870"/>
                </a:lnTo>
                <a:lnTo>
                  <a:pt x="0" y="217387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7121029" y="8384137"/>
            <a:ext cx="4009865" cy="1902863"/>
          </a:xfrm>
          <a:custGeom>
            <a:avLst/>
            <a:gdLst/>
            <a:ahLst/>
            <a:cxnLst/>
            <a:rect r="r" b="b" t="t" l="l"/>
            <a:pathLst>
              <a:path h="1902863" w="4009865">
                <a:moveTo>
                  <a:pt x="0" y="0"/>
                </a:moveTo>
                <a:lnTo>
                  <a:pt x="4009865" y="0"/>
                </a:lnTo>
                <a:lnTo>
                  <a:pt x="4009865" y="1902863"/>
                </a:lnTo>
                <a:lnTo>
                  <a:pt x="0" y="190286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11483319" y="9161128"/>
            <a:ext cx="2537827" cy="1125872"/>
          </a:xfrm>
          <a:custGeom>
            <a:avLst/>
            <a:gdLst/>
            <a:ahLst/>
            <a:cxnLst/>
            <a:rect r="r" b="b" t="t" l="l"/>
            <a:pathLst>
              <a:path h="1125872" w="2537827">
                <a:moveTo>
                  <a:pt x="0" y="0"/>
                </a:moveTo>
                <a:lnTo>
                  <a:pt x="2537827" y="0"/>
                </a:lnTo>
                <a:lnTo>
                  <a:pt x="2537827" y="1125872"/>
                </a:lnTo>
                <a:lnTo>
                  <a:pt x="0" y="112587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8" id="8"/>
          <p:cNvSpPr/>
          <p:nvPr/>
        </p:nvSpPr>
        <p:spPr>
          <a:xfrm flipH="false" flipV="false" rot="0">
            <a:off x="14332334" y="9161128"/>
            <a:ext cx="2537827" cy="1125872"/>
          </a:xfrm>
          <a:custGeom>
            <a:avLst/>
            <a:gdLst/>
            <a:ahLst/>
            <a:cxnLst/>
            <a:rect r="r" b="b" t="t" l="l"/>
            <a:pathLst>
              <a:path h="1125872" w="2537827">
                <a:moveTo>
                  <a:pt x="0" y="0"/>
                </a:moveTo>
                <a:lnTo>
                  <a:pt x="2537827" y="0"/>
                </a:lnTo>
                <a:lnTo>
                  <a:pt x="2537827" y="1125872"/>
                </a:lnTo>
                <a:lnTo>
                  <a:pt x="0" y="112587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false" flipV="false" rot="0">
            <a:off x="17222586" y="9161128"/>
            <a:ext cx="2537827" cy="1125872"/>
          </a:xfrm>
          <a:custGeom>
            <a:avLst/>
            <a:gdLst/>
            <a:ahLst/>
            <a:cxnLst/>
            <a:rect r="r" b="b" t="t" l="l"/>
            <a:pathLst>
              <a:path h="1125872" w="2537827">
                <a:moveTo>
                  <a:pt x="0" y="0"/>
                </a:moveTo>
                <a:lnTo>
                  <a:pt x="2537827" y="0"/>
                </a:lnTo>
                <a:lnTo>
                  <a:pt x="2537827" y="1125872"/>
                </a:lnTo>
                <a:lnTo>
                  <a:pt x="0" y="112587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0" id="10"/>
          <p:cNvSpPr/>
          <p:nvPr/>
        </p:nvSpPr>
        <p:spPr>
          <a:xfrm flipH="false" flipV="false" rot="0">
            <a:off x="0" y="1344010"/>
            <a:ext cx="3474012" cy="1212746"/>
          </a:xfrm>
          <a:custGeom>
            <a:avLst/>
            <a:gdLst/>
            <a:ahLst/>
            <a:cxnLst/>
            <a:rect r="r" b="b" t="t" l="l"/>
            <a:pathLst>
              <a:path h="1212746" w="3474012">
                <a:moveTo>
                  <a:pt x="0" y="0"/>
                </a:moveTo>
                <a:lnTo>
                  <a:pt x="3474012" y="0"/>
                </a:lnTo>
                <a:lnTo>
                  <a:pt x="3474012" y="1212746"/>
                </a:lnTo>
                <a:lnTo>
                  <a:pt x="0" y="1212746"/>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1" id="11"/>
          <p:cNvSpPr/>
          <p:nvPr/>
        </p:nvSpPr>
        <p:spPr>
          <a:xfrm flipH="false" flipV="false" rot="0">
            <a:off x="2794067" y="1682275"/>
            <a:ext cx="4907801" cy="874481"/>
          </a:xfrm>
          <a:custGeom>
            <a:avLst/>
            <a:gdLst/>
            <a:ahLst/>
            <a:cxnLst/>
            <a:rect r="r" b="b" t="t" l="l"/>
            <a:pathLst>
              <a:path h="874481" w="4907801">
                <a:moveTo>
                  <a:pt x="0" y="0"/>
                </a:moveTo>
                <a:lnTo>
                  <a:pt x="4907801" y="0"/>
                </a:lnTo>
                <a:lnTo>
                  <a:pt x="4907801" y="874481"/>
                </a:lnTo>
                <a:lnTo>
                  <a:pt x="0" y="874481"/>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2" id="12"/>
          <p:cNvSpPr/>
          <p:nvPr/>
        </p:nvSpPr>
        <p:spPr>
          <a:xfrm flipH="false" flipV="false" rot="0">
            <a:off x="12077819" y="998097"/>
            <a:ext cx="5270840" cy="1840002"/>
          </a:xfrm>
          <a:custGeom>
            <a:avLst/>
            <a:gdLst/>
            <a:ahLst/>
            <a:cxnLst/>
            <a:rect r="r" b="b" t="t" l="l"/>
            <a:pathLst>
              <a:path h="1840002" w="5270840">
                <a:moveTo>
                  <a:pt x="0" y="0"/>
                </a:moveTo>
                <a:lnTo>
                  <a:pt x="5270839" y="0"/>
                </a:lnTo>
                <a:lnTo>
                  <a:pt x="5270839" y="1840002"/>
                </a:lnTo>
                <a:lnTo>
                  <a:pt x="0" y="184000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3" id="13"/>
          <p:cNvSpPr/>
          <p:nvPr/>
        </p:nvSpPr>
        <p:spPr>
          <a:xfrm flipH="false" flipV="false" rot="0">
            <a:off x="14713239" y="1344010"/>
            <a:ext cx="4233199" cy="1477771"/>
          </a:xfrm>
          <a:custGeom>
            <a:avLst/>
            <a:gdLst/>
            <a:ahLst/>
            <a:cxnLst/>
            <a:rect r="r" b="b" t="t" l="l"/>
            <a:pathLst>
              <a:path h="1477771" w="4233199">
                <a:moveTo>
                  <a:pt x="0" y="0"/>
                </a:moveTo>
                <a:lnTo>
                  <a:pt x="4233199" y="0"/>
                </a:lnTo>
                <a:lnTo>
                  <a:pt x="4233199" y="1477771"/>
                </a:lnTo>
                <a:lnTo>
                  <a:pt x="0" y="1477771"/>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4" id="14"/>
          <p:cNvSpPr/>
          <p:nvPr/>
        </p:nvSpPr>
        <p:spPr>
          <a:xfrm flipH="true" flipV="false" rot="0">
            <a:off x="7944548" y="1224866"/>
            <a:ext cx="3890591" cy="693233"/>
          </a:xfrm>
          <a:custGeom>
            <a:avLst/>
            <a:gdLst/>
            <a:ahLst/>
            <a:cxnLst/>
            <a:rect r="r" b="b" t="t" l="l"/>
            <a:pathLst>
              <a:path h="693233" w="3890591">
                <a:moveTo>
                  <a:pt x="3890591" y="0"/>
                </a:moveTo>
                <a:lnTo>
                  <a:pt x="0" y="0"/>
                </a:lnTo>
                <a:lnTo>
                  <a:pt x="0" y="693232"/>
                </a:lnTo>
                <a:lnTo>
                  <a:pt x="3890591" y="693232"/>
                </a:lnTo>
                <a:lnTo>
                  <a:pt x="3890591"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15" id="15"/>
          <p:cNvSpPr txBox="true"/>
          <p:nvPr/>
        </p:nvSpPr>
        <p:spPr>
          <a:xfrm rot="0">
            <a:off x="3078533" y="3247343"/>
            <a:ext cx="12130934" cy="911224"/>
          </a:xfrm>
          <a:prstGeom prst="rect">
            <a:avLst/>
          </a:prstGeom>
        </p:spPr>
        <p:txBody>
          <a:bodyPr anchor="t" rtlCol="false" tIns="0" lIns="0" bIns="0" rIns="0">
            <a:spAutoFit/>
          </a:bodyPr>
          <a:lstStyle/>
          <a:p>
            <a:pPr algn="ctr" marL="0" indent="0" lvl="0">
              <a:lnSpc>
                <a:spcPts val="7000"/>
              </a:lnSpc>
              <a:spcBef>
                <a:spcPct val="0"/>
              </a:spcBef>
            </a:pPr>
            <a:r>
              <a:rPr lang="en-US" sz="5000">
                <a:solidFill>
                  <a:srgbClr val="FFFFFF"/>
                </a:solidFill>
                <a:latin typeface="Arcade Gamer"/>
                <a:ea typeface="Arcade Gamer"/>
                <a:cs typeface="Arcade Gamer"/>
                <a:sym typeface="Arcade Gamer"/>
              </a:rPr>
              <a:t>DESAFIOS</a:t>
            </a:r>
          </a:p>
        </p:txBody>
      </p:sp>
      <p:sp>
        <p:nvSpPr>
          <p:cNvPr name="TextBox 16" id="16"/>
          <p:cNvSpPr txBox="true"/>
          <p:nvPr/>
        </p:nvSpPr>
        <p:spPr>
          <a:xfrm rot="0">
            <a:off x="5914408" y="4659869"/>
            <a:ext cx="6459183" cy="1573530"/>
          </a:xfrm>
          <a:prstGeom prst="rect">
            <a:avLst/>
          </a:prstGeom>
        </p:spPr>
        <p:txBody>
          <a:bodyPr anchor="t" rtlCol="false" tIns="0" lIns="0" bIns="0" rIns="0">
            <a:spAutoFit/>
          </a:bodyPr>
          <a:lstStyle/>
          <a:p>
            <a:pPr algn="just" marL="388620" indent="-194310" lvl="1">
              <a:lnSpc>
                <a:spcPts val="2520"/>
              </a:lnSpc>
              <a:buFont typeface="Arial"/>
              <a:buChar char="•"/>
            </a:pPr>
            <a:r>
              <a:rPr lang="en-US" sz="1800">
                <a:solidFill>
                  <a:srgbClr val="FFFFFF"/>
                </a:solidFill>
                <a:latin typeface="Roboto"/>
                <a:ea typeface="Roboto"/>
                <a:cs typeface="Roboto"/>
                <a:sym typeface="Roboto"/>
              </a:rPr>
              <a:t>Implementação correta da arquitetura de microserviços</a:t>
            </a:r>
          </a:p>
          <a:p>
            <a:pPr algn="just" marL="388620" indent="-194310" lvl="1">
              <a:lnSpc>
                <a:spcPts val="2520"/>
              </a:lnSpc>
              <a:buFont typeface="Arial"/>
              <a:buChar char="•"/>
            </a:pPr>
            <a:r>
              <a:rPr lang="en-US" sz="1800">
                <a:solidFill>
                  <a:srgbClr val="FFFFFF"/>
                </a:solidFill>
                <a:latin typeface="Roboto"/>
                <a:ea typeface="Roboto"/>
                <a:cs typeface="Roboto"/>
                <a:sym typeface="Roboto"/>
              </a:rPr>
              <a:t>Garantir consistência de dados entre serviços</a:t>
            </a:r>
          </a:p>
          <a:p>
            <a:pPr algn="just" marL="388620" indent="-194310" lvl="1">
              <a:lnSpc>
                <a:spcPts val="2520"/>
              </a:lnSpc>
              <a:buFont typeface="Arial"/>
              <a:buChar char="•"/>
            </a:pPr>
            <a:r>
              <a:rPr lang="en-US" sz="1800">
                <a:solidFill>
                  <a:srgbClr val="FFFFFF"/>
                </a:solidFill>
                <a:latin typeface="Roboto"/>
                <a:ea typeface="Roboto"/>
                <a:cs typeface="Roboto"/>
                <a:sym typeface="Roboto"/>
              </a:rPr>
              <a:t>Or</a:t>
            </a:r>
            <a:r>
              <a:rPr lang="en-US" sz="1800">
                <a:solidFill>
                  <a:srgbClr val="FFFFFF"/>
                </a:solidFill>
                <a:latin typeface="Roboto"/>
                <a:ea typeface="Roboto"/>
                <a:cs typeface="Roboto"/>
                <a:sym typeface="Roboto"/>
              </a:rPr>
              <a:t>qu</a:t>
            </a:r>
            <a:r>
              <a:rPr lang="en-US" sz="1800">
                <a:solidFill>
                  <a:srgbClr val="FFFFFF"/>
                </a:solidFill>
                <a:latin typeface="Roboto"/>
                <a:ea typeface="Roboto"/>
                <a:cs typeface="Roboto"/>
                <a:sym typeface="Roboto"/>
              </a:rPr>
              <a:t>estração de eventos via mensageria</a:t>
            </a:r>
          </a:p>
          <a:p>
            <a:pPr algn="just" marL="388620" indent="-194310" lvl="1">
              <a:lnSpc>
                <a:spcPts val="2520"/>
              </a:lnSpc>
              <a:buFont typeface="Arial"/>
              <a:buChar char="•"/>
            </a:pPr>
            <a:r>
              <a:rPr lang="en-US" sz="1800">
                <a:solidFill>
                  <a:srgbClr val="FFFFFF"/>
                </a:solidFill>
                <a:latin typeface="Roboto"/>
                <a:ea typeface="Roboto"/>
                <a:cs typeface="Roboto"/>
                <a:sym typeface="Roboto"/>
              </a:rPr>
              <a:t>Performance em cálculos de progressão</a:t>
            </a:r>
          </a:p>
          <a:p>
            <a:pPr algn="just">
              <a:lnSpc>
                <a:spcPts val="2520"/>
              </a:lnSpc>
              <a:spcBef>
                <a:spcPct val="0"/>
              </a:spcBef>
            </a:pPr>
          </a:p>
        </p:txBody>
      </p:sp>
      <p:grpSp>
        <p:nvGrpSpPr>
          <p:cNvPr name="Group 17" id="17"/>
          <p:cNvGrpSpPr/>
          <p:nvPr/>
        </p:nvGrpSpPr>
        <p:grpSpPr>
          <a:xfrm rot="0">
            <a:off x="-1508489" y="9161128"/>
            <a:ext cx="8277094" cy="1125872"/>
            <a:chOff x="0" y="0"/>
            <a:chExt cx="11036125" cy="1501163"/>
          </a:xfrm>
        </p:grpSpPr>
        <p:sp>
          <p:nvSpPr>
            <p:cNvPr name="Freeform 18" id="18"/>
            <p:cNvSpPr/>
            <p:nvPr/>
          </p:nvSpPr>
          <p:spPr>
            <a:xfrm flipH="false" flipV="false" rot="0">
              <a:off x="0" y="0"/>
              <a:ext cx="3383769" cy="1501163"/>
            </a:xfrm>
            <a:custGeom>
              <a:avLst/>
              <a:gdLst/>
              <a:ahLst/>
              <a:cxnLst/>
              <a:rect r="r" b="b" t="t" l="l"/>
              <a:pathLst>
                <a:path h="1501163" w="3383769">
                  <a:moveTo>
                    <a:pt x="0" y="0"/>
                  </a:moveTo>
                  <a:lnTo>
                    <a:pt x="3383769" y="0"/>
                  </a:lnTo>
                  <a:lnTo>
                    <a:pt x="3383769" y="1501163"/>
                  </a:lnTo>
                  <a:lnTo>
                    <a:pt x="0" y="1501163"/>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9" id="19"/>
            <p:cNvSpPr/>
            <p:nvPr/>
          </p:nvSpPr>
          <p:spPr>
            <a:xfrm flipH="false" flipV="false" rot="0">
              <a:off x="3798687" y="0"/>
              <a:ext cx="3383769" cy="1501163"/>
            </a:xfrm>
            <a:custGeom>
              <a:avLst/>
              <a:gdLst/>
              <a:ahLst/>
              <a:cxnLst/>
              <a:rect r="r" b="b" t="t" l="l"/>
              <a:pathLst>
                <a:path h="1501163" w="3383769">
                  <a:moveTo>
                    <a:pt x="0" y="0"/>
                  </a:moveTo>
                  <a:lnTo>
                    <a:pt x="3383769" y="0"/>
                  </a:lnTo>
                  <a:lnTo>
                    <a:pt x="3383769" y="1501163"/>
                  </a:lnTo>
                  <a:lnTo>
                    <a:pt x="0" y="1501163"/>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20" id="20"/>
            <p:cNvSpPr/>
            <p:nvPr/>
          </p:nvSpPr>
          <p:spPr>
            <a:xfrm flipH="false" flipV="false" rot="0">
              <a:off x="7652356" y="0"/>
              <a:ext cx="3383769" cy="1501163"/>
            </a:xfrm>
            <a:custGeom>
              <a:avLst/>
              <a:gdLst/>
              <a:ahLst/>
              <a:cxnLst/>
              <a:rect r="r" b="b" t="t" l="l"/>
              <a:pathLst>
                <a:path h="1501163" w="3383769">
                  <a:moveTo>
                    <a:pt x="0" y="0"/>
                  </a:moveTo>
                  <a:lnTo>
                    <a:pt x="3383769" y="0"/>
                  </a:lnTo>
                  <a:lnTo>
                    <a:pt x="3383769" y="1501163"/>
                  </a:lnTo>
                  <a:lnTo>
                    <a:pt x="0" y="1501163"/>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2E1B5B"/>
        </a:solidFill>
      </p:bgPr>
    </p:bg>
    <p:spTree>
      <p:nvGrpSpPr>
        <p:cNvPr id="1" name=""/>
        <p:cNvGrpSpPr/>
        <p:nvPr/>
      </p:nvGrpSpPr>
      <p:grpSpPr>
        <a:xfrm>
          <a:off x="0" y="0"/>
          <a:ext cx="0" cy="0"/>
          <a:chOff x="0" y="0"/>
          <a:chExt cx="0" cy="0"/>
        </a:xfrm>
      </p:grpSpPr>
      <p:grpSp>
        <p:nvGrpSpPr>
          <p:cNvPr name="Group 2" id="2"/>
          <p:cNvGrpSpPr/>
          <p:nvPr/>
        </p:nvGrpSpPr>
        <p:grpSpPr>
          <a:xfrm rot="0">
            <a:off x="-26536" y="4158567"/>
            <a:ext cx="22374015" cy="6128433"/>
            <a:chOff x="0" y="0"/>
            <a:chExt cx="29832020" cy="8171245"/>
          </a:xfrm>
        </p:grpSpPr>
        <p:sp>
          <p:nvSpPr>
            <p:cNvPr name="Freeform 3" id="3"/>
            <p:cNvSpPr/>
            <p:nvPr/>
          </p:nvSpPr>
          <p:spPr>
            <a:xfrm flipH="true" flipV="false" rot="0">
              <a:off x="0" y="0"/>
              <a:ext cx="14916010" cy="8171245"/>
            </a:xfrm>
            <a:custGeom>
              <a:avLst/>
              <a:gdLst/>
              <a:ahLst/>
              <a:cxnLst/>
              <a:rect r="r" b="b" t="t" l="l"/>
              <a:pathLst>
                <a:path h="8171245" w="14916010">
                  <a:moveTo>
                    <a:pt x="14916010" y="0"/>
                  </a:moveTo>
                  <a:lnTo>
                    <a:pt x="0" y="0"/>
                  </a:lnTo>
                  <a:lnTo>
                    <a:pt x="0" y="8171245"/>
                  </a:lnTo>
                  <a:lnTo>
                    <a:pt x="14916010" y="8171245"/>
                  </a:lnTo>
                  <a:lnTo>
                    <a:pt x="14916010" y="0"/>
                  </a:lnTo>
                  <a:close/>
                </a:path>
              </a:pathLst>
            </a:custGeom>
            <a:blipFill>
              <a:blip r:embed="rId2">
                <a:alphaModFix amt="40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false" rot="0">
              <a:off x="14916010" y="0"/>
              <a:ext cx="14916010" cy="8171245"/>
            </a:xfrm>
            <a:custGeom>
              <a:avLst/>
              <a:gdLst/>
              <a:ahLst/>
              <a:cxnLst/>
              <a:rect r="r" b="b" t="t" l="l"/>
              <a:pathLst>
                <a:path h="8171245" w="14916010">
                  <a:moveTo>
                    <a:pt x="14916010" y="0"/>
                  </a:moveTo>
                  <a:lnTo>
                    <a:pt x="0" y="0"/>
                  </a:lnTo>
                  <a:lnTo>
                    <a:pt x="0" y="8171245"/>
                  </a:lnTo>
                  <a:lnTo>
                    <a:pt x="14916010" y="8171245"/>
                  </a:lnTo>
                  <a:lnTo>
                    <a:pt x="14916010" y="0"/>
                  </a:lnTo>
                  <a:close/>
                </a:path>
              </a:pathLst>
            </a:custGeom>
            <a:blipFill>
              <a:blip r:embed="rId2">
                <a:alphaModFix amt="40000"/>
                <a:extLst>
                  <a:ext uri="{96DAC541-7B7A-43D3-8B79-37D633B846F1}">
                    <asvg:svgBlip xmlns:asvg="http://schemas.microsoft.com/office/drawing/2016/SVG/main" r:embed="rId3"/>
                  </a:ext>
                </a:extLst>
              </a:blip>
              <a:stretch>
                <a:fillRect l="0" t="0" r="0" b="0"/>
              </a:stretch>
            </a:blipFill>
          </p:spPr>
        </p:sp>
      </p:grpSp>
      <p:sp>
        <p:nvSpPr>
          <p:cNvPr name="TextBox 5" id="5"/>
          <p:cNvSpPr txBox="true"/>
          <p:nvPr/>
        </p:nvSpPr>
        <p:spPr>
          <a:xfrm rot="0">
            <a:off x="1783387" y="2342274"/>
            <a:ext cx="10675285" cy="911224"/>
          </a:xfrm>
          <a:prstGeom prst="rect">
            <a:avLst/>
          </a:prstGeom>
        </p:spPr>
        <p:txBody>
          <a:bodyPr anchor="t" rtlCol="false" tIns="0" lIns="0" bIns="0" rIns="0">
            <a:spAutoFit/>
          </a:bodyPr>
          <a:lstStyle/>
          <a:p>
            <a:pPr algn="l" marL="0" indent="0" lvl="0">
              <a:lnSpc>
                <a:spcPts val="7000"/>
              </a:lnSpc>
              <a:spcBef>
                <a:spcPct val="0"/>
              </a:spcBef>
            </a:pPr>
            <a:r>
              <a:rPr lang="en-US" sz="5000">
                <a:solidFill>
                  <a:srgbClr val="FFFFFF"/>
                </a:solidFill>
                <a:latin typeface="Arcade Gamer"/>
                <a:ea typeface="Arcade Gamer"/>
                <a:cs typeface="Arcade Gamer"/>
                <a:sym typeface="Arcade Gamer"/>
              </a:rPr>
              <a:t>TECNOLOGIA</a:t>
            </a:r>
          </a:p>
        </p:txBody>
      </p:sp>
      <p:sp>
        <p:nvSpPr>
          <p:cNvPr name="Freeform 6" id="6"/>
          <p:cNvSpPr/>
          <p:nvPr/>
        </p:nvSpPr>
        <p:spPr>
          <a:xfrm flipH="false" flipV="false" rot="0">
            <a:off x="-1049565" y="849626"/>
            <a:ext cx="3474012" cy="1212746"/>
          </a:xfrm>
          <a:custGeom>
            <a:avLst/>
            <a:gdLst/>
            <a:ahLst/>
            <a:cxnLst/>
            <a:rect r="r" b="b" t="t" l="l"/>
            <a:pathLst>
              <a:path h="1212746" w="3474012">
                <a:moveTo>
                  <a:pt x="0" y="0"/>
                </a:moveTo>
                <a:lnTo>
                  <a:pt x="3474011" y="0"/>
                </a:lnTo>
                <a:lnTo>
                  <a:pt x="3474011" y="1212746"/>
                </a:lnTo>
                <a:lnTo>
                  <a:pt x="0" y="121274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14008517" y="1142371"/>
            <a:ext cx="5270840" cy="1840002"/>
          </a:xfrm>
          <a:custGeom>
            <a:avLst/>
            <a:gdLst/>
            <a:ahLst/>
            <a:cxnLst/>
            <a:rect r="r" b="b" t="t" l="l"/>
            <a:pathLst>
              <a:path h="1840002" w="5270840">
                <a:moveTo>
                  <a:pt x="0" y="0"/>
                </a:moveTo>
                <a:lnTo>
                  <a:pt x="5270840" y="0"/>
                </a:lnTo>
                <a:lnTo>
                  <a:pt x="5270840" y="1840002"/>
                </a:lnTo>
                <a:lnTo>
                  <a:pt x="0" y="184000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true" flipV="false" rot="0">
            <a:off x="12572014" y="1453255"/>
            <a:ext cx="1864709" cy="1864709"/>
          </a:xfrm>
          <a:custGeom>
            <a:avLst/>
            <a:gdLst/>
            <a:ahLst/>
            <a:cxnLst/>
            <a:rect r="r" b="b" t="t" l="l"/>
            <a:pathLst>
              <a:path h="1864709" w="1864709">
                <a:moveTo>
                  <a:pt x="1864709" y="0"/>
                </a:moveTo>
                <a:lnTo>
                  <a:pt x="0" y="0"/>
                </a:lnTo>
                <a:lnTo>
                  <a:pt x="0" y="1864708"/>
                </a:lnTo>
                <a:lnTo>
                  <a:pt x="1864709" y="1864708"/>
                </a:lnTo>
                <a:lnTo>
                  <a:pt x="1864709"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true" flipV="false" rot="0">
            <a:off x="3165804" y="1028700"/>
            <a:ext cx="3482712" cy="620556"/>
          </a:xfrm>
          <a:custGeom>
            <a:avLst/>
            <a:gdLst/>
            <a:ahLst/>
            <a:cxnLst/>
            <a:rect r="r" b="b" t="t" l="l"/>
            <a:pathLst>
              <a:path h="620556" w="3482712">
                <a:moveTo>
                  <a:pt x="3482712" y="0"/>
                </a:moveTo>
                <a:lnTo>
                  <a:pt x="0" y="0"/>
                </a:lnTo>
                <a:lnTo>
                  <a:pt x="0" y="620556"/>
                </a:lnTo>
                <a:lnTo>
                  <a:pt x="3482712" y="620556"/>
                </a:lnTo>
                <a:lnTo>
                  <a:pt x="3482712"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0" id="10"/>
          <p:cNvSpPr/>
          <p:nvPr/>
        </p:nvSpPr>
        <p:spPr>
          <a:xfrm flipH="false" flipV="false" rot="0">
            <a:off x="-699654" y="8982851"/>
            <a:ext cx="4234185" cy="1231763"/>
          </a:xfrm>
          <a:custGeom>
            <a:avLst/>
            <a:gdLst/>
            <a:ahLst/>
            <a:cxnLst/>
            <a:rect r="r" b="b" t="t" l="l"/>
            <a:pathLst>
              <a:path h="1231763" w="4234185">
                <a:moveTo>
                  <a:pt x="0" y="0"/>
                </a:moveTo>
                <a:lnTo>
                  <a:pt x="4234185" y="0"/>
                </a:lnTo>
                <a:lnTo>
                  <a:pt x="4234185" y="1231764"/>
                </a:lnTo>
                <a:lnTo>
                  <a:pt x="0" y="1231764"/>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1" id="11"/>
          <p:cNvSpPr/>
          <p:nvPr/>
        </p:nvSpPr>
        <p:spPr>
          <a:xfrm flipH="false" flipV="false" rot="0">
            <a:off x="3165804" y="9161128"/>
            <a:ext cx="3716138" cy="1081058"/>
          </a:xfrm>
          <a:custGeom>
            <a:avLst/>
            <a:gdLst/>
            <a:ahLst/>
            <a:cxnLst/>
            <a:rect r="r" b="b" t="t" l="l"/>
            <a:pathLst>
              <a:path h="1081058" w="3716138">
                <a:moveTo>
                  <a:pt x="0" y="0"/>
                </a:moveTo>
                <a:lnTo>
                  <a:pt x="3716138" y="0"/>
                </a:lnTo>
                <a:lnTo>
                  <a:pt x="3716138" y="1081058"/>
                </a:lnTo>
                <a:lnTo>
                  <a:pt x="0" y="1081058"/>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2" id="12"/>
          <p:cNvSpPr/>
          <p:nvPr/>
        </p:nvSpPr>
        <p:spPr>
          <a:xfrm flipH="false" flipV="false" rot="0">
            <a:off x="9209140" y="1868155"/>
            <a:ext cx="3890591" cy="693233"/>
          </a:xfrm>
          <a:custGeom>
            <a:avLst/>
            <a:gdLst/>
            <a:ahLst/>
            <a:cxnLst/>
            <a:rect r="r" b="b" t="t" l="l"/>
            <a:pathLst>
              <a:path h="693233" w="3890591">
                <a:moveTo>
                  <a:pt x="0" y="0"/>
                </a:moveTo>
                <a:lnTo>
                  <a:pt x="3890591" y="0"/>
                </a:lnTo>
                <a:lnTo>
                  <a:pt x="3890591" y="693233"/>
                </a:lnTo>
                <a:lnTo>
                  <a:pt x="0" y="693233"/>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3" id="13"/>
          <p:cNvSpPr/>
          <p:nvPr/>
        </p:nvSpPr>
        <p:spPr>
          <a:xfrm flipH="false" flipV="false" rot="0">
            <a:off x="2082096" y="3682123"/>
            <a:ext cx="2167417" cy="2179392"/>
          </a:xfrm>
          <a:custGeom>
            <a:avLst/>
            <a:gdLst/>
            <a:ahLst/>
            <a:cxnLst/>
            <a:rect r="r" b="b" t="t" l="l"/>
            <a:pathLst>
              <a:path h="2179392" w="2167417">
                <a:moveTo>
                  <a:pt x="0" y="0"/>
                </a:moveTo>
                <a:lnTo>
                  <a:pt x="2167417" y="0"/>
                </a:lnTo>
                <a:lnTo>
                  <a:pt x="2167417" y="2179392"/>
                </a:lnTo>
                <a:lnTo>
                  <a:pt x="0" y="2179392"/>
                </a:lnTo>
                <a:lnTo>
                  <a:pt x="0" y="0"/>
                </a:lnTo>
                <a:close/>
              </a:path>
            </a:pathLst>
          </a:custGeom>
          <a:blipFill>
            <a:blip r:embed="rId12"/>
            <a:stretch>
              <a:fillRect l="0" t="0" r="0" b="0"/>
            </a:stretch>
          </a:blipFill>
        </p:spPr>
      </p:sp>
      <p:sp>
        <p:nvSpPr>
          <p:cNvPr name="Freeform 14" id="14"/>
          <p:cNvSpPr/>
          <p:nvPr/>
        </p:nvSpPr>
        <p:spPr>
          <a:xfrm flipH="false" flipV="false" rot="0">
            <a:off x="3534531" y="3357877"/>
            <a:ext cx="3772241" cy="2827883"/>
          </a:xfrm>
          <a:custGeom>
            <a:avLst/>
            <a:gdLst/>
            <a:ahLst/>
            <a:cxnLst/>
            <a:rect r="r" b="b" t="t" l="l"/>
            <a:pathLst>
              <a:path h="2827883" w="3772241">
                <a:moveTo>
                  <a:pt x="0" y="0"/>
                </a:moveTo>
                <a:lnTo>
                  <a:pt x="3772241" y="0"/>
                </a:lnTo>
                <a:lnTo>
                  <a:pt x="3772241" y="2827884"/>
                </a:lnTo>
                <a:lnTo>
                  <a:pt x="0" y="2827884"/>
                </a:lnTo>
                <a:lnTo>
                  <a:pt x="0" y="0"/>
                </a:lnTo>
                <a:close/>
              </a:path>
            </a:pathLst>
          </a:custGeom>
          <a:blipFill>
            <a:blip r:embed="rId13"/>
            <a:stretch>
              <a:fillRect l="0" t="0" r="0" b="0"/>
            </a:stretch>
          </a:blipFill>
        </p:spPr>
      </p:sp>
      <p:sp>
        <p:nvSpPr>
          <p:cNvPr name="Freeform 15" id="15"/>
          <p:cNvSpPr/>
          <p:nvPr/>
        </p:nvSpPr>
        <p:spPr>
          <a:xfrm flipH="false" flipV="false" rot="0">
            <a:off x="7121029" y="3830459"/>
            <a:ext cx="1882719" cy="1882719"/>
          </a:xfrm>
          <a:custGeom>
            <a:avLst/>
            <a:gdLst/>
            <a:ahLst/>
            <a:cxnLst/>
            <a:rect r="r" b="b" t="t" l="l"/>
            <a:pathLst>
              <a:path h="1882719" w="1882719">
                <a:moveTo>
                  <a:pt x="0" y="0"/>
                </a:moveTo>
                <a:lnTo>
                  <a:pt x="1882720" y="0"/>
                </a:lnTo>
                <a:lnTo>
                  <a:pt x="1882720" y="1882720"/>
                </a:lnTo>
                <a:lnTo>
                  <a:pt x="0" y="1882720"/>
                </a:lnTo>
                <a:lnTo>
                  <a:pt x="0" y="0"/>
                </a:lnTo>
                <a:close/>
              </a:path>
            </a:pathLst>
          </a:custGeom>
          <a:blipFill>
            <a:blip r:embed="rId14"/>
            <a:stretch>
              <a:fillRect l="0" t="0" r="0" b="0"/>
            </a:stretch>
          </a:blipFill>
        </p:spPr>
      </p:sp>
      <p:sp>
        <p:nvSpPr>
          <p:cNvPr name="Freeform 16" id="16"/>
          <p:cNvSpPr/>
          <p:nvPr/>
        </p:nvSpPr>
        <p:spPr>
          <a:xfrm flipH="false" flipV="false" rot="0">
            <a:off x="1783387" y="5861515"/>
            <a:ext cx="2726202" cy="2726202"/>
          </a:xfrm>
          <a:custGeom>
            <a:avLst/>
            <a:gdLst/>
            <a:ahLst/>
            <a:cxnLst/>
            <a:rect r="r" b="b" t="t" l="l"/>
            <a:pathLst>
              <a:path h="2726202" w="2726202">
                <a:moveTo>
                  <a:pt x="0" y="0"/>
                </a:moveTo>
                <a:lnTo>
                  <a:pt x="2726202" y="0"/>
                </a:lnTo>
                <a:lnTo>
                  <a:pt x="2726202" y="2726202"/>
                </a:lnTo>
                <a:lnTo>
                  <a:pt x="0" y="2726202"/>
                </a:lnTo>
                <a:lnTo>
                  <a:pt x="0" y="0"/>
                </a:lnTo>
                <a:close/>
              </a:path>
            </a:pathLst>
          </a:custGeom>
          <a:blipFill>
            <a:blip r:embed="rId15"/>
            <a:stretch>
              <a:fillRect l="0" t="0" r="0" b="0"/>
            </a:stretch>
          </a:blipFill>
        </p:spPr>
      </p:sp>
      <p:sp>
        <p:nvSpPr>
          <p:cNvPr name="Freeform 17" id="17"/>
          <p:cNvSpPr/>
          <p:nvPr/>
        </p:nvSpPr>
        <p:spPr>
          <a:xfrm flipH="false" flipV="false" rot="0">
            <a:off x="4907160" y="6290536"/>
            <a:ext cx="1612726" cy="1707222"/>
          </a:xfrm>
          <a:custGeom>
            <a:avLst/>
            <a:gdLst/>
            <a:ahLst/>
            <a:cxnLst/>
            <a:rect r="r" b="b" t="t" l="l"/>
            <a:pathLst>
              <a:path h="1707222" w="1612726">
                <a:moveTo>
                  <a:pt x="0" y="0"/>
                </a:moveTo>
                <a:lnTo>
                  <a:pt x="1612726" y="0"/>
                </a:lnTo>
                <a:lnTo>
                  <a:pt x="1612726" y="1707221"/>
                </a:lnTo>
                <a:lnTo>
                  <a:pt x="0" y="1707221"/>
                </a:lnTo>
                <a:lnTo>
                  <a:pt x="0" y="0"/>
                </a:lnTo>
                <a:close/>
              </a:path>
            </a:pathLst>
          </a:custGeom>
          <a:blipFill>
            <a:blip r:embed="rId16"/>
            <a:stretch>
              <a:fillRect l="0" t="0" r="0" b="0"/>
            </a:stretch>
          </a:blipFill>
        </p:spPr>
      </p:sp>
      <p:sp>
        <p:nvSpPr>
          <p:cNvPr name="Freeform 18" id="18"/>
          <p:cNvSpPr/>
          <p:nvPr/>
        </p:nvSpPr>
        <p:spPr>
          <a:xfrm flipH="false" flipV="false" rot="0">
            <a:off x="6919936" y="6254058"/>
            <a:ext cx="3228467" cy="1941116"/>
          </a:xfrm>
          <a:custGeom>
            <a:avLst/>
            <a:gdLst/>
            <a:ahLst/>
            <a:cxnLst/>
            <a:rect r="r" b="b" t="t" l="l"/>
            <a:pathLst>
              <a:path h="1941116" w="3228467">
                <a:moveTo>
                  <a:pt x="0" y="0"/>
                </a:moveTo>
                <a:lnTo>
                  <a:pt x="3228467" y="0"/>
                </a:lnTo>
                <a:lnTo>
                  <a:pt x="3228467" y="1941116"/>
                </a:lnTo>
                <a:lnTo>
                  <a:pt x="0" y="1941116"/>
                </a:lnTo>
                <a:lnTo>
                  <a:pt x="0" y="0"/>
                </a:lnTo>
                <a:close/>
              </a:path>
            </a:pathLst>
          </a:custGeom>
          <a:blipFill>
            <a:blip r:embed="rId17"/>
            <a:stretch>
              <a:fillRect l="0" t="0" r="0" b="0"/>
            </a:stretch>
          </a:blipFill>
        </p:spPr>
      </p:sp>
      <p:sp>
        <p:nvSpPr>
          <p:cNvPr name="Freeform 19" id="19"/>
          <p:cNvSpPr/>
          <p:nvPr/>
        </p:nvSpPr>
        <p:spPr>
          <a:xfrm flipH="false" flipV="false" rot="0">
            <a:off x="12046008" y="4590312"/>
            <a:ext cx="6754924" cy="5854268"/>
          </a:xfrm>
          <a:custGeom>
            <a:avLst/>
            <a:gdLst/>
            <a:ahLst/>
            <a:cxnLst/>
            <a:rect r="r" b="b" t="t" l="l"/>
            <a:pathLst>
              <a:path h="5854268" w="6754924">
                <a:moveTo>
                  <a:pt x="0" y="0"/>
                </a:moveTo>
                <a:lnTo>
                  <a:pt x="6754925" y="0"/>
                </a:lnTo>
                <a:lnTo>
                  <a:pt x="6754925" y="5854268"/>
                </a:lnTo>
                <a:lnTo>
                  <a:pt x="0" y="5854268"/>
                </a:lnTo>
                <a:lnTo>
                  <a:pt x="0" y="0"/>
                </a:lnTo>
                <a:close/>
              </a:path>
            </a:pathLst>
          </a:custGeom>
          <a:blipFill>
            <a:blip r:embed="rId18"/>
            <a:stretch>
              <a:fillRect l="0" t="0" r="0" b="0"/>
            </a:stretch>
          </a:blipFill>
        </p:spPr>
      </p:sp>
      <p:sp>
        <p:nvSpPr>
          <p:cNvPr name="Freeform 20" id="20"/>
          <p:cNvSpPr/>
          <p:nvPr/>
        </p:nvSpPr>
        <p:spPr>
          <a:xfrm flipH="false" flipV="false" rot="0">
            <a:off x="9704786" y="7884206"/>
            <a:ext cx="2867228" cy="2553845"/>
          </a:xfrm>
          <a:custGeom>
            <a:avLst/>
            <a:gdLst/>
            <a:ahLst/>
            <a:cxnLst/>
            <a:rect r="r" b="b" t="t" l="l"/>
            <a:pathLst>
              <a:path h="2553845" w="2867228">
                <a:moveTo>
                  <a:pt x="0" y="0"/>
                </a:moveTo>
                <a:lnTo>
                  <a:pt x="2867228" y="0"/>
                </a:lnTo>
                <a:lnTo>
                  <a:pt x="2867228" y="2553844"/>
                </a:lnTo>
                <a:lnTo>
                  <a:pt x="0" y="2553844"/>
                </a:lnTo>
                <a:lnTo>
                  <a:pt x="0" y="0"/>
                </a:lnTo>
                <a:close/>
              </a:path>
            </a:pathLst>
          </a:custGeom>
          <a:blipFill>
            <a:blip r:embed="rId19"/>
            <a:stretch>
              <a:fillRect l="0" t="0" r="0" b="0"/>
            </a:stretch>
          </a:blipFill>
        </p:spPr>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2E1B5B"/>
        </a:solidFill>
      </p:bgPr>
    </p:bg>
    <p:spTree>
      <p:nvGrpSpPr>
        <p:cNvPr id="1" name=""/>
        <p:cNvGrpSpPr/>
        <p:nvPr/>
      </p:nvGrpSpPr>
      <p:grpSpPr>
        <a:xfrm>
          <a:off x="0" y="0"/>
          <a:ext cx="0" cy="0"/>
          <a:chOff x="0" y="0"/>
          <a:chExt cx="0" cy="0"/>
        </a:xfrm>
      </p:grpSpPr>
      <p:grpSp>
        <p:nvGrpSpPr>
          <p:cNvPr name="Group 2" id="2"/>
          <p:cNvGrpSpPr/>
          <p:nvPr/>
        </p:nvGrpSpPr>
        <p:grpSpPr>
          <a:xfrm rot="0">
            <a:off x="-26536" y="4158567"/>
            <a:ext cx="22374015" cy="6128433"/>
            <a:chOff x="0" y="0"/>
            <a:chExt cx="29832020" cy="8171245"/>
          </a:xfrm>
        </p:grpSpPr>
        <p:sp>
          <p:nvSpPr>
            <p:cNvPr name="Freeform 3" id="3"/>
            <p:cNvSpPr/>
            <p:nvPr/>
          </p:nvSpPr>
          <p:spPr>
            <a:xfrm flipH="true" flipV="false" rot="0">
              <a:off x="0" y="0"/>
              <a:ext cx="14916010" cy="8171245"/>
            </a:xfrm>
            <a:custGeom>
              <a:avLst/>
              <a:gdLst/>
              <a:ahLst/>
              <a:cxnLst/>
              <a:rect r="r" b="b" t="t" l="l"/>
              <a:pathLst>
                <a:path h="8171245" w="14916010">
                  <a:moveTo>
                    <a:pt x="14916010" y="0"/>
                  </a:moveTo>
                  <a:lnTo>
                    <a:pt x="0" y="0"/>
                  </a:lnTo>
                  <a:lnTo>
                    <a:pt x="0" y="8171245"/>
                  </a:lnTo>
                  <a:lnTo>
                    <a:pt x="14916010" y="8171245"/>
                  </a:lnTo>
                  <a:lnTo>
                    <a:pt x="14916010" y="0"/>
                  </a:lnTo>
                  <a:close/>
                </a:path>
              </a:pathLst>
            </a:custGeom>
            <a:blipFill>
              <a:blip r:embed="rId2">
                <a:alphaModFix amt="40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false" rot="0">
              <a:off x="14916010" y="0"/>
              <a:ext cx="14916010" cy="8171245"/>
            </a:xfrm>
            <a:custGeom>
              <a:avLst/>
              <a:gdLst/>
              <a:ahLst/>
              <a:cxnLst/>
              <a:rect r="r" b="b" t="t" l="l"/>
              <a:pathLst>
                <a:path h="8171245" w="14916010">
                  <a:moveTo>
                    <a:pt x="14916010" y="0"/>
                  </a:moveTo>
                  <a:lnTo>
                    <a:pt x="0" y="0"/>
                  </a:lnTo>
                  <a:lnTo>
                    <a:pt x="0" y="8171245"/>
                  </a:lnTo>
                  <a:lnTo>
                    <a:pt x="14916010" y="8171245"/>
                  </a:lnTo>
                  <a:lnTo>
                    <a:pt x="14916010" y="0"/>
                  </a:lnTo>
                  <a:close/>
                </a:path>
              </a:pathLst>
            </a:custGeom>
            <a:blipFill>
              <a:blip r:embed="rId2">
                <a:alphaModFix amt="40000"/>
                <a:extLst>
                  <a:ext uri="{96DAC541-7B7A-43D3-8B79-37D633B846F1}">
                    <asvg:svgBlip xmlns:asvg="http://schemas.microsoft.com/office/drawing/2016/SVG/main" r:embed="rId3"/>
                  </a:ext>
                </a:extLst>
              </a:blip>
              <a:stretch>
                <a:fillRect l="0" t="0" r="0" b="0"/>
              </a:stretch>
            </a:blipFill>
          </p:spPr>
        </p:sp>
      </p:grpSp>
      <p:sp>
        <p:nvSpPr>
          <p:cNvPr name="Freeform 5" id="5"/>
          <p:cNvSpPr/>
          <p:nvPr/>
        </p:nvSpPr>
        <p:spPr>
          <a:xfrm flipH="false" flipV="false" rot="0">
            <a:off x="9144000" y="8907087"/>
            <a:ext cx="9144000" cy="1379913"/>
          </a:xfrm>
          <a:custGeom>
            <a:avLst/>
            <a:gdLst/>
            <a:ahLst/>
            <a:cxnLst/>
            <a:rect r="r" b="b" t="t" l="l"/>
            <a:pathLst>
              <a:path h="1379913" w="9144000">
                <a:moveTo>
                  <a:pt x="0" y="0"/>
                </a:moveTo>
                <a:lnTo>
                  <a:pt x="9144000" y="0"/>
                </a:lnTo>
                <a:lnTo>
                  <a:pt x="9144000" y="1379913"/>
                </a:lnTo>
                <a:lnTo>
                  <a:pt x="0" y="137991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66525" y="1077076"/>
            <a:ext cx="3474012" cy="1212746"/>
          </a:xfrm>
          <a:custGeom>
            <a:avLst/>
            <a:gdLst/>
            <a:ahLst/>
            <a:cxnLst/>
            <a:rect r="r" b="b" t="t" l="l"/>
            <a:pathLst>
              <a:path h="1212746" w="3474012">
                <a:moveTo>
                  <a:pt x="0" y="0"/>
                </a:moveTo>
                <a:lnTo>
                  <a:pt x="3474012" y="0"/>
                </a:lnTo>
                <a:lnTo>
                  <a:pt x="3474012" y="1212746"/>
                </a:lnTo>
                <a:lnTo>
                  <a:pt x="0" y="121274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2860593" y="1415341"/>
            <a:ext cx="4907801" cy="874481"/>
          </a:xfrm>
          <a:custGeom>
            <a:avLst/>
            <a:gdLst/>
            <a:ahLst/>
            <a:cxnLst/>
            <a:rect r="r" b="b" t="t" l="l"/>
            <a:pathLst>
              <a:path h="874481" w="4907801">
                <a:moveTo>
                  <a:pt x="0" y="0"/>
                </a:moveTo>
                <a:lnTo>
                  <a:pt x="4907801" y="0"/>
                </a:lnTo>
                <a:lnTo>
                  <a:pt x="4907801" y="874481"/>
                </a:lnTo>
                <a:lnTo>
                  <a:pt x="0" y="87448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8" id="8"/>
          <p:cNvSpPr/>
          <p:nvPr/>
        </p:nvSpPr>
        <p:spPr>
          <a:xfrm flipH="false" flipV="false" rot="0">
            <a:off x="12144344" y="731163"/>
            <a:ext cx="5270840" cy="1840002"/>
          </a:xfrm>
          <a:custGeom>
            <a:avLst/>
            <a:gdLst/>
            <a:ahLst/>
            <a:cxnLst/>
            <a:rect r="r" b="b" t="t" l="l"/>
            <a:pathLst>
              <a:path h="1840002" w="5270840">
                <a:moveTo>
                  <a:pt x="0" y="0"/>
                </a:moveTo>
                <a:lnTo>
                  <a:pt x="5270840" y="0"/>
                </a:lnTo>
                <a:lnTo>
                  <a:pt x="5270840" y="1840002"/>
                </a:lnTo>
                <a:lnTo>
                  <a:pt x="0" y="184000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0">
            <a:off x="14779764" y="1077076"/>
            <a:ext cx="4233199" cy="1477771"/>
          </a:xfrm>
          <a:custGeom>
            <a:avLst/>
            <a:gdLst/>
            <a:ahLst/>
            <a:cxnLst/>
            <a:rect r="r" b="b" t="t" l="l"/>
            <a:pathLst>
              <a:path h="1477771" w="4233199">
                <a:moveTo>
                  <a:pt x="0" y="0"/>
                </a:moveTo>
                <a:lnTo>
                  <a:pt x="4233199" y="0"/>
                </a:lnTo>
                <a:lnTo>
                  <a:pt x="4233199" y="1477771"/>
                </a:lnTo>
                <a:lnTo>
                  <a:pt x="0" y="147777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0" id="10"/>
          <p:cNvSpPr/>
          <p:nvPr/>
        </p:nvSpPr>
        <p:spPr>
          <a:xfrm flipH="true" flipV="false" rot="0">
            <a:off x="8368497" y="990216"/>
            <a:ext cx="3890591" cy="693233"/>
          </a:xfrm>
          <a:custGeom>
            <a:avLst/>
            <a:gdLst/>
            <a:ahLst/>
            <a:cxnLst/>
            <a:rect r="r" b="b" t="t" l="l"/>
            <a:pathLst>
              <a:path h="693233" w="3890591">
                <a:moveTo>
                  <a:pt x="3890591" y="0"/>
                </a:moveTo>
                <a:lnTo>
                  <a:pt x="0" y="0"/>
                </a:lnTo>
                <a:lnTo>
                  <a:pt x="0" y="693233"/>
                </a:lnTo>
                <a:lnTo>
                  <a:pt x="3890591" y="693233"/>
                </a:lnTo>
                <a:lnTo>
                  <a:pt x="3890591"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1" id="11"/>
          <p:cNvSpPr/>
          <p:nvPr/>
        </p:nvSpPr>
        <p:spPr>
          <a:xfrm flipH="false" flipV="false" rot="0">
            <a:off x="0" y="8907087"/>
            <a:ext cx="9144000" cy="1379913"/>
          </a:xfrm>
          <a:custGeom>
            <a:avLst/>
            <a:gdLst/>
            <a:ahLst/>
            <a:cxnLst/>
            <a:rect r="r" b="b" t="t" l="l"/>
            <a:pathLst>
              <a:path h="1379913" w="9144000">
                <a:moveTo>
                  <a:pt x="0" y="0"/>
                </a:moveTo>
                <a:lnTo>
                  <a:pt x="9144000" y="0"/>
                </a:lnTo>
                <a:lnTo>
                  <a:pt x="9144000" y="1379913"/>
                </a:lnTo>
                <a:lnTo>
                  <a:pt x="0" y="137991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pic>
        <p:nvPicPr>
          <p:cNvPr name="Picture 12" id="12"/>
          <p:cNvPicPr>
            <a:picLocks noChangeAspect="true"/>
          </p:cNvPicPr>
          <p:nvPr/>
        </p:nvPicPr>
        <p:blipFill>
          <a:blip r:embed="rId10"/>
          <a:srcRect l="0" t="0" r="0" b="0"/>
          <a:stretch>
            <a:fillRect/>
          </a:stretch>
        </p:blipFill>
        <p:spPr>
          <a:xfrm flipH="false" flipV="false" rot="0">
            <a:off x="0" y="5714987"/>
            <a:ext cx="7341939" cy="5506454"/>
          </a:xfrm>
          <a:prstGeom prst="rect">
            <a:avLst/>
          </a:prstGeom>
        </p:spPr>
      </p:pic>
      <p:sp>
        <p:nvSpPr>
          <p:cNvPr name="TextBox 13" id="13"/>
          <p:cNvSpPr txBox="true"/>
          <p:nvPr/>
        </p:nvSpPr>
        <p:spPr>
          <a:xfrm rot="0">
            <a:off x="1047787" y="3884295"/>
            <a:ext cx="7880074" cy="1259205"/>
          </a:xfrm>
          <a:prstGeom prst="rect">
            <a:avLst/>
          </a:prstGeom>
        </p:spPr>
        <p:txBody>
          <a:bodyPr anchor="t" rtlCol="false" tIns="0" lIns="0" bIns="0" rIns="0">
            <a:spAutoFit/>
          </a:bodyPr>
          <a:lstStyle/>
          <a:p>
            <a:pPr algn="just">
              <a:lnSpc>
                <a:spcPts val="2520"/>
              </a:lnSpc>
              <a:spcBef>
                <a:spcPct val="0"/>
              </a:spcBef>
            </a:pPr>
            <a:r>
              <a:rPr lang="en-US" sz="1800">
                <a:solidFill>
                  <a:srgbClr val="FFFFFF"/>
                </a:solidFill>
                <a:latin typeface="Roboto"/>
                <a:ea typeface="Roboto"/>
                <a:cs typeface="Roboto"/>
                <a:sym typeface="Roboto"/>
              </a:rPr>
              <a:t>WORLD HEALTH ORGANIZATION. Global status report on physic</a:t>
            </a:r>
            <a:r>
              <a:rPr lang="en-US" sz="1800">
                <a:solidFill>
                  <a:srgbClr val="FFFFFF"/>
                </a:solidFill>
                <a:latin typeface="Roboto"/>
                <a:ea typeface="Roboto"/>
                <a:cs typeface="Roboto"/>
                <a:sym typeface="Roboto"/>
              </a:rPr>
              <a:t>al</a:t>
            </a:r>
            <a:r>
              <a:rPr lang="en-US" sz="1800">
                <a:solidFill>
                  <a:srgbClr val="FFFFFF"/>
                </a:solidFill>
                <a:latin typeface="Roboto"/>
                <a:ea typeface="Roboto"/>
                <a:cs typeface="Roboto"/>
                <a:sym typeface="Roboto"/>
              </a:rPr>
              <a:t> activi</a:t>
            </a:r>
            <a:r>
              <a:rPr lang="en-US" sz="1800">
                <a:solidFill>
                  <a:srgbClr val="FFFFFF"/>
                </a:solidFill>
                <a:latin typeface="Roboto"/>
                <a:ea typeface="Roboto"/>
                <a:cs typeface="Roboto"/>
                <a:sym typeface="Roboto"/>
              </a:rPr>
              <a:t>ty 2022. Ge</a:t>
            </a:r>
            <a:r>
              <a:rPr lang="en-US" sz="1800">
                <a:solidFill>
                  <a:srgbClr val="FFFFFF"/>
                </a:solidFill>
                <a:latin typeface="Roboto"/>
                <a:ea typeface="Roboto"/>
                <a:cs typeface="Roboto"/>
                <a:sym typeface="Roboto"/>
              </a:rPr>
              <a:t>neva: World</a:t>
            </a:r>
            <a:r>
              <a:rPr lang="en-US" sz="1800">
                <a:solidFill>
                  <a:srgbClr val="FFFFFF"/>
                </a:solidFill>
                <a:latin typeface="Roboto"/>
                <a:ea typeface="Roboto"/>
                <a:cs typeface="Roboto"/>
                <a:sym typeface="Roboto"/>
              </a:rPr>
              <a:t> H</a:t>
            </a:r>
            <a:r>
              <a:rPr lang="en-US" sz="1800">
                <a:solidFill>
                  <a:srgbClr val="FFFFFF"/>
                </a:solidFill>
                <a:latin typeface="Roboto"/>
                <a:ea typeface="Roboto"/>
                <a:cs typeface="Roboto"/>
                <a:sym typeface="Roboto"/>
              </a:rPr>
              <a:t>ealth</a:t>
            </a:r>
            <a:r>
              <a:rPr lang="en-US" sz="1800">
                <a:solidFill>
                  <a:srgbClr val="FFFFFF"/>
                </a:solidFill>
                <a:latin typeface="Roboto"/>
                <a:ea typeface="Roboto"/>
                <a:cs typeface="Roboto"/>
                <a:sym typeface="Roboto"/>
              </a:rPr>
              <a:t> Or</a:t>
            </a:r>
            <a:r>
              <a:rPr lang="en-US" sz="1800">
                <a:solidFill>
                  <a:srgbClr val="FFFFFF"/>
                </a:solidFill>
                <a:latin typeface="Roboto"/>
                <a:ea typeface="Roboto"/>
                <a:cs typeface="Roboto"/>
                <a:sym typeface="Roboto"/>
              </a:rPr>
              <a:t>g</a:t>
            </a:r>
            <a:r>
              <a:rPr lang="en-US" sz="1800">
                <a:solidFill>
                  <a:srgbClr val="FFFFFF"/>
                </a:solidFill>
                <a:latin typeface="Roboto"/>
                <a:ea typeface="Roboto"/>
                <a:cs typeface="Roboto"/>
                <a:sym typeface="Roboto"/>
              </a:rPr>
              <a:t>an</a:t>
            </a:r>
            <a:r>
              <a:rPr lang="en-US" sz="1800">
                <a:solidFill>
                  <a:srgbClr val="FFFFFF"/>
                </a:solidFill>
                <a:latin typeface="Roboto"/>
                <a:ea typeface="Roboto"/>
                <a:cs typeface="Roboto"/>
                <a:sym typeface="Roboto"/>
              </a:rPr>
              <a:t>ization, 2022. Disponível em: </a:t>
            </a:r>
            <a:r>
              <a:rPr lang="en-US" sz="1800" u="sng">
                <a:solidFill>
                  <a:srgbClr val="FFFFFF"/>
                </a:solidFill>
                <a:latin typeface="Roboto"/>
                <a:ea typeface="Roboto"/>
                <a:cs typeface="Roboto"/>
                <a:sym typeface="Roboto"/>
                <a:hlinkClick r:id="rId11" tooltip="https://www.who.int/publications/i/item/9789240059153"/>
              </a:rPr>
              <a:t>https://www.who.int/publications/i/item/9789240059153</a:t>
            </a:r>
            <a:r>
              <a:rPr lang="en-US" sz="1800">
                <a:solidFill>
                  <a:srgbClr val="FFFFFF"/>
                </a:solidFill>
                <a:latin typeface="Roboto"/>
                <a:ea typeface="Roboto"/>
                <a:cs typeface="Roboto"/>
                <a:sym typeface="Roboto"/>
              </a:rPr>
              <a:t>. Acesso em: 1 mar. 2026.</a:t>
            </a:r>
          </a:p>
        </p:txBody>
      </p:sp>
      <p:sp>
        <p:nvSpPr>
          <p:cNvPr name="TextBox 14" id="14"/>
          <p:cNvSpPr txBox="true"/>
          <p:nvPr/>
        </p:nvSpPr>
        <p:spPr>
          <a:xfrm rot="0">
            <a:off x="2444848" y="2597072"/>
            <a:ext cx="6483013" cy="905118"/>
          </a:xfrm>
          <a:prstGeom prst="rect">
            <a:avLst/>
          </a:prstGeom>
        </p:spPr>
        <p:txBody>
          <a:bodyPr anchor="t" rtlCol="false" tIns="0" lIns="0" bIns="0" rIns="0">
            <a:spAutoFit/>
          </a:bodyPr>
          <a:lstStyle/>
          <a:p>
            <a:pPr algn="l" marL="0" indent="0" lvl="0">
              <a:lnSpc>
                <a:spcPts val="7000"/>
              </a:lnSpc>
              <a:spcBef>
                <a:spcPct val="0"/>
              </a:spcBef>
            </a:pPr>
            <a:r>
              <a:rPr lang="en-US" sz="5000">
                <a:solidFill>
                  <a:srgbClr val="FFFFFF"/>
                </a:solidFill>
                <a:latin typeface="Arcade Gamer"/>
                <a:ea typeface="Arcade Gamer"/>
                <a:cs typeface="Arcade Gamer"/>
                <a:sym typeface="Arcade Gamer"/>
              </a:rPr>
              <a:t>FONTES</a:t>
            </a:r>
          </a:p>
        </p:txBody>
      </p:sp>
      <p:sp>
        <p:nvSpPr>
          <p:cNvPr name="TextBox 15" id="15"/>
          <p:cNvSpPr txBox="true"/>
          <p:nvPr/>
        </p:nvSpPr>
        <p:spPr>
          <a:xfrm rot="0">
            <a:off x="10042910" y="3884295"/>
            <a:ext cx="7236265" cy="944880"/>
          </a:xfrm>
          <a:prstGeom prst="rect">
            <a:avLst/>
          </a:prstGeom>
        </p:spPr>
        <p:txBody>
          <a:bodyPr anchor="t" rtlCol="false" tIns="0" lIns="0" bIns="0" rIns="0">
            <a:spAutoFit/>
          </a:bodyPr>
          <a:lstStyle/>
          <a:p>
            <a:pPr algn="just">
              <a:lnSpc>
                <a:spcPts val="2520"/>
              </a:lnSpc>
              <a:spcBef>
                <a:spcPct val="0"/>
              </a:spcBef>
            </a:pPr>
            <a:r>
              <a:rPr lang="en-US" sz="1800">
                <a:solidFill>
                  <a:srgbClr val="FFFFFF"/>
                </a:solidFill>
                <a:latin typeface="Roboto"/>
                <a:ea typeface="Roboto"/>
                <a:cs typeface="Roboto"/>
                <a:sym typeface="Roboto"/>
              </a:rPr>
              <a:t>WORLD HEALTH ORGANIZATION. Physical activity. Geneva: World Health Organization, 2023. Disponível em: </a:t>
            </a:r>
            <a:r>
              <a:rPr lang="en-US" sz="1800" u="sng">
                <a:solidFill>
                  <a:srgbClr val="FFFFFF"/>
                </a:solidFill>
                <a:latin typeface="Roboto"/>
                <a:ea typeface="Roboto"/>
                <a:cs typeface="Roboto"/>
                <a:sym typeface="Roboto"/>
                <a:hlinkClick r:id="rId12" tooltip="https://www.who.int/news-room/fact-sheets/detail/physical-activity"/>
              </a:rPr>
              <a:t>https://www.who.int/news-room/fact-sheets/detail/physical-activity</a:t>
            </a:r>
            <a:r>
              <a:rPr lang="en-US" sz="1800">
                <a:solidFill>
                  <a:srgbClr val="FFFFFF"/>
                </a:solidFill>
                <a:latin typeface="Roboto"/>
                <a:ea typeface="Roboto"/>
                <a:cs typeface="Roboto"/>
                <a:sym typeface="Roboto"/>
              </a:rPr>
              <a:t>. Acesso em: 1 mar. 2026.</a:t>
            </a:r>
          </a:p>
        </p:txBody>
      </p:sp>
      <p:sp>
        <p:nvSpPr>
          <p:cNvPr name="TextBox 16" id="16"/>
          <p:cNvSpPr txBox="true"/>
          <p:nvPr/>
        </p:nvSpPr>
        <p:spPr>
          <a:xfrm rot="0">
            <a:off x="1028700" y="5510199"/>
            <a:ext cx="7880074" cy="1573530"/>
          </a:xfrm>
          <a:prstGeom prst="rect">
            <a:avLst/>
          </a:prstGeom>
        </p:spPr>
        <p:txBody>
          <a:bodyPr anchor="t" rtlCol="false" tIns="0" lIns="0" bIns="0" rIns="0">
            <a:spAutoFit/>
          </a:bodyPr>
          <a:lstStyle/>
          <a:p>
            <a:pPr algn="just">
              <a:lnSpc>
                <a:spcPts val="2520"/>
              </a:lnSpc>
              <a:spcBef>
                <a:spcPct val="0"/>
              </a:spcBef>
            </a:pPr>
            <a:r>
              <a:rPr lang="en-US" sz="1800">
                <a:solidFill>
                  <a:srgbClr val="FFFFFF"/>
                </a:solidFill>
                <a:latin typeface="Roboto"/>
                <a:ea typeface="Roboto"/>
                <a:cs typeface="Roboto"/>
                <a:sym typeface="Roboto"/>
              </a:rPr>
              <a:t>ENTERTAINMENT SOFTWARE ASSOCIATION. 2023 Essenti</a:t>
            </a:r>
            <a:r>
              <a:rPr lang="en-US" sz="1800">
                <a:solidFill>
                  <a:srgbClr val="FFFFFF"/>
                </a:solidFill>
                <a:latin typeface="Roboto"/>
                <a:ea typeface="Roboto"/>
                <a:cs typeface="Roboto"/>
                <a:sym typeface="Roboto"/>
              </a:rPr>
              <a:t>al</a:t>
            </a:r>
            <a:r>
              <a:rPr lang="en-US" sz="1800">
                <a:solidFill>
                  <a:srgbClr val="FFFFFF"/>
                </a:solidFill>
                <a:latin typeface="Roboto"/>
                <a:ea typeface="Roboto"/>
                <a:cs typeface="Roboto"/>
                <a:sym typeface="Roboto"/>
              </a:rPr>
              <a:t> facts abou</a:t>
            </a:r>
            <a:r>
              <a:rPr lang="en-US" sz="1800">
                <a:solidFill>
                  <a:srgbClr val="FFFFFF"/>
                </a:solidFill>
                <a:latin typeface="Roboto"/>
                <a:ea typeface="Roboto"/>
                <a:cs typeface="Roboto"/>
                <a:sym typeface="Roboto"/>
              </a:rPr>
              <a:t>t the U.S. </a:t>
            </a:r>
            <a:r>
              <a:rPr lang="en-US" sz="1800">
                <a:solidFill>
                  <a:srgbClr val="FFFFFF"/>
                </a:solidFill>
                <a:latin typeface="Roboto"/>
                <a:ea typeface="Roboto"/>
                <a:cs typeface="Roboto"/>
                <a:sym typeface="Roboto"/>
              </a:rPr>
              <a:t>video game industry.</a:t>
            </a:r>
            <a:r>
              <a:rPr lang="en-US" sz="1800">
                <a:solidFill>
                  <a:srgbClr val="FFFFFF"/>
                </a:solidFill>
                <a:latin typeface="Roboto"/>
                <a:ea typeface="Roboto"/>
                <a:cs typeface="Roboto"/>
                <a:sym typeface="Roboto"/>
              </a:rPr>
              <a:t> W</a:t>
            </a:r>
            <a:r>
              <a:rPr lang="en-US" sz="1800">
                <a:solidFill>
                  <a:srgbClr val="FFFFFF"/>
                </a:solidFill>
                <a:latin typeface="Roboto"/>
                <a:ea typeface="Roboto"/>
                <a:cs typeface="Roboto"/>
                <a:sym typeface="Roboto"/>
              </a:rPr>
              <a:t>ashi</a:t>
            </a:r>
            <a:r>
              <a:rPr lang="en-US" sz="1800">
                <a:solidFill>
                  <a:srgbClr val="FFFFFF"/>
                </a:solidFill>
                <a:latin typeface="Roboto"/>
                <a:ea typeface="Roboto"/>
                <a:cs typeface="Roboto"/>
                <a:sym typeface="Roboto"/>
              </a:rPr>
              <a:t>ng</a:t>
            </a:r>
            <a:r>
              <a:rPr lang="en-US" sz="1800">
                <a:solidFill>
                  <a:srgbClr val="FFFFFF"/>
                </a:solidFill>
                <a:latin typeface="Roboto"/>
                <a:ea typeface="Roboto"/>
                <a:cs typeface="Roboto"/>
                <a:sym typeface="Roboto"/>
              </a:rPr>
              <a:t>ton, DC: ESA, 2023. Disponível em: </a:t>
            </a:r>
            <a:r>
              <a:rPr lang="en-US" sz="1800" u="none">
                <a:solidFill>
                  <a:srgbClr val="FFFFFF"/>
                </a:solidFill>
                <a:latin typeface="Roboto"/>
                <a:ea typeface="Roboto"/>
                <a:cs typeface="Roboto"/>
                <a:sym typeface="Roboto"/>
              </a:rPr>
              <a:t>https://www.</a:t>
            </a:r>
            <a:r>
              <a:rPr lang="en-US" sz="1800">
                <a:solidFill>
                  <a:srgbClr val="FFFFFF"/>
                </a:solidFill>
                <a:latin typeface="Roboto"/>
                <a:ea typeface="Roboto"/>
                <a:cs typeface="Roboto"/>
                <a:sym typeface="Roboto"/>
              </a:rPr>
              <a:t>t</a:t>
            </a:r>
            <a:r>
              <a:rPr lang="en-US" sz="1800" u="none">
                <a:solidFill>
                  <a:srgbClr val="FFFFFF"/>
                </a:solidFill>
                <a:latin typeface="Roboto"/>
                <a:ea typeface="Roboto"/>
                <a:cs typeface="Roboto"/>
                <a:sym typeface="Roboto"/>
              </a:rPr>
              <a:t>h</a:t>
            </a:r>
            <a:r>
              <a:rPr lang="en-US" sz="1800">
                <a:solidFill>
                  <a:srgbClr val="FFFFFF"/>
                </a:solidFill>
                <a:latin typeface="Roboto"/>
                <a:ea typeface="Roboto"/>
                <a:cs typeface="Roboto"/>
                <a:sym typeface="Roboto"/>
              </a:rPr>
              <a:t>eesa</a:t>
            </a:r>
            <a:r>
              <a:rPr lang="en-US" sz="1800" u="none">
                <a:solidFill>
                  <a:srgbClr val="FFFFFF"/>
                </a:solidFill>
                <a:latin typeface="Roboto"/>
                <a:ea typeface="Roboto"/>
                <a:cs typeface="Roboto"/>
                <a:sym typeface="Roboto"/>
              </a:rPr>
              <a:t>.</a:t>
            </a:r>
            <a:r>
              <a:rPr lang="en-US" sz="1800">
                <a:solidFill>
                  <a:srgbClr val="FFFFFF"/>
                </a:solidFill>
                <a:latin typeface="Roboto"/>
                <a:ea typeface="Roboto"/>
                <a:cs typeface="Roboto"/>
                <a:sym typeface="Roboto"/>
              </a:rPr>
              <a:t>com/resource/2023-esse</a:t>
            </a:r>
            <a:r>
              <a:rPr lang="en-US" sz="1800" u="none">
                <a:solidFill>
                  <a:srgbClr val="FFFFFF"/>
                </a:solidFill>
                <a:latin typeface="Roboto"/>
                <a:ea typeface="Roboto"/>
                <a:cs typeface="Roboto"/>
                <a:sym typeface="Roboto"/>
              </a:rPr>
              <a:t>nt</a:t>
            </a:r>
            <a:r>
              <a:rPr lang="en-US" sz="1800">
                <a:solidFill>
                  <a:srgbClr val="FFFFFF"/>
                </a:solidFill>
                <a:latin typeface="Roboto"/>
                <a:ea typeface="Roboto"/>
                <a:cs typeface="Roboto"/>
                <a:sym typeface="Roboto"/>
              </a:rPr>
              <a:t>ia</a:t>
            </a:r>
            <a:r>
              <a:rPr lang="en-US" sz="1800" u="none">
                <a:solidFill>
                  <a:srgbClr val="FFFFFF"/>
                </a:solidFill>
                <a:latin typeface="Roboto"/>
                <a:ea typeface="Roboto"/>
                <a:cs typeface="Roboto"/>
                <a:sym typeface="Roboto"/>
              </a:rPr>
              <a:t>l</a:t>
            </a:r>
            <a:r>
              <a:rPr lang="en-US" sz="1800">
                <a:solidFill>
                  <a:srgbClr val="FFFFFF"/>
                </a:solidFill>
                <a:latin typeface="Roboto"/>
                <a:ea typeface="Roboto"/>
                <a:cs typeface="Roboto"/>
                <a:sym typeface="Roboto"/>
              </a:rPr>
              <a:t>-fa</a:t>
            </a:r>
            <a:r>
              <a:rPr lang="en-US" sz="1800" u="none">
                <a:solidFill>
                  <a:srgbClr val="FFFFFF"/>
                </a:solidFill>
                <a:latin typeface="Roboto"/>
                <a:ea typeface="Roboto"/>
                <a:cs typeface="Roboto"/>
                <a:sym typeface="Roboto"/>
              </a:rPr>
              <a:t>c</a:t>
            </a:r>
            <a:r>
              <a:rPr lang="en-US" sz="1800">
                <a:solidFill>
                  <a:srgbClr val="FFFFFF"/>
                </a:solidFill>
                <a:latin typeface="Roboto"/>
                <a:ea typeface="Roboto"/>
                <a:cs typeface="Roboto"/>
                <a:sym typeface="Roboto"/>
              </a:rPr>
              <a:t>ts-</a:t>
            </a:r>
            <a:r>
              <a:rPr lang="en-US" sz="1800" u="none">
                <a:solidFill>
                  <a:srgbClr val="FFFFFF"/>
                </a:solidFill>
                <a:latin typeface="Roboto"/>
                <a:ea typeface="Roboto"/>
                <a:cs typeface="Roboto"/>
                <a:sym typeface="Roboto"/>
              </a:rPr>
              <a:t>a</a:t>
            </a:r>
            <a:r>
              <a:rPr lang="en-US" sz="1800">
                <a:solidFill>
                  <a:srgbClr val="FFFFFF"/>
                </a:solidFill>
                <a:latin typeface="Roboto"/>
                <a:ea typeface="Roboto"/>
                <a:cs typeface="Roboto"/>
                <a:sym typeface="Roboto"/>
              </a:rPr>
              <a:t>bou</a:t>
            </a:r>
            <a:r>
              <a:rPr lang="en-US" sz="1800" u="none">
                <a:solidFill>
                  <a:srgbClr val="FFFFFF"/>
                </a:solidFill>
                <a:latin typeface="Roboto"/>
                <a:ea typeface="Roboto"/>
                <a:cs typeface="Roboto"/>
                <a:sym typeface="Roboto"/>
              </a:rPr>
              <a:t>t</a:t>
            </a:r>
            <a:r>
              <a:rPr lang="en-US" sz="1800">
                <a:solidFill>
                  <a:srgbClr val="FFFFFF"/>
                </a:solidFill>
                <a:latin typeface="Roboto"/>
                <a:ea typeface="Roboto"/>
                <a:cs typeface="Roboto"/>
                <a:sym typeface="Roboto"/>
              </a:rPr>
              <a:t>-the-v</a:t>
            </a:r>
            <a:r>
              <a:rPr lang="en-US" sz="1800" u="none">
                <a:solidFill>
                  <a:srgbClr val="FFFFFF"/>
                </a:solidFill>
                <a:latin typeface="Roboto"/>
                <a:ea typeface="Roboto"/>
                <a:cs typeface="Roboto"/>
                <a:sym typeface="Roboto"/>
              </a:rPr>
              <a:t>i</a:t>
            </a:r>
            <a:r>
              <a:rPr lang="en-US" sz="1800">
                <a:solidFill>
                  <a:srgbClr val="FFFFFF"/>
                </a:solidFill>
                <a:latin typeface="Roboto"/>
                <a:ea typeface="Roboto"/>
                <a:cs typeface="Roboto"/>
                <a:sym typeface="Roboto"/>
              </a:rPr>
              <a:t>de</a:t>
            </a:r>
            <a:r>
              <a:rPr lang="en-US" sz="1800" u="none">
                <a:solidFill>
                  <a:srgbClr val="FFFFFF"/>
                </a:solidFill>
                <a:latin typeface="Roboto"/>
                <a:ea typeface="Roboto"/>
                <a:cs typeface="Roboto"/>
                <a:sym typeface="Roboto"/>
              </a:rPr>
              <a:t>o</a:t>
            </a:r>
            <a:r>
              <a:rPr lang="en-US" sz="1800">
                <a:solidFill>
                  <a:srgbClr val="FFFFFF"/>
                </a:solidFill>
                <a:latin typeface="Roboto"/>
                <a:ea typeface="Roboto"/>
                <a:cs typeface="Roboto"/>
                <a:sym typeface="Roboto"/>
              </a:rPr>
              <a:t>-game-i</a:t>
            </a:r>
            <a:r>
              <a:rPr lang="en-US" sz="1800" u="none">
                <a:solidFill>
                  <a:srgbClr val="FFFFFF"/>
                </a:solidFill>
                <a:latin typeface="Roboto"/>
                <a:ea typeface="Roboto"/>
                <a:cs typeface="Roboto"/>
                <a:sym typeface="Roboto"/>
              </a:rPr>
              <a:t>n</a:t>
            </a:r>
            <a:r>
              <a:rPr lang="en-US" sz="1800">
                <a:solidFill>
                  <a:srgbClr val="FFFFFF"/>
                </a:solidFill>
                <a:latin typeface="Roboto"/>
                <a:ea typeface="Roboto"/>
                <a:cs typeface="Roboto"/>
                <a:sym typeface="Roboto"/>
              </a:rPr>
              <a:t>du</a:t>
            </a:r>
            <a:r>
              <a:rPr lang="en-US" sz="1800" u="none">
                <a:solidFill>
                  <a:srgbClr val="FFFFFF"/>
                </a:solidFill>
                <a:latin typeface="Roboto"/>
                <a:ea typeface="Roboto"/>
                <a:cs typeface="Roboto"/>
                <a:sym typeface="Roboto"/>
              </a:rPr>
              <a:t>st</a:t>
            </a:r>
            <a:r>
              <a:rPr lang="en-US" sz="1800">
                <a:solidFill>
                  <a:srgbClr val="FFFFFF"/>
                </a:solidFill>
                <a:latin typeface="Roboto"/>
                <a:ea typeface="Roboto"/>
                <a:cs typeface="Roboto"/>
                <a:sym typeface="Roboto"/>
              </a:rPr>
              <a:t>ry</a:t>
            </a:r>
            <a:r>
              <a:rPr lang="en-US" sz="1800" u="none">
                <a:solidFill>
                  <a:srgbClr val="FFFFFF"/>
                </a:solidFill>
                <a:latin typeface="Roboto"/>
                <a:ea typeface="Roboto"/>
                <a:cs typeface="Roboto"/>
                <a:sym typeface="Roboto"/>
              </a:rPr>
              <a:t>/</a:t>
            </a:r>
            <a:r>
              <a:rPr lang="en-US" sz="1800">
                <a:solidFill>
                  <a:srgbClr val="FFFFFF"/>
                </a:solidFill>
                <a:latin typeface="Roboto"/>
                <a:ea typeface="Roboto"/>
                <a:cs typeface="Roboto"/>
                <a:sym typeface="Roboto"/>
              </a:rPr>
              <a:t>. Acesso em: 1 mar. 2026.</a:t>
            </a:r>
          </a:p>
          <a:p>
            <a:pPr algn="just">
              <a:lnSpc>
                <a:spcPts val="2520"/>
              </a:lnSpc>
              <a:spcBef>
                <a:spcPct val="0"/>
              </a:spcBef>
            </a:pPr>
          </a:p>
        </p:txBody>
      </p:sp>
      <p:sp>
        <p:nvSpPr>
          <p:cNvPr name="TextBox 17" id="17"/>
          <p:cNvSpPr txBox="true"/>
          <p:nvPr/>
        </p:nvSpPr>
        <p:spPr>
          <a:xfrm rot="0">
            <a:off x="10042910" y="5510199"/>
            <a:ext cx="7880074" cy="1259205"/>
          </a:xfrm>
          <a:prstGeom prst="rect">
            <a:avLst/>
          </a:prstGeom>
        </p:spPr>
        <p:txBody>
          <a:bodyPr anchor="t" rtlCol="false" tIns="0" lIns="0" bIns="0" rIns="0">
            <a:spAutoFit/>
          </a:bodyPr>
          <a:lstStyle/>
          <a:p>
            <a:pPr algn="just">
              <a:lnSpc>
                <a:spcPts val="2520"/>
              </a:lnSpc>
              <a:spcBef>
                <a:spcPct val="0"/>
              </a:spcBef>
            </a:pPr>
            <a:r>
              <a:rPr lang="en-US" sz="1800">
                <a:solidFill>
                  <a:srgbClr val="FFFFFF"/>
                </a:solidFill>
                <a:latin typeface="Roboto"/>
                <a:ea typeface="Roboto"/>
                <a:cs typeface="Roboto"/>
                <a:sym typeface="Roboto"/>
              </a:rPr>
              <a:t>GRAND VIEW RESEARCH. Digital fitness market size, share</a:t>
            </a:r>
            <a:r>
              <a:rPr lang="en-US" sz="1800">
                <a:solidFill>
                  <a:srgbClr val="FFFFFF"/>
                </a:solidFill>
                <a:latin typeface="Roboto"/>
                <a:ea typeface="Roboto"/>
                <a:cs typeface="Roboto"/>
                <a:sym typeface="Roboto"/>
              </a:rPr>
              <a:t> &amp; tre</a:t>
            </a:r>
            <a:r>
              <a:rPr lang="en-US" sz="1800">
                <a:solidFill>
                  <a:srgbClr val="FFFFFF"/>
                </a:solidFill>
                <a:latin typeface="Roboto"/>
                <a:ea typeface="Roboto"/>
                <a:cs typeface="Roboto"/>
                <a:sym typeface="Roboto"/>
              </a:rPr>
              <a:t>nds analysis report.</a:t>
            </a:r>
            <a:r>
              <a:rPr lang="en-US" sz="1800">
                <a:solidFill>
                  <a:srgbClr val="FFFFFF"/>
                </a:solidFill>
                <a:latin typeface="Roboto"/>
                <a:ea typeface="Roboto"/>
                <a:cs typeface="Roboto"/>
                <a:sym typeface="Roboto"/>
              </a:rPr>
              <a:t> S</a:t>
            </a:r>
            <a:r>
              <a:rPr lang="en-US" sz="1800">
                <a:solidFill>
                  <a:srgbClr val="FFFFFF"/>
                </a:solidFill>
                <a:latin typeface="Roboto"/>
                <a:ea typeface="Roboto"/>
                <a:cs typeface="Roboto"/>
                <a:sym typeface="Roboto"/>
              </a:rPr>
              <a:t>an</a:t>
            </a:r>
            <a:r>
              <a:rPr lang="en-US" sz="1800">
                <a:solidFill>
                  <a:srgbClr val="FFFFFF"/>
                </a:solidFill>
                <a:latin typeface="Roboto"/>
                <a:ea typeface="Roboto"/>
                <a:cs typeface="Roboto"/>
                <a:sym typeface="Roboto"/>
              </a:rPr>
              <a:t> Franc</a:t>
            </a:r>
            <a:r>
              <a:rPr lang="en-US" sz="1800">
                <a:solidFill>
                  <a:srgbClr val="FFFFFF"/>
                </a:solidFill>
                <a:latin typeface="Roboto"/>
                <a:ea typeface="Roboto"/>
                <a:cs typeface="Roboto"/>
                <a:sym typeface="Roboto"/>
              </a:rPr>
              <a:t>isco: Grand View Research, 2023. Disponível em: </a:t>
            </a:r>
            <a:r>
              <a:rPr lang="en-US" sz="1800" u="none">
                <a:solidFill>
                  <a:srgbClr val="FFFFFF"/>
                </a:solidFill>
                <a:latin typeface="Roboto"/>
                <a:ea typeface="Roboto"/>
                <a:cs typeface="Roboto"/>
                <a:sym typeface="Roboto"/>
              </a:rPr>
              <a:t>https://www.</a:t>
            </a:r>
            <a:r>
              <a:rPr lang="en-US" sz="1800">
                <a:solidFill>
                  <a:srgbClr val="FFFFFF"/>
                </a:solidFill>
                <a:latin typeface="Roboto"/>
                <a:ea typeface="Roboto"/>
                <a:cs typeface="Roboto"/>
                <a:sym typeface="Roboto"/>
              </a:rPr>
              <a:t>grandvie</a:t>
            </a:r>
            <a:r>
              <a:rPr lang="en-US" sz="1800" u="none">
                <a:solidFill>
                  <a:srgbClr val="FFFFFF"/>
                </a:solidFill>
                <a:latin typeface="Roboto"/>
                <a:ea typeface="Roboto"/>
                <a:cs typeface="Roboto"/>
                <a:sym typeface="Roboto"/>
              </a:rPr>
              <a:t>w</a:t>
            </a:r>
            <a:r>
              <a:rPr lang="en-US" sz="1800">
                <a:solidFill>
                  <a:srgbClr val="FFFFFF"/>
                </a:solidFill>
                <a:latin typeface="Roboto"/>
                <a:ea typeface="Roboto"/>
                <a:cs typeface="Roboto"/>
                <a:sym typeface="Roboto"/>
              </a:rPr>
              <a:t>researc</a:t>
            </a:r>
            <a:r>
              <a:rPr lang="en-US" sz="1800" u="none">
                <a:solidFill>
                  <a:srgbClr val="FFFFFF"/>
                </a:solidFill>
                <a:latin typeface="Roboto"/>
                <a:ea typeface="Roboto"/>
                <a:cs typeface="Roboto"/>
                <a:sym typeface="Roboto"/>
              </a:rPr>
              <a:t>h</a:t>
            </a:r>
            <a:r>
              <a:rPr lang="en-US" sz="1800">
                <a:solidFill>
                  <a:srgbClr val="FFFFFF"/>
                </a:solidFill>
                <a:latin typeface="Roboto"/>
                <a:ea typeface="Roboto"/>
                <a:cs typeface="Roboto"/>
                <a:sym typeface="Roboto"/>
              </a:rPr>
              <a:t>.c</a:t>
            </a:r>
            <a:r>
              <a:rPr lang="en-US" sz="1800" u="none">
                <a:solidFill>
                  <a:srgbClr val="FFFFFF"/>
                </a:solidFill>
                <a:latin typeface="Roboto"/>
                <a:ea typeface="Roboto"/>
                <a:cs typeface="Roboto"/>
                <a:sym typeface="Roboto"/>
              </a:rPr>
              <a:t>o</a:t>
            </a:r>
            <a:r>
              <a:rPr lang="en-US" sz="1800">
                <a:solidFill>
                  <a:srgbClr val="FFFFFF"/>
                </a:solidFill>
                <a:latin typeface="Roboto"/>
                <a:ea typeface="Roboto"/>
                <a:cs typeface="Roboto"/>
                <a:sym typeface="Roboto"/>
              </a:rPr>
              <a:t>m/</a:t>
            </a:r>
            <a:r>
              <a:rPr lang="en-US" sz="1800" u="none">
                <a:solidFill>
                  <a:srgbClr val="FFFFFF"/>
                </a:solidFill>
                <a:latin typeface="Roboto"/>
                <a:ea typeface="Roboto"/>
                <a:cs typeface="Roboto"/>
                <a:sym typeface="Roboto"/>
              </a:rPr>
              <a:t>in</a:t>
            </a:r>
            <a:r>
              <a:rPr lang="en-US" sz="1800">
                <a:solidFill>
                  <a:srgbClr val="FFFFFF"/>
                </a:solidFill>
                <a:latin typeface="Roboto"/>
                <a:ea typeface="Roboto"/>
                <a:cs typeface="Roboto"/>
                <a:sym typeface="Roboto"/>
              </a:rPr>
              <a:t>d</a:t>
            </a:r>
            <a:r>
              <a:rPr lang="en-US" sz="1800" u="none">
                <a:solidFill>
                  <a:srgbClr val="FFFFFF"/>
                </a:solidFill>
                <a:latin typeface="Roboto"/>
                <a:ea typeface="Roboto"/>
                <a:cs typeface="Roboto"/>
                <a:sym typeface="Roboto"/>
              </a:rPr>
              <a:t>u</a:t>
            </a:r>
            <a:r>
              <a:rPr lang="en-US" sz="1800">
                <a:solidFill>
                  <a:srgbClr val="FFFFFF"/>
                </a:solidFill>
                <a:latin typeface="Roboto"/>
                <a:ea typeface="Roboto"/>
                <a:cs typeface="Roboto"/>
                <a:sym typeface="Roboto"/>
              </a:rPr>
              <a:t>stry-ana</a:t>
            </a:r>
            <a:r>
              <a:rPr lang="en-US" sz="1800" u="none">
                <a:solidFill>
                  <a:srgbClr val="FFFFFF"/>
                </a:solidFill>
                <a:latin typeface="Roboto"/>
                <a:ea typeface="Roboto"/>
                <a:cs typeface="Roboto"/>
                <a:sym typeface="Roboto"/>
              </a:rPr>
              <a:t>l</a:t>
            </a:r>
            <a:r>
              <a:rPr lang="en-US" sz="1800">
                <a:solidFill>
                  <a:srgbClr val="FFFFFF"/>
                </a:solidFill>
                <a:latin typeface="Roboto"/>
                <a:ea typeface="Roboto"/>
                <a:cs typeface="Roboto"/>
                <a:sym typeface="Roboto"/>
              </a:rPr>
              <a:t>ys</a:t>
            </a:r>
            <a:r>
              <a:rPr lang="en-US" sz="1800" u="none">
                <a:solidFill>
                  <a:srgbClr val="FFFFFF"/>
                </a:solidFill>
                <a:latin typeface="Roboto"/>
                <a:ea typeface="Roboto"/>
                <a:cs typeface="Roboto"/>
                <a:sym typeface="Roboto"/>
              </a:rPr>
              <a:t>is/</a:t>
            </a:r>
            <a:r>
              <a:rPr lang="en-US" sz="1800">
                <a:solidFill>
                  <a:srgbClr val="FFFFFF"/>
                </a:solidFill>
                <a:latin typeface="Roboto"/>
                <a:ea typeface="Roboto"/>
                <a:cs typeface="Roboto"/>
                <a:sym typeface="Roboto"/>
              </a:rPr>
              <a:t>d</a:t>
            </a:r>
            <a:r>
              <a:rPr lang="en-US" sz="1800" u="none">
                <a:solidFill>
                  <a:srgbClr val="FFFFFF"/>
                </a:solidFill>
                <a:latin typeface="Roboto"/>
                <a:ea typeface="Roboto"/>
                <a:cs typeface="Roboto"/>
                <a:sym typeface="Roboto"/>
              </a:rPr>
              <a:t>i</a:t>
            </a:r>
            <a:r>
              <a:rPr lang="en-US" sz="1800">
                <a:solidFill>
                  <a:srgbClr val="FFFFFF"/>
                </a:solidFill>
                <a:latin typeface="Roboto"/>
                <a:ea typeface="Roboto"/>
                <a:cs typeface="Roboto"/>
                <a:sym typeface="Roboto"/>
              </a:rPr>
              <a:t>g</a:t>
            </a:r>
            <a:r>
              <a:rPr lang="en-US" sz="1800" u="none">
                <a:solidFill>
                  <a:srgbClr val="FFFFFF"/>
                </a:solidFill>
                <a:latin typeface="Roboto"/>
                <a:ea typeface="Roboto"/>
                <a:cs typeface="Roboto"/>
                <a:sym typeface="Roboto"/>
              </a:rPr>
              <a:t>it</a:t>
            </a:r>
            <a:r>
              <a:rPr lang="en-US" sz="1800">
                <a:solidFill>
                  <a:srgbClr val="FFFFFF"/>
                </a:solidFill>
                <a:latin typeface="Roboto"/>
                <a:ea typeface="Roboto"/>
                <a:cs typeface="Roboto"/>
                <a:sym typeface="Roboto"/>
              </a:rPr>
              <a:t>al-fitn</a:t>
            </a:r>
            <a:r>
              <a:rPr lang="en-US" sz="1800" u="none">
                <a:solidFill>
                  <a:srgbClr val="FFFFFF"/>
                </a:solidFill>
                <a:latin typeface="Roboto"/>
                <a:ea typeface="Roboto"/>
                <a:cs typeface="Roboto"/>
                <a:sym typeface="Roboto"/>
              </a:rPr>
              <a:t>e</a:t>
            </a:r>
            <a:r>
              <a:rPr lang="en-US" sz="1800">
                <a:solidFill>
                  <a:srgbClr val="FFFFFF"/>
                </a:solidFill>
                <a:latin typeface="Roboto"/>
                <a:ea typeface="Roboto"/>
                <a:cs typeface="Roboto"/>
                <a:sym typeface="Roboto"/>
              </a:rPr>
              <a:t>ss-</a:t>
            </a:r>
            <a:r>
              <a:rPr lang="en-US" sz="1800" u="none">
                <a:solidFill>
                  <a:srgbClr val="FFFFFF"/>
                </a:solidFill>
                <a:latin typeface="Roboto"/>
                <a:ea typeface="Roboto"/>
                <a:cs typeface="Roboto"/>
                <a:sym typeface="Roboto"/>
              </a:rPr>
              <a:t>m</a:t>
            </a:r>
            <a:r>
              <a:rPr lang="en-US" sz="1800">
                <a:solidFill>
                  <a:srgbClr val="FFFFFF"/>
                </a:solidFill>
                <a:latin typeface="Roboto"/>
                <a:ea typeface="Roboto"/>
                <a:cs typeface="Roboto"/>
                <a:sym typeface="Roboto"/>
              </a:rPr>
              <a:t>arket. Acesso em: 1 mar. 2026.</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2E1B5B"/>
        </a:solidFill>
      </p:bgPr>
    </p:bg>
    <p:spTree>
      <p:nvGrpSpPr>
        <p:cNvPr id="1" name=""/>
        <p:cNvGrpSpPr/>
        <p:nvPr/>
      </p:nvGrpSpPr>
      <p:grpSpPr>
        <a:xfrm>
          <a:off x="0" y="0"/>
          <a:ext cx="0" cy="0"/>
          <a:chOff x="0" y="0"/>
          <a:chExt cx="0" cy="0"/>
        </a:xfrm>
      </p:grpSpPr>
      <p:sp>
        <p:nvSpPr>
          <p:cNvPr name="Freeform 2" id="2"/>
          <p:cNvSpPr/>
          <p:nvPr/>
        </p:nvSpPr>
        <p:spPr>
          <a:xfrm flipH="false" flipV="false" rot="0">
            <a:off x="66525" y="1077076"/>
            <a:ext cx="3474012" cy="1212746"/>
          </a:xfrm>
          <a:custGeom>
            <a:avLst/>
            <a:gdLst/>
            <a:ahLst/>
            <a:cxnLst/>
            <a:rect r="r" b="b" t="t" l="l"/>
            <a:pathLst>
              <a:path h="1212746" w="3474012">
                <a:moveTo>
                  <a:pt x="0" y="0"/>
                </a:moveTo>
                <a:lnTo>
                  <a:pt x="3474012" y="0"/>
                </a:lnTo>
                <a:lnTo>
                  <a:pt x="3474012" y="1212746"/>
                </a:lnTo>
                <a:lnTo>
                  <a:pt x="0" y="121274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2860593" y="1415341"/>
            <a:ext cx="4907801" cy="874481"/>
          </a:xfrm>
          <a:custGeom>
            <a:avLst/>
            <a:gdLst/>
            <a:ahLst/>
            <a:cxnLst/>
            <a:rect r="r" b="b" t="t" l="l"/>
            <a:pathLst>
              <a:path h="874481" w="4907801">
                <a:moveTo>
                  <a:pt x="0" y="0"/>
                </a:moveTo>
                <a:lnTo>
                  <a:pt x="4907801" y="0"/>
                </a:lnTo>
                <a:lnTo>
                  <a:pt x="4907801" y="874481"/>
                </a:lnTo>
                <a:lnTo>
                  <a:pt x="0" y="87448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2144344" y="731163"/>
            <a:ext cx="5270840" cy="1840002"/>
          </a:xfrm>
          <a:custGeom>
            <a:avLst/>
            <a:gdLst/>
            <a:ahLst/>
            <a:cxnLst/>
            <a:rect r="r" b="b" t="t" l="l"/>
            <a:pathLst>
              <a:path h="1840002" w="5270840">
                <a:moveTo>
                  <a:pt x="0" y="0"/>
                </a:moveTo>
                <a:lnTo>
                  <a:pt x="5270840" y="0"/>
                </a:lnTo>
                <a:lnTo>
                  <a:pt x="5270840" y="1840002"/>
                </a:lnTo>
                <a:lnTo>
                  <a:pt x="0" y="184000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4779764" y="1077076"/>
            <a:ext cx="4233199" cy="1477771"/>
          </a:xfrm>
          <a:custGeom>
            <a:avLst/>
            <a:gdLst/>
            <a:ahLst/>
            <a:cxnLst/>
            <a:rect r="r" b="b" t="t" l="l"/>
            <a:pathLst>
              <a:path h="1477771" w="4233199">
                <a:moveTo>
                  <a:pt x="0" y="0"/>
                </a:moveTo>
                <a:lnTo>
                  <a:pt x="4233199" y="0"/>
                </a:lnTo>
                <a:lnTo>
                  <a:pt x="4233199" y="1477771"/>
                </a:lnTo>
                <a:lnTo>
                  <a:pt x="0" y="147777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true" flipV="false" rot="0">
            <a:off x="8368497" y="990216"/>
            <a:ext cx="3890591" cy="693233"/>
          </a:xfrm>
          <a:custGeom>
            <a:avLst/>
            <a:gdLst/>
            <a:ahLst/>
            <a:cxnLst/>
            <a:rect r="r" b="b" t="t" l="l"/>
            <a:pathLst>
              <a:path h="693233" w="3890591">
                <a:moveTo>
                  <a:pt x="3890591" y="0"/>
                </a:moveTo>
                <a:lnTo>
                  <a:pt x="0" y="0"/>
                </a:lnTo>
                <a:lnTo>
                  <a:pt x="0" y="693233"/>
                </a:lnTo>
                <a:lnTo>
                  <a:pt x="3890591" y="693233"/>
                </a:lnTo>
                <a:lnTo>
                  <a:pt x="3890591"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26536" y="4153994"/>
            <a:ext cx="11187008" cy="6128433"/>
          </a:xfrm>
          <a:custGeom>
            <a:avLst/>
            <a:gdLst/>
            <a:ahLst/>
            <a:cxnLst/>
            <a:rect r="r" b="b" t="t" l="l"/>
            <a:pathLst>
              <a:path h="6128433" w="11187008">
                <a:moveTo>
                  <a:pt x="0" y="0"/>
                </a:moveTo>
                <a:lnTo>
                  <a:pt x="11187007" y="0"/>
                </a:lnTo>
                <a:lnTo>
                  <a:pt x="11187007" y="6128434"/>
                </a:lnTo>
                <a:lnTo>
                  <a:pt x="0" y="6128434"/>
                </a:lnTo>
                <a:lnTo>
                  <a:pt x="0" y="0"/>
                </a:lnTo>
                <a:close/>
              </a:path>
            </a:pathLst>
          </a:custGeom>
          <a:blipFill>
            <a:blip r:embed="rId6">
              <a:alphaModFix amt="50000"/>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true" flipV="false" rot="0">
            <a:off x="11160471" y="4158567"/>
            <a:ext cx="11187008" cy="6128433"/>
          </a:xfrm>
          <a:custGeom>
            <a:avLst/>
            <a:gdLst/>
            <a:ahLst/>
            <a:cxnLst/>
            <a:rect r="r" b="b" t="t" l="l"/>
            <a:pathLst>
              <a:path h="6128433" w="11187008">
                <a:moveTo>
                  <a:pt x="11187008" y="0"/>
                </a:moveTo>
                <a:lnTo>
                  <a:pt x="0" y="0"/>
                </a:lnTo>
                <a:lnTo>
                  <a:pt x="0" y="6128433"/>
                </a:lnTo>
                <a:lnTo>
                  <a:pt x="11187008" y="6128433"/>
                </a:lnTo>
                <a:lnTo>
                  <a:pt x="11187008" y="0"/>
                </a:lnTo>
                <a:close/>
              </a:path>
            </a:pathLst>
          </a:custGeom>
          <a:blipFill>
            <a:blip r:embed="rId6">
              <a:alphaModFix amt="50000"/>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0">
            <a:off x="180825" y="7522508"/>
            <a:ext cx="2109770" cy="4114800"/>
          </a:xfrm>
          <a:custGeom>
            <a:avLst/>
            <a:gdLst/>
            <a:ahLst/>
            <a:cxnLst/>
            <a:rect r="r" b="b" t="t" l="l"/>
            <a:pathLst>
              <a:path h="4114800" w="2109770">
                <a:moveTo>
                  <a:pt x="0" y="0"/>
                </a:moveTo>
                <a:lnTo>
                  <a:pt x="2109771" y="0"/>
                </a:lnTo>
                <a:lnTo>
                  <a:pt x="2109771"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10" id="10"/>
          <p:cNvSpPr txBox="true"/>
          <p:nvPr/>
        </p:nvSpPr>
        <p:spPr>
          <a:xfrm rot="0">
            <a:off x="667863" y="3158579"/>
            <a:ext cx="16539432" cy="3061771"/>
          </a:xfrm>
          <a:prstGeom prst="rect">
            <a:avLst/>
          </a:prstGeom>
        </p:spPr>
        <p:txBody>
          <a:bodyPr anchor="t" rtlCol="false" tIns="0" lIns="0" bIns="0" rIns="0">
            <a:spAutoFit/>
          </a:bodyPr>
          <a:lstStyle/>
          <a:p>
            <a:pPr algn="ctr">
              <a:lnSpc>
                <a:spcPts val="23915"/>
              </a:lnSpc>
            </a:pPr>
            <a:r>
              <a:rPr lang="en-US" sz="17082" spc="17">
                <a:solidFill>
                  <a:srgbClr val="FFFFFF"/>
                </a:solidFill>
                <a:latin typeface="Arcade Gamer"/>
                <a:ea typeface="Arcade Gamer"/>
                <a:cs typeface="Arcade Gamer"/>
                <a:sym typeface="Arcade Gamer"/>
              </a:rPr>
              <a:t>OBRIGADO</a:t>
            </a:r>
          </a:p>
        </p:txBody>
      </p:sp>
      <p:sp>
        <p:nvSpPr>
          <p:cNvPr name="Freeform 11" id="11"/>
          <p:cNvSpPr/>
          <p:nvPr/>
        </p:nvSpPr>
        <p:spPr>
          <a:xfrm flipH="false" flipV="false" rot="0">
            <a:off x="1026289" y="7139358"/>
            <a:ext cx="2109770" cy="4114800"/>
          </a:xfrm>
          <a:custGeom>
            <a:avLst/>
            <a:gdLst/>
            <a:ahLst/>
            <a:cxnLst/>
            <a:rect r="r" b="b" t="t" l="l"/>
            <a:pathLst>
              <a:path h="4114800" w="2109770">
                <a:moveTo>
                  <a:pt x="0" y="0"/>
                </a:moveTo>
                <a:lnTo>
                  <a:pt x="2109770" y="0"/>
                </a:lnTo>
                <a:lnTo>
                  <a:pt x="2109770"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2" id="12"/>
          <p:cNvSpPr/>
          <p:nvPr/>
        </p:nvSpPr>
        <p:spPr>
          <a:xfrm flipH="false" flipV="false" rot="0">
            <a:off x="2081174" y="7953089"/>
            <a:ext cx="2109770" cy="4114800"/>
          </a:xfrm>
          <a:custGeom>
            <a:avLst/>
            <a:gdLst/>
            <a:ahLst/>
            <a:cxnLst/>
            <a:rect r="r" b="b" t="t" l="l"/>
            <a:pathLst>
              <a:path h="4114800" w="2109770">
                <a:moveTo>
                  <a:pt x="0" y="0"/>
                </a:moveTo>
                <a:lnTo>
                  <a:pt x="2109770" y="0"/>
                </a:lnTo>
                <a:lnTo>
                  <a:pt x="2109770"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3" id="13"/>
          <p:cNvSpPr/>
          <p:nvPr/>
        </p:nvSpPr>
        <p:spPr>
          <a:xfrm flipH="false" flipV="false" rot="0">
            <a:off x="3136059" y="7347611"/>
            <a:ext cx="2109770" cy="4114800"/>
          </a:xfrm>
          <a:custGeom>
            <a:avLst/>
            <a:gdLst/>
            <a:ahLst/>
            <a:cxnLst/>
            <a:rect r="r" b="b" t="t" l="l"/>
            <a:pathLst>
              <a:path h="4114800" w="2109770">
                <a:moveTo>
                  <a:pt x="0" y="0"/>
                </a:moveTo>
                <a:lnTo>
                  <a:pt x="2109770" y="0"/>
                </a:lnTo>
                <a:lnTo>
                  <a:pt x="2109770"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4" id="14"/>
          <p:cNvSpPr/>
          <p:nvPr/>
        </p:nvSpPr>
        <p:spPr>
          <a:xfrm flipH="false" flipV="false" rot="0">
            <a:off x="4565830" y="7732902"/>
            <a:ext cx="2109770" cy="4114800"/>
          </a:xfrm>
          <a:custGeom>
            <a:avLst/>
            <a:gdLst/>
            <a:ahLst/>
            <a:cxnLst/>
            <a:rect r="r" b="b" t="t" l="l"/>
            <a:pathLst>
              <a:path h="4114800" w="2109770">
                <a:moveTo>
                  <a:pt x="0" y="0"/>
                </a:moveTo>
                <a:lnTo>
                  <a:pt x="2109770" y="0"/>
                </a:lnTo>
                <a:lnTo>
                  <a:pt x="2109770"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5" id="15"/>
          <p:cNvSpPr/>
          <p:nvPr/>
        </p:nvSpPr>
        <p:spPr>
          <a:xfrm flipH="false" flipV="false" rot="0">
            <a:off x="5772923" y="7732902"/>
            <a:ext cx="2109770" cy="4114800"/>
          </a:xfrm>
          <a:custGeom>
            <a:avLst/>
            <a:gdLst/>
            <a:ahLst/>
            <a:cxnLst/>
            <a:rect r="r" b="b" t="t" l="l"/>
            <a:pathLst>
              <a:path h="4114800" w="2109770">
                <a:moveTo>
                  <a:pt x="0" y="0"/>
                </a:moveTo>
                <a:lnTo>
                  <a:pt x="2109771" y="0"/>
                </a:lnTo>
                <a:lnTo>
                  <a:pt x="2109771"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6" id="16"/>
          <p:cNvSpPr/>
          <p:nvPr/>
        </p:nvSpPr>
        <p:spPr>
          <a:xfrm flipH="false" flipV="false" rot="0">
            <a:off x="6827808" y="7953089"/>
            <a:ext cx="2109770" cy="4114800"/>
          </a:xfrm>
          <a:custGeom>
            <a:avLst/>
            <a:gdLst/>
            <a:ahLst/>
            <a:cxnLst/>
            <a:rect r="r" b="b" t="t" l="l"/>
            <a:pathLst>
              <a:path h="4114800" w="2109770">
                <a:moveTo>
                  <a:pt x="0" y="0"/>
                </a:moveTo>
                <a:lnTo>
                  <a:pt x="2109771" y="0"/>
                </a:lnTo>
                <a:lnTo>
                  <a:pt x="2109771"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7" id="17"/>
          <p:cNvSpPr/>
          <p:nvPr/>
        </p:nvSpPr>
        <p:spPr>
          <a:xfrm flipH="false" flipV="false" rot="0">
            <a:off x="7882694" y="7522508"/>
            <a:ext cx="2109770" cy="4114800"/>
          </a:xfrm>
          <a:custGeom>
            <a:avLst/>
            <a:gdLst/>
            <a:ahLst/>
            <a:cxnLst/>
            <a:rect r="r" b="b" t="t" l="l"/>
            <a:pathLst>
              <a:path h="4114800" w="2109770">
                <a:moveTo>
                  <a:pt x="0" y="0"/>
                </a:moveTo>
                <a:lnTo>
                  <a:pt x="2109770" y="0"/>
                </a:lnTo>
                <a:lnTo>
                  <a:pt x="2109770"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8" id="18"/>
          <p:cNvSpPr/>
          <p:nvPr/>
        </p:nvSpPr>
        <p:spPr>
          <a:xfrm flipH="false" flipV="false" rot="0">
            <a:off x="8937579" y="8055901"/>
            <a:ext cx="2109770" cy="4114800"/>
          </a:xfrm>
          <a:custGeom>
            <a:avLst/>
            <a:gdLst/>
            <a:ahLst/>
            <a:cxnLst/>
            <a:rect r="r" b="b" t="t" l="l"/>
            <a:pathLst>
              <a:path h="4114800" w="2109770">
                <a:moveTo>
                  <a:pt x="0" y="0"/>
                </a:moveTo>
                <a:lnTo>
                  <a:pt x="2109770" y="0"/>
                </a:lnTo>
                <a:lnTo>
                  <a:pt x="2109770"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9" id="19"/>
          <p:cNvSpPr/>
          <p:nvPr/>
        </p:nvSpPr>
        <p:spPr>
          <a:xfrm flipH="false" flipV="false" rot="0">
            <a:off x="16959301" y="6924389"/>
            <a:ext cx="2109770" cy="4114800"/>
          </a:xfrm>
          <a:custGeom>
            <a:avLst/>
            <a:gdLst/>
            <a:ahLst/>
            <a:cxnLst/>
            <a:rect r="r" b="b" t="t" l="l"/>
            <a:pathLst>
              <a:path h="4114800" w="2109770">
                <a:moveTo>
                  <a:pt x="0" y="0"/>
                </a:moveTo>
                <a:lnTo>
                  <a:pt x="2109770" y="0"/>
                </a:lnTo>
                <a:lnTo>
                  <a:pt x="2109770"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20" id="20"/>
          <p:cNvSpPr/>
          <p:nvPr/>
        </p:nvSpPr>
        <p:spPr>
          <a:xfrm flipH="false" flipV="false" rot="0">
            <a:off x="16097507" y="7347611"/>
            <a:ext cx="2109770" cy="4114800"/>
          </a:xfrm>
          <a:custGeom>
            <a:avLst/>
            <a:gdLst/>
            <a:ahLst/>
            <a:cxnLst/>
            <a:rect r="r" b="b" t="t" l="l"/>
            <a:pathLst>
              <a:path h="4114800" w="2109770">
                <a:moveTo>
                  <a:pt x="0" y="0"/>
                </a:moveTo>
                <a:lnTo>
                  <a:pt x="2109770" y="0"/>
                </a:lnTo>
                <a:lnTo>
                  <a:pt x="2109770"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21" id="21"/>
          <p:cNvSpPr/>
          <p:nvPr/>
        </p:nvSpPr>
        <p:spPr>
          <a:xfrm flipH="false" flipV="false" rot="0">
            <a:off x="15042622" y="7139358"/>
            <a:ext cx="2109770" cy="4114800"/>
          </a:xfrm>
          <a:custGeom>
            <a:avLst/>
            <a:gdLst/>
            <a:ahLst/>
            <a:cxnLst/>
            <a:rect r="r" b="b" t="t" l="l"/>
            <a:pathLst>
              <a:path h="4114800" w="2109770">
                <a:moveTo>
                  <a:pt x="0" y="0"/>
                </a:moveTo>
                <a:lnTo>
                  <a:pt x="2109770" y="0"/>
                </a:lnTo>
                <a:lnTo>
                  <a:pt x="2109770"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22" id="22"/>
          <p:cNvSpPr/>
          <p:nvPr/>
        </p:nvSpPr>
        <p:spPr>
          <a:xfrm flipH="false" flipV="false" rot="0">
            <a:off x="15790799" y="8055901"/>
            <a:ext cx="2109770" cy="4114800"/>
          </a:xfrm>
          <a:custGeom>
            <a:avLst/>
            <a:gdLst/>
            <a:ahLst/>
            <a:cxnLst/>
            <a:rect r="r" b="b" t="t" l="l"/>
            <a:pathLst>
              <a:path h="4114800" w="2109770">
                <a:moveTo>
                  <a:pt x="0" y="0"/>
                </a:moveTo>
                <a:lnTo>
                  <a:pt x="2109770" y="0"/>
                </a:lnTo>
                <a:lnTo>
                  <a:pt x="2109770"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23" id="23"/>
          <p:cNvSpPr/>
          <p:nvPr/>
        </p:nvSpPr>
        <p:spPr>
          <a:xfrm flipH="false" flipV="false" rot="0">
            <a:off x="13987737" y="7732902"/>
            <a:ext cx="2109770" cy="4114800"/>
          </a:xfrm>
          <a:custGeom>
            <a:avLst/>
            <a:gdLst/>
            <a:ahLst/>
            <a:cxnLst/>
            <a:rect r="r" b="b" t="t" l="l"/>
            <a:pathLst>
              <a:path h="4114800" w="2109770">
                <a:moveTo>
                  <a:pt x="0" y="0"/>
                </a:moveTo>
                <a:lnTo>
                  <a:pt x="2109770" y="0"/>
                </a:lnTo>
                <a:lnTo>
                  <a:pt x="2109770"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24" id="24"/>
          <p:cNvSpPr/>
          <p:nvPr/>
        </p:nvSpPr>
        <p:spPr>
          <a:xfrm flipH="false" flipV="false" rot="0">
            <a:off x="12932852" y="7953089"/>
            <a:ext cx="2109770" cy="4114800"/>
          </a:xfrm>
          <a:custGeom>
            <a:avLst/>
            <a:gdLst/>
            <a:ahLst/>
            <a:cxnLst/>
            <a:rect r="r" b="b" t="t" l="l"/>
            <a:pathLst>
              <a:path h="4114800" w="2109770">
                <a:moveTo>
                  <a:pt x="0" y="0"/>
                </a:moveTo>
                <a:lnTo>
                  <a:pt x="2109770" y="0"/>
                </a:lnTo>
                <a:lnTo>
                  <a:pt x="2109770"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25" id="25"/>
          <p:cNvSpPr/>
          <p:nvPr/>
        </p:nvSpPr>
        <p:spPr>
          <a:xfrm flipH="false" flipV="false" rot="0">
            <a:off x="11836746" y="7522508"/>
            <a:ext cx="2109770" cy="4114800"/>
          </a:xfrm>
          <a:custGeom>
            <a:avLst/>
            <a:gdLst/>
            <a:ahLst/>
            <a:cxnLst/>
            <a:rect r="r" b="b" t="t" l="l"/>
            <a:pathLst>
              <a:path h="4114800" w="2109770">
                <a:moveTo>
                  <a:pt x="0" y="0"/>
                </a:moveTo>
                <a:lnTo>
                  <a:pt x="2109770" y="0"/>
                </a:lnTo>
                <a:lnTo>
                  <a:pt x="2109770"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26" id="26"/>
          <p:cNvSpPr/>
          <p:nvPr/>
        </p:nvSpPr>
        <p:spPr>
          <a:xfrm flipH="false" flipV="false" rot="0">
            <a:off x="10935215" y="7953089"/>
            <a:ext cx="2109770" cy="4114800"/>
          </a:xfrm>
          <a:custGeom>
            <a:avLst/>
            <a:gdLst/>
            <a:ahLst/>
            <a:cxnLst/>
            <a:rect r="r" b="b" t="t" l="l"/>
            <a:pathLst>
              <a:path h="4114800" w="2109770">
                <a:moveTo>
                  <a:pt x="0" y="0"/>
                </a:moveTo>
                <a:lnTo>
                  <a:pt x="2109770" y="0"/>
                </a:lnTo>
                <a:lnTo>
                  <a:pt x="2109770"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27" id="27"/>
          <p:cNvSpPr/>
          <p:nvPr/>
        </p:nvSpPr>
        <p:spPr>
          <a:xfrm flipH="false" flipV="false" rot="0">
            <a:off x="9965832" y="7522508"/>
            <a:ext cx="2109770" cy="4114800"/>
          </a:xfrm>
          <a:custGeom>
            <a:avLst/>
            <a:gdLst/>
            <a:ahLst/>
            <a:cxnLst/>
            <a:rect r="r" b="b" t="t" l="l"/>
            <a:pathLst>
              <a:path h="4114800" w="2109770">
                <a:moveTo>
                  <a:pt x="0" y="0"/>
                </a:moveTo>
                <a:lnTo>
                  <a:pt x="2109770" y="0"/>
                </a:lnTo>
                <a:lnTo>
                  <a:pt x="2109770"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28" id="28"/>
          <p:cNvSpPr/>
          <p:nvPr/>
        </p:nvSpPr>
        <p:spPr>
          <a:xfrm flipH="false" flipV="false" rot="0">
            <a:off x="-781071" y="6924389"/>
            <a:ext cx="2109770" cy="4114800"/>
          </a:xfrm>
          <a:custGeom>
            <a:avLst/>
            <a:gdLst/>
            <a:ahLst/>
            <a:cxnLst/>
            <a:rect r="r" b="b" t="t" l="l"/>
            <a:pathLst>
              <a:path h="4114800" w="2109770">
                <a:moveTo>
                  <a:pt x="0" y="0"/>
                </a:moveTo>
                <a:lnTo>
                  <a:pt x="2109770" y="0"/>
                </a:lnTo>
                <a:lnTo>
                  <a:pt x="2109770"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29" id="29"/>
          <p:cNvSpPr/>
          <p:nvPr/>
        </p:nvSpPr>
        <p:spPr>
          <a:xfrm flipH="false" flipV="false" rot="0">
            <a:off x="7274572" y="731163"/>
            <a:ext cx="608122" cy="608122"/>
          </a:xfrm>
          <a:custGeom>
            <a:avLst/>
            <a:gdLst/>
            <a:ahLst/>
            <a:cxnLst/>
            <a:rect r="r" b="b" t="t" l="l"/>
            <a:pathLst>
              <a:path h="608122" w="608122">
                <a:moveTo>
                  <a:pt x="0" y="0"/>
                </a:moveTo>
                <a:lnTo>
                  <a:pt x="608122" y="0"/>
                </a:lnTo>
                <a:lnTo>
                  <a:pt x="608122" y="608122"/>
                </a:lnTo>
                <a:lnTo>
                  <a:pt x="0" y="60812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30" id="30"/>
          <p:cNvSpPr/>
          <p:nvPr/>
        </p:nvSpPr>
        <p:spPr>
          <a:xfrm flipH="true" flipV="false" rot="0">
            <a:off x="10837215" y="2375165"/>
            <a:ext cx="402061" cy="402061"/>
          </a:xfrm>
          <a:custGeom>
            <a:avLst/>
            <a:gdLst/>
            <a:ahLst/>
            <a:cxnLst/>
            <a:rect r="r" b="b" t="t" l="l"/>
            <a:pathLst>
              <a:path h="402061" w="402061">
                <a:moveTo>
                  <a:pt x="402061" y="0"/>
                </a:moveTo>
                <a:lnTo>
                  <a:pt x="0" y="0"/>
                </a:lnTo>
                <a:lnTo>
                  <a:pt x="0" y="402061"/>
                </a:lnTo>
                <a:lnTo>
                  <a:pt x="402061" y="402061"/>
                </a:lnTo>
                <a:lnTo>
                  <a:pt x="402061"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31" id="31"/>
          <p:cNvSpPr/>
          <p:nvPr/>
        </p:nvSpPr>
        <p:spPr>
          <a:xfrm flipH="false" flipV="false" rot="0">
            <a:off x="3998564" y="7111332"/>
            <a:ext cx="384761" cy="384761"/>
          </a:xfrm>
          <a:custGeom>
            <a:avLst/>
            <a:gdLst/>
            <a:ahLst/>
            <a:cxnLst/>
            <a:rect r="r" b="b" t="t" l="l"/>
            <a:pathLst>
              <a:path h="384761" w="384761">
                <a:moveTo>
                  <a:pt x="0" y="0"/>
                </a:moveTo>
                <a:lnTo>
                  <a:pt x="384761" y="0"/>
                </a:lnTo>
                <a:lnTo>
                  <a:pt x="384761" y="384761"/>
                </a:lnTo>
                <a:lnTo>
                  <a:pt x="0" y="384761"/>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32" id="32"/>
          <p:cNvSpPr/>
          <p:nvPr/>
        </p:nvSpPr>
        <p:spPr>
          <a:xfrm flipH="true" flipV="false" rot="0">
            <a:off x="6539238" y="6456659"/>
            <a:ext cx="577141" cy="577141"/>
          </a:xfrm>
          <a:custGeom>
            <a:avLst/>
            <a:gdLst/>
            <a:ahLst/>
            <a:cxnLst/>
            <a:rect r="r" b="b" t="t" l="l"/>
            <a:pathLst>
              <a:path h="577141" w="577141">
                <a:moveTo>
                  <a:pt x="577141" y="0"/>
                </a:moveTo>
                <a:lnTo>
                  <a:pt x="0" y="0"/>
                </a:lnTo>
                <a:lnTo>
                  <a:pt x="0" y="577142"/>
                </a:lnTo>
                <a:lnTo>
                  <a:pt x="577141" y="577142"/>
                </a:lnTo>
                <a:lnTo>
                  <a:pt x="577141"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33" id="33"/>
          <p:cNvSpPr/>
          <p:nvPr/>
        </p:nvSpPr>
        <p:spPr>
          <a:xfrm flipH="false" flipV="false" rot="0">
            <a:off x="1523424" y="6296550"/>
            <a:ext cx="320218" cy="320218"/>
          </a:xfrm>
          <a:custGeom>
            <a:avLst/>
            <a:gdLst/>
            <a:ahLst/>
            <a:cxnLst/>
            <a:rect r="r" b="b" t="t" l="l"/>
            <a:pathLst>
              <a:path h="320218" w="320218">
                <a:moveTo>
                  <a:pt x="0" y="0"/>
                </a:moveTo>
                <a:lnTo>
                  <a:pt x="320218" y="0"/>
                </a:lnTo>
                <a:lnTo>
                  <a:pt x="320218" y="320218"/>
                </a:lnTo>
                <a:lnTo>
                  <a:pt x="0" y="320218"/>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34" id="34"/>
          <p:cNvSpPr/>
          <p:nvPr/>
        </p:nvSpPr>
        <p:spPr>
          <a:xfrm flipH="false" flipV="false" rot="0">
            <a:off x="11385636" y="6603106"/>
            <a:ext cx="604465" cy="604465"/>
          </a:xfrm>
          <a:custGeom>
            <a:avLst/>
            <a:gdLst/>
            <a:ahLst/>
            <a:cxnLst/>
            <a:rect r="r" b="b" t="t" l="l"/>
            <a:pathLst>
              <a:path h="604465" w="604465">
                <a:moveTo>
                  <a:pt x="0" y="0"/>
                </a:moveTo>
                <a:lnTo>
                  <a:pt x="604464" y="0"/>
                </a:lnTo>
                <a:lnTo>
                  <a:pt x="604464" y="604465"/>
                </a:lnTo>
                <a:lnTo>
                  <a:pt x="0" y="604465"/>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35" id="35"/>
          <p:cNvSpPr/>
          <p:nvPr/>
        </p:nvSpPr>
        <p:spPr>
          <a:xfrm flipH="true" flipV="false" rot="0">
            <a:off x="14939873" y="6456659"/>
            <a:ext cx="400106" cy="400106"/>
          </a:xfrm>
          <a:custGeom>
            <a:avLst/>
            <a:gdLst/>
            <a:ahLst/>
            <a:cxnLst/>
            <a:rect r="r" b="b" t="t" l="l"/>
            <a:pathLst>
              <a:path h="400106" w="400106">
                <a:moveTo>
                  <a:pt x="400106" y="0"/>
                </a:moveTo>
                <a:lnTo>
                  <a:pt x="0" y="0"/>
                </a:lnTo>
                <a:lnTo>
                  <a:pt x="0" y="400106"/>
                </a:lnTo>
                <a:lnTo>
                  <a:pt x="400106" y="400106"/>
                </a:lnTo>
                <a:lnTo>
                  <a:pt x="400106"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36" id="36"/>
          <p:cNvSpPr/>
          <p:nvPr/>
        </p:nvSpPr>
        <p:spPr>
          <a:xfrm flipH="true" flipV="true" rot="0">
            <a:off x="17415184" y="5382672"/>
            <a:ext cx="318643" cy="318643"/>
          </a:xfrm>
          <a:custGeom>
            <a:avLst/>
            <a:gdLst/>
            <a:ahLst/>
            <a:cxnLst/>
            <a:rect r="r" b="b" t="t" l="l"/>
            <a:pathLst>
              <a:path h="318643" w="318643">
                <a:moveTo>
                  <a:pt x="318643" y="318643"/>
                </a:moveTo>
                <a:lnTo>
                  <a:pt x="0" y="318643"/>
                </a:lnTo>
                <a:lnTo>
                  <a:pt x="0" y="0"/>
                </a:lnTo>
                <a:lnTo>
                  <a:pt x="318643" y="0"/>
                </a:lnTo>
                <a:lnTo>
                  <a:pt x="318643" y="318643"/>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37" id="37"/>
          <p:cNvSpPr/>
          <p:nvPr/>
        </p:nvSpPr>
        <p:spPr>
          <a:xfrm flipH="false" flipV="false" rot="0">
            <a:off x="5566967" y="2571165"/>
            <a:ext cx="412122" cy="412122"/>
          </a:xfrm>
          <a:custGeom>
            <a:avLst/>
            <a:gdLst/>
            <a:ahLst/>
            <a:cxnLst/>
            <a:rect r="r" b="b" t="t" l="l"/>
            <a:pathLst>
              <a:path h="412122" w="412122">
                <a:moveTo>
                  <a:pt x="0" y="0"/>
                </a:moveTo>
                <a:lnTo>
                  <a:pt x="412123" y="0"/>
                </a:lnTo>
                <a:lnTo>
                  <a:pt x="412123" y="412122"/>
                </a:lnTo>
                <a:lnTo>
                  <a:pt x="0" y="41212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38" id="38"/>
          <p:cNvSpPr/>
          <p:nvPr/>
        </p:nvSpPr>
        <p:spPr>
          <a:xfrm flipH="false" flipV="false" rot="0">
            <a:off x="742913" y="3137918"/>
            <a:ext cx="367366" cy="367366"/>
          </a:xfrm>
          <a:custGeom>
            <a:avLst/>
            <a:gdLst/>
            <a:ahLst/>
            <a:cxnLst/>
            <a:rect r="r" b="b" t="t" l="l"/>
            <a:pathLst>
              <a:path h="367366" w="367366">
                <a:moveTo>
                  <a:pt x="0" y="0"/>
                </a:moveTo>
                <a:lnTo>
                  <a:pt x="367366" y="0"/>
                </a:lnTo>
                <a:lnTo>
                  <a:pt x="367366" y="367366"/>
                </a:lnTo>
                <a:lnTo>
                  <a:pt x="0" y="367366"/>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39" id="39"/>
          <p:cNvSpPr/>
          <p:nvPr/>
        </p:nvSpPr>
        <p:spPr>
          <a:xfrm flipH="false" flipV="false" rot="0">
            <a:off x="15814131" y="2983287"/>
            <a:ext cx="438006" cy="438006"/>
          </a:xfrm>
          <a:custGeom>
            <a:avLst/>
            <a:gdLst/>
            <a:ahLst/>
            <a:cxnLst/>
            <a:rect r="r" b="b" t="t" l="l"/>
            <a:pathLst>
              <a:path h="438006" w="438006">
                <a:moveTo>
                  <a:pt x="0" y="0"/>
                </a:moveTo>
                <a:lnTo>
                  <a:pt x="438006" y="0"/>
                </a:lnTo>
                <a:lnTo>
                  <a:pt x="438006" y="438007"/>
                </a:lnTo>
                <a:lnTo>
                  <a:pt x="0" y="438007"/>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40" id="40"/>
          <p:cNvSpPr/>
          <p:nvPr/>
        </p:nvSpPr>
        <p:spPr>
          <a:xfrm flipH="true" flipV="false" rot="0">
            <a:off x="3257161" y="990216"/>
            <a:ext cx="283376" cy="283376"/>
          </a:xfrm>
          <a:custGeom>
            <a:avLst/>
            <a:gdLst/>
            <a:ahLst/>
            <a:cxnLst/>
            <a:rect r="r" b="b" t="t" l="l"/>
            <a:pathLst>
              <a:path h="283376" w="283376">
                <a:moveTo>
                  <a:pt x="283376" y="0"/>
                </a:moveTo>
                <a:lnTo>
                  <a:pt x="0" y="0"/>
                </a:lnTo>
                <a:lnTo>
                  <a:pt x="0" y="283376"/>
                </a:lnTo>
                <a:lnTo>
                  <a:pt x="283376" y="283376"/>
                </a:lnTo>
                <a:lnTo>
                  <a:pt x="283376"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DAHCvr9uC8Y</dc:identifier>
  <dcterms:modified xsi:type="dcterms:W3CDTF">2011-08-01T06:04:30Z</dcterms:modified>
  <cp:revision>1</cp:revision>
  <dc:title>guildafit</dc:title>
</cp:coreProperties>
</file>